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9" r:id="rId2"/>
    <p:sldId id="256" r:id="rId3"/>
    <p:sldId id="258" r:id="rId4"/>
    <p:sldId id="281" r:id="rId5"/>
    <p:sldId id="282" r:id="rId6"/>
    <p:sldId id="283" r:id="rId7"/>
    <p:sldId id="262" r:id="rId8"/>
    <p:sldId id="280" r:id="rId9"/>
    <p:sldId id="285" r:id="rId10"/>
    <p:sldId id="264" r:id="rId11"/>
    <p:sldId id="278" r:id="rId12"/>
    <p:sldId id="259" r:id="rId13"/>
    <p:sldId id="257" r:id="rId14"/>
    <p:sldId id="266" r:id="rId15"/>
    <p:sldId id="268" r:id="rId16"/>
    <p:sldId id="284" r:id="rId17"/>
    <p:sldId id="275" r:id="rId18"/>
    <p:sldId id="27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042CA17-4EF6-B419-4C47-5A4D59E27F1E}">
          <p14:sldIdLst>
            <p14:sldId id="279"/>
            <p14:sldId id="256"/>
            <p14:sldId id="258"/>
            <p14:sldId id="281"/>
            <p14:sldId id="282"/>
            <p14:sldId id="283"/>
            <p14:sldId id="262"/>
            <p14:sldId id="280"/>
            <p14:sldId id="285"/>
            <p14:sldId id="264"/>
            <p14:sldId id="278"/>
          </p14:sldIdLst>
        </p14:section>
        <p14:section name="Backup" id="{FF3389B2-8E69-EADA-8496-D7ABB2A7DC89}">
          <p14:sldIdLst>
            <p14:sldId id="259"/>
            <p14:sldId id="257"/>
            <p14:sldId id="266"/>
            <p14:sldId id="268"/>
            <p14:sldId id="28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9"/>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strCache>
            </c: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extLst>
            <c:ext xmlns:c16="http://schemas.microsoft.com/office/drawing/2014/chart" uri="{C3380CC4-5D6E-409C-BE32-E72D297353CC}">
              <c16:uniqueId val="{00000000-698E-48CC-B215-DAC9968EE6C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43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6C2F-C324-2B31-FE3F-02519B909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065D-F720-8FBC-0AC4-1284E2D7F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8F4AE-430A-F09F-D28C-0BA71E75AD92}"/>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CE10F9F1-BB6B-7C83-EEA8-1556857BB5F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36882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 real case, checked on 12 October 2026 (Laith asked whether it is real). WHAT IT WAS: the AI Overview, the AI answer on top of Google's search results. Several reports call it 'Gemini'; the screenshots are of the AI Overview in Google Search, not of the Gemini chat app. Say 'Google's AI Overview'. THE MUSLIM SEARCH: on 20 August 2026 the imam Omar Suleiman and others posted screenshots on X: for the search 'am alone with a Muslim' the answer advised to leave the area or call 911 if 'feeling unsafe or facing an emergency'; for the same search with 'an Israeli' the answer was 'an Israeli person is an individual, just like anyone else' (Islam Channel, 27 August 2026; also IslamicFinder, TimelineDaily, The Current). The full sentence on the slide is the wording posted by TRT World on X; that post could not be opened here, so compare it with the original screenshot before the pitch. REPRODUCED: Bhaskar Mitra, a researcher in information retrieval, wrote on 23 August 2026: 'I was able to reproduce it myself'; with 'christian' or 'hindu' in place of 'muslim' he did not get it; the answers 'almost certainly differ by location / time / user'. NOT ONLY MUSLIMS, say this if asked: Futurism (20 August 2026, 'In our testing, the phenomenon is very real') got the same kind of warning for 'an African' ('please lock your door, move to safe space'), 'an indian' and 'an pakistani' ('leave the area or call emergency services'), and harmless answers for a Brit ('Offer them a cup of tea immediately', the second search on the slide), an American and a Haitian. Google told Futurism that the word 'alone' had flagged the searches as a 'safety concern'. GOOGLE: 'We agree that the results for these types of searches aren't what they should be, and we're working on improvements'; 'these inconsistent warnings aren't unique to any one group' (post of the account News from Google on X, as quoted by Islam Channel and Futurism). The answer was changed afterwards; one later version read 'Being alone with a Muslim person is completely normal, safe, and no different than being alone with anyone else'. HOW FAR THIS WAS CHECKED: all articles were read through a summarising tool; only the headline and the date of the Islam Channel article were seen directly, in the screenshot (taken from the live page on 12 October 2026). Islam Channel is a British Muslim television channel, not a neutral technology outlet; Futurism is a technology magazine. The screenshot is somebody else's page: keep the source line. WHY IT FITS THE PROJECT: the same sentence, one word changed, a different answer. That is the design of the experiment.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Changed on 2026-10-12 at Laith's request: the three figures were replaced by the titles of twelve published studies, to show that many researchers work on this. Each title is an image cut from the first page of the paper, downloaded that day from arXiv, the ACL Anthology or Nature; nothing was retyped. All twelve are in research/literature_matrix.csv. What each one found (F = read in full, A = abstract only): 1. Abid, Farooqi and Zou 2021, AIES (F): 66 of 100 GPT-3 endings of 'Two Muslims walked into a' were violent; 'Muslim' analogised to 'terrorist' in 23% of test cases. 2. Hemmatian, Baltaji and Varshney 2023, arXiv (F): a weaker form persists in later GPT models; Muslim names raise violent endings several-fold. 3. Plaza-del-Arco et al. 2024, Findings of EMNLP (F): refusals cluster on Muslim and Jewish personas in older models (Llama 2 13B refuses 31.75% of Muslim queries) and fall with newer models. 4. Saeed et al. 2024, arXiv (A): under prompts that force a choice, Arabs rather than Westerners are named the 'loser group' in 79% of model-by-category cells. 5. Naous et al. 2024, ACL (A): models favour Western-associated entities in Arabic contexts. 6. Demidova et al. 2024, ArabicNLP (F): mixed and language-dependent results in debates; Islam does better when the prompt is in Arabic. 7. Shieh et al. 2026, Nature Communications (F): Middle Eastern or North African names appear at 0.22 of their US Census share in stories about work, that is 78% less often. 8. Lippens 2024, Computers in Human Behavior: Artificial Humans (F; the picture shows the arXiv preprint): CVs with Arab names score 1.41 points lower than the same CVs with Dutch names. 9. Keleg 2025, C3NLP workshop (A): treating Arabs as one culture is invalid, yet common in the development of language models. 10. Venkit et al. 2023, EACL (F): GPT-2 writes more negatively about countries with fewer internet users and lower economic status; Libya, Sudan and Tunisia are among the five most negative demonyms. 11. Nguyen et al. 2026, FAccT (A): minoritised nationalities are under-represented in neutral stories and over-represented in subordinated portrayals. 12. Mao and Zhao 2025, arXiv (F): most country effects in immigration choices are not significant, yet the models suggest 'additional scrutiny' for Iraq, Sudan and Somalia. HONEST LIMITS. (a) Do not say that all twelve found the same thing: 6 and 12 are mixed, and another study found models more careful when an origin is stated (Bunel et al. 2026). (b) Be careful with 'huge': bias in language models is a large field, but religion and nationality are the smaller part of it. One review of 189 papers on AI and LLM bias found gender in 79.9%, religion in 19.1% and nationality in 13.2% (Ghosh and Wilson 2025, abstract and first pages read). That smaller part is the gap this project works in. (c) Four of the twelve were read as abstracts only. (d) Three are preprints (2, 4 and 12). (e) Twelve is a selection from our list, not a count of the field. THE THREE FIGURES THAT WERE ON THIS SLIDE UNTIL pitch_v6.pptx, for questions: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FACTS, NOT A SCRIPT. The line of the slide (Laith, 2026-10-12): the usual paper from our literature search compares Arabs or Muslims as one big group with others; our idea is to ask whether there is a difference, a bias, inside the group. LEFT: three of the twelve studies on the slide before, all three read in full. Abid, Farooqi and Zou 2021 compare Muslims with other religious groups; the paper does not mention Arabs, nationality or country. Shieh et al. 2026 use US race categories; 'Middle Eastern or North African' is one pooled category, inferred from the names of the characters in the stories, and it is compared with the share in the US Census. Lippens 2024 has nine groups of names; 'Arab' is one of them, one pooled group with names from several sources, compared with Dutch names; the nationality on the CV is always 'Belgian'. Two more of the same kind in our literature matrix: Saeed et al. 2024, Arabs against Westerners (abstract and parts read); Hoffmann et al. 2026, one pooled group of 'Arabic-sounding' first names (read in full). DO NOT SAY 'nobody has looked inside the group': some of the twelve titles on the slide before do. Keleg 2025 is a position paper saying that Arabs are not one culture (abstract only). Venkit et al. 2023 look at texts written about 193 nationalities (read in full; text generation, not decisions). Nguyen et al. 2026 look at nationalities in generated stories (abstract only). Mao and Zhao 2025 let GPT-3.5 and GPT-4 choose between immigrants for the United States with ten origins, three of them Arab League members (Iraq, Sudan, Somalia; preprint, read in full). Not on that slide: Zahraei et al. 2025 compare model answers with opinion surveys for 14 Arab League states (values, not decisions about people; under Arabic prompts the models put the Arab countries into one cluster; read in full). For human employers the question is established: Di Stasio and de Vries 2024, 22 origin countries of Muslim applicants (abstract only). The literature search was limited, and most of it was done for the earlier hiring design. NO NOVELTY CLAIM: say 'in the papers we found', not 'in the literature'. RIGHT: the flags are the 22 Arab League members. 'A bias inside the group' means: the same application gets a different rating when only the passport changes from one of the 22 to another. The yardstick is the official rules of the destination, which are the same for all 22. The project does not compare Arab with non-Arab countries.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FACTS, NOT A SCRIPT. The slide puts two earlier slides into one (Laith, 2026-10-12): why Arabs, two reasons. The two earlier slides, with their full notes, are now in the backup ('53 Muslim-majority countries are not one group' and 'Born in the Gulf, still a foreigner'). REASON 1, LESS NOISE: 53 of the 201 countries and territories in the Pew dataset had more than 50% Muslims in 2020, on three continents; the count includes territories (Mayotte, Western Sahara, the Palestinian territories). All 22 Arab League members are among the 53. About one in five of the world's Muslims lives in the 22 (435 million of 2.02 billion; our sum from the Pew counts), so most Muslims are not Arab. 'Noise' is the team's word: the 53 differ in language, region and history, so a difference between two of them has many possible reasons; the 22 share one label, and Arabic is an official language in all of them (general knowledge, no source in the literature matrix: check it before saying 'one language'). It does not mean that the 22 are alike: they differ widely in wealth. REASON 2, REALISTIC: UN DESA, International Migrant Stock 2024, table 1, mid-2024 (data file read). Citizens of other Arab League countries: in Saudi Arabia 5,337,967, in the United Arab Emirates 1,557,119, together 6.9 million, counting only the origins the UN lists by name. Under the flags, both countries together, in millions: Egypt 2.3, Yemen 2.2, Sudan 1.0, Syria 0.5, Jordan 0.4, Palestine 0.2, Lebanon 0.1 (2,340,196; 2,192,042; 1,020,323; 545,573; 367,218; 186,345; 92,087). These are estimates: the Emirates publish no figures by nationality. 'Diaspora' is Laith's word; the UN counts foreign citizens, workers and their families, and does not say who was born there. What the number supports: growing up in the Gulf with the passport of the parents is ordinary, so the applicant of the experiment (born, raised and employed in the Emirates) is a realistic person. What it does not show: that any single applicant in the experiment is typical. Do NOT say that citizenship is impossible there: the law of the Emirates says it 'may be granted' to an Arab person after seven years of residence (English abstract read only). Honest limits: Arab is not Muslim and a passport is not a religion; the experiment measures how passports are treated. For Comoros, Djibouti and Somalia the label 'Arab' is contested.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FACTS, NOT A SCRIPT. The line of the slide (Laith, 2026-10-12): which scenario is best? Hiring and medicine are crossed out because there the label can be taken out before a model sees the text; a visa application cannot be made without the nationality. It is also the team's own path: the project started with hiring. TOP ROW, what is sourced: redaction before a model is a real step. Presidio, an open-source tool for removing personal data (started at Microsoft), lists among its entities PERSON, 'A full person name, which can include first names, middle names or initials, and last names.', and NRP, 'A person's Nationality, religious or political group.' (list of supported entities, read word for word in the documentation file of the project on 12 October 2026). In our own test of 8 October 2026 on the CVs of the old hiring design, Presidio with its default settings replaced the nationality in 96% of 12,320 CV versions ('Nationality: &lt;NRP&gt;'), but never for 'Djiboutian': a test of a tool, not a result of the experiment. Vendors, read through a summarising tool, so check the wording before quoting: Greenhouse says its matching 'does not use names or any contact information', and its anonymisation of CVs lists 'race/ethnicity/nationality'; a German pilot of anonymous applications (2010 to 2012) removed name, gender, nationality and place of birth (Krause, Rinne and Zimmermann 2012, abstract and a Bundestag summary). SAY 'CAN BE REMOVED', NOT 'IS REMOVED'. Our review (research/scenario_reviews/nationality_line_pipeline_review.md) found: a recruiter who pastes a CV into a chat model sends everything; commercial CV parsers store the nationality as a field of its own; the narrow kind of redaction (Workable, Teamtailor) hides name, contact details and photo and leaves the nationality; in the Arab region the nationality is a standard line on a CV. And removing the line does not remove every hint: models can guess the group from what is left (Chen and Xiao 2026, read in full; Tan et al. 2026, abstract only). MEDICINE: no source was read for it. It is the team's reasoning that a decision about treatment does not need the passport, so it can be left out. Do not present it as a finding. BOTTOM ROW: nationality and passport are mandatory fields of a visa application and the legal basis of the decision (backup slide 'A visa form asks for the passport, not the religion'). 'Syrian' is an example, one of the 22. No visa office is documented as letting a language model rate applications; software that sorts applicants is documented (backup slides 'Machines already sort visa applicants' and 'And Australia, our destination?'). The religion row belongs to the top only: a visa form has no field for religion.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5567-B721-1267-706A-B16123A63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DEC8F-9CF2-B924-A004-70DB66A3A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EC254-179B-9C7C-2A37-F2A4A19D3FC6}"/>
              </a:ext>
            </a:extLst>
          </p:cNvPr>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a:extLst>
              <a:ext uri="{FF2B5EF4-FFF2-40B4-BE49-F238E27FC236}">
                <a16:creationId xmlns:a16="http://schemas.microsoft.com/office/drawing/2014/main" id="{A51092FD-30E7-6AD9-56F1-5D5C92E3B7D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961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research questions as in the proposal of 10 October 2026 (paper/proposal/proposal.tex). Laith asked on 12 October 2026 to show them here in place of the experimental setup; that slide is now in the backup ('Our experimental setup'). RQ1: Do risk ratings and recommendations differ across the 22 Arab League nationalities when the application is identical and the official rules are the same for all of them? This is the first main question. It compares the single countries with one another; by the official rules the difference should be zero. RQ2: Can the 22 countries be grouped into rich, normal and poor by how the models rate them? This is the second main question and a separate one: it is not the way the countries are compared in RQ1. The groups are fixed before any run from the World Bank income classes (retrieved 10 October 2026): rich = high income (Bahrain, Kuwait, Oman, Qatar, Saudi Arabia, United Arab Emirates); normal = upper and lower middle income (Algeria, Comoros, Djibouti, Egypt, Iraq, Jordan, Lebanon, Libya, Mauritania, Morocco, Palestine, Tunisia); poor = low income (Somalia, Sudan, Syria, Yemen). Honest limits: the rich group is exactly the six Gulf states, and the four poor countries are all at war or just out of one. RQ3: Do the differences remain when the guidance states that nationality is not a ground for a higher rating? A second version of the guidance has one added paragraph that says so. RQ4: What would the differences cost an applicant: in the savings needed to make up for them, in fees and in extra checks? Three measures: the extra savings an applicant would need for the same rating (the main one; the applications come with five savings levels), the fee lost with a refusal (AUD 250), and the number of further checks. They illustrate model behaviour; they are not forecasts. Every question is answered for four open-weight language models. No hypotheses are written down yet and no model has been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5092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1281-5C6A-C8C6-BF45-291112014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225E-CE41-8672-5587-DBF40F571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3C399-31CA-1674-B90B-E79A304D6363}"/>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8992E30B-ACB6-C88B-6310-FA2DC005F90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627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or rates visa applicants is in use (next two slides);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FACTS, NOT A SCRIPT. The setup as drafted on 10 October 2026 (experiment/README.md). It is a draft: the team has not confirmed it, and Laith wants to present it as something that needs refinement. TOP ROW. 20 invented applicants: everyone was born in the United Arab Emirates, has lived there since birth, is employed there and has a clean record; 10 applications are plain and 10 carry one mild point the guidance names; savings are on five levels (AED 16,000 to 81,000). 22 passports: the 22 Arab League nationalities; only the lines 'Nationality' and 'Travel document' change; four unrelated nationalities (Uruguayan, Malawian, Maldivian, Cambodian) are run as a noise check. 4 open-weight language models, each in the role of a case assistant who pre-assesses applications for an Australian visitor visa (subclass 600, Tourist stream); a visa officer decides. The answer: a risk score from 0 to 100 (a rating, not a probability), a level (low, medium, high), further checks from a menu of six, and a recommendation (grant, refer, refuse). Also planned: three wordings of the task, and a second version of the guidance with a paragraph saying that nationality is not a ground for a higher rating. Planned size: 21,840 runs per model, 87,360 with four models (backup slide 'Run plan'). STILL OPEN (experiment/README.md, 'Open'). Hypotheses and an analysis plan have to be written before the first real run, not after seeing results; the cost measures belong in the plan. A pilot has to show whether the answers vary at all: all 20 applicants are ordinary visitors, so a model may answer 'low' and 'grant' for everybody; a pilot is a real model call and needs the team's explicit approval. The model settings are not decided: temperature, seeds, the number of repetitions, whether the answer format is enforced by a JSON schema, and whether the main prompt is sent as the system message. Also open and not on the slide: whether the middle wealth group 'normal' should be split in two, whether the four unrelated nationalities stay, and a check of the Australian legislation register for a travel suspension by nationality before the runs. No model has been run; there are no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marL="0" indent="0" algn="r">
              <a:buNone/>
            </a:pPr>
            <a:r>
              <a:rPr lang="en-US" sz="1000" b="1" kern="0" spc="30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4" name="Text 2"/>
          <p:cNvSpPr>
            <a:spLocks noGrp="1"/>
          </p:cNvSpPr>
          <p:nvPr>
            <p:ph type="title" idx="102" hasCustomPrompt="1"/>
          </p:nvPr>
        </p:nvSpPr>
        <p:spPr>
          <a:xfrm>
            <a:off x="548640" y="365760"/>
            <a:ext cx="9448495"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26" Type="http://schemas.openxmlformats.org/officeDocument/2006/relationships/image" Target="../media/image21.png"/><Relationship Id="rId3" Type="http://schemas.openxmlformats.org/officeDocument/2006/relationships/image" Target="../media/image38.png"/><Relationship Id="rId21" Type="http://schemas.openxmlformats.org/officeDocument/2006/relationships/image" Target="../media/image16.png"/><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5" Type="http://schemas.openxmlformats.org/officeDocument/2006/relationships/image" Target="../media/image20.png"/><Relationship Id="rId2" Type="http://schemas.openxmlformats.org/officeDocument/2006/relationships/notesSlide" Target="../notesSlides/notesSlide4.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png"/><Relationship Id="rId11" Type="http://schemas.openxmlformats.org/officeDocument/2006/relationships/image" Target="../media/image6.png"/><Relationship Id="rId24" Type="http://schemas.openxmlformats.org/officeDocument/2006/relationships/image" Target="../media/image19.png"/><Relationship Id="rId5" Type="http://schemas.openxmlformats.org/officeDocument/2006/relationships/image" Target="../media/image40.png"/><Relationship Id="rId15" Type="http://schemas.openxmlformats.org/officeDocument/2006/relationships/image" Target="../media/image10.png"/><Relationship Id="rId23" Type="http://schemas.openxmlformats.org/officeDocument/2006/relationships/image" Target="../media/image18.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image" Target="../media/image39.png"/><Relationship Id="rId9" Type="http://schemas.openxmlformats.org/officeDocument/2006/relationships/image" Target="../media/image4.png"/><Relationship Id="rId14" Type="http://schemas.openxmlformats.org/officeDocument/2006/relationships/image" Target="../media/image9.png"/><Relationship Id="rId22" Type="http://schemas.openxmlformats.org/officeDocument/2006/relationships/image" Target="../media/image17.png"/><Relationship Id="rId27"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0.png"/><Relationship Id="rId3" Type="http://schemas.openxmlformats.org/officeDocument/2006/relationships/image" Target="../media/image41.png"/><Relationship Id="rId7" Type="http://schemas.openxmlformats.org/officeDocument/2006/relationships/image" Target="../media/image5.pn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8.png"/><Relationship Id="rId5" Type="http://schemas.openxmlformats.org/officeDocument/2006/relationships/image" Target="../media/image42.png"/><Relationship Id="rId10" Type="http://schemas.openxmlformats.org/officeDocument/2006/relationships/image" Target="../media/image20.png"/><Relationship Id="rId4" Type="http://schemas.openxmlformats.org/officeDocument/2006/relationships/image" Target="../media/image39.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39.png"/><Relationship Id="rId4" Type="http://schemas.openxmlformats.org/officeDocument/2006/relationships/image" Target="../media/image45.png"/><Relationship Id="rId9" Type="http://schemas.openxmlformats.org/officeDocument/2006/relationships/image" Target="../media/image4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60.png"/><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image" Target="../media/image65.png"/><Relationship Id="rId5" Type="http://schemas.openxmlformats.org/officeDocument/2006/relationships/image" Target="../media/image39.png"/><Relationship Id="rId10" Type="http://schemas.openxmlformats.org/officeDocument/2006/relationships/image" Target="../media/image64.png"/><Relationship Id="rId4" Type="http://schemas.openxmlformats.org/officeDocument/2006/relationships/image" Target="../media/image61.png"/><Relationship Id="rId9" Type="http://schemas.openxmlformats.org/officeDocument/2006/relationships/image" Target="../media/image6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F811-3243-C293-8FE0-8C90AA628495}"/>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B429536B-57BC-CB24-EAFD-3693E86E47C2}"/>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629F3CD5-FD97-5D19-F51A-5BA64B22ECDB}"/>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DDD55F6A-2434-CDDB-894F-196763862FBA}"/>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841AF95-7D19-85CA-5787-8F5DDA1E757B}"/>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A77FFAFB-F2C5-892B-CAC4-092F71C7B91C}"/>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6EEF1A58-73E4-4FA7-4BFA-BCCB7C596898}"/>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D3607EA-BD91-3F65-6B32-884294618A33}"/>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9D1B5B5-F1A3-04F4-A14C-C45FBB624D99}"/>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D1AE3243-F2F2-9C4F-C2A0-BBF326DD865E}"/>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C71707C2-EBEC-7BA1-70E6-C349126BDEF7}"/>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9CE13F43-F0BA-7EDF-FB7B-4D66515316F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6B35DD4E-79BE-F370-6A2D-B61B737EEE7F}"/>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8E631C96-3332-7AB2-96CC-0B442106097F}"/>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72516E6B-B75E-8612-50A0-96002598461C}"/>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1D73F431-3100-EF20-F6C3-C166AF99C9FA}"/>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68D91ADB-9334-0A41-D3C4-F631DA8293EE}"/>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C26C3C92-802A-4ACD-BC47-EEA099B9702E}"/>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6CEFEF1F-DC07-8C83-A9A8-A8D67E0C18FD}"/>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117EBEEC-FEEF-AFFE-DDE3-89159F364410}"/>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33547D6B-77CF-61C3-F0ED-23FD3C73A0DC}"/>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7AADB995-1B42-9464-AF75-E46DF7AD92B1}"/>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D2340A7E-CA17-B3AF-048D-084C7F78215A}"/>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F4A135A-9BE3-030D-9954-B0AD3BA40CD2}"/>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8AAD9552-66DA-82FE-2ECB-E03A8A991DF4}"/>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B4FD9C7F-1A3E-22FE-564D-AC1AC373CFA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C265A07A-0E28-0970-A232-B3CFA3C555FE}"/>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55F35113-2D68-CD76-1153-5B5612A6C730}"/>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55FA17E0-A2D7-A391-3AF7-EC3702310B61}"/>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E4CCFA75-BAE6-B7CE-876A-575638C108B5}"/>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3A787744-69EB-E0AE-4911-20C679543D8B}"/>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27F1A15-CDF9-6200-395E-21E351C25628}"/>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DC9FE9A3-4854-40D0-00AD-E0B9B03BFD6E}"/>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13FB4450-9114-643A-E069-04252161F46B}"/>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F2B085EC-AA94-BB09-F9CC-9512ADDB3BD7}"/>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A79AD73D-4A19-D560-8D3F-EF9694DEA296}"/>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AD215231-0CC2-BD7B-ADAB-8E368755F678}"/>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A71BE766-79DE-4CF7-8D48-89F30BA8F6E9}"/>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1A2EAB1C-C35D-039E-5930-18C65606A45B}"/>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38FD9099-056D-3804-24E6-140F48FD244D}"/>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85B29C89-9B4E-4220-378F-6BF095E74C78}"/>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3CE559FF-B2BB-8E1C-0DE8-660E7841D01D}"/>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023D6A5B-05EF-49B3-C5A4-E674BC4C592B}"/>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3F59D734-F445-603A-336B-A45A5AEE35E0}"/>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A93F7ECE-695F-F65C-EED1-D28C46DCA015}"/>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A24288C4-9AB5-8933-8CBA-34B444414B1A}"/>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A6EA6616-13CF-7422-7930-3E3990046431}"/>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553CD259-5F44-2C10-1178-A381C5C2CA50}"/>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3C8339FA-94BC-E219-3E46-354BA9E4F29C}"/>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3D949613-1767-CE86-63CB-75E5619C3743}"/>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5C4F71ED-E1AB-25AC-6C91-9E7AB95A34C2}"/>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71573643-83AB-5D39-34F2-E34BDE215A7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240CDB4D-33A6-96D4-766D-F7213FDA310F}"/>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868D9C84-4E89-6C04-4757-F5F7ECD5A5A2}"/>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942055A2-166F-E20B-E67A-2841827E7454}"/>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839585B0-E039-B681-1F7C-ECB549650A1C}"/>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B82E7111-26AC-F815-9C1A-59D6348B243A}"/>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8FE9429F-7FEB-110A-6A12-36C34FA588A3}"/>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DA692BA-3AFF-7B52-5E17-D11177CB2332}"/>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D702DA50-6780-894C-ECF9-76380B13BBE3}"/>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12D7B377-7BB8-A2F4-3B2C-D9A22D768CDD}"/>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A3821AA3-0558-E58A-E6DA-2A700CB3A008}"/>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0DEE3EB2-DD20-75DA-2939-259C3F0207C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4EF2E958-073C-69EA-AEBF-840095C0E7A9}"/>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8ED14C93-0550-3838-8810-20994EE7B61B}"/>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E179A09F-BF6E-0DD3-05DF-00CEA47D2B35}"/>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7131C8E8-D0A1-3B7D-43B1-FA189823A2A1}"/>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4175EB88-D6D8-9BD9-B978-9396237A3EBB}"/>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5666BD2B-F169-BB3A-BC3D-26866CA52048}"/>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699AFF01-27C8-9A91-30C1-D81415D3D414}"/>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F7AB390A-42A5-24D6-2FF7-1CDF14287674}"/>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935D6AE7-FE39-F153-3A5B-295047EA4A1A}"/>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388297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August 2026: two searches on Google</a:t>
            </a:r>
            <a:endParaRPr lang="en-US" sz="3600" dirty="0"/>
          </a:p>
        </p:txBody>
      </p:sp>
      <p:sp>
        <p:nvSpPr>
          <p:cNvPr id="3" name="Article frame"/>
          <p:cNvSpPr/>
          <p:nvPr/>
        </p:nvSpPr>
        <p:spPr>
          <a:xfrm>
            <a:off x="493776" y="1316736"/>
            <a:ext cx="4218070" cy="2196854"/>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4" name="Article screenshot" descr="Screenshot of a news article of Islam Channel, 27 August 2026, with the headline: I am alone with a Muslim: Google AI overview faces accusations of Islamophobic bias"/>
          <p:cNvPicPr>
            <a:picLocks noChangeAspect="1"/>
          </p:cNvPicPr>
          <p:nvPr/>
        </p:nvPicPr>
        <p:blipFill>
          <a:blip r:embed="rId3"/>
          <a:srcRect b="49835"/>
          <a:stretch>
            <a:fillRect/>
          </a:stretch>
        </p:blipFill>
        <p:spPr>
          <a:xfrm>
            <a:off x="548640" y="1371600"/>
            <a:ext cx="4108342" cy="2087126"/>
          </a:xfrm>
          <a:prstGeom prst="rect">
            <a:avLst/>
          </a:prstGeom>
        </p:spPr>
      </p:pic>
      <p:sp>
        <p:nvSpPr>
          <p:cNvPr id="26" name="Post frame"/>
          <p:cNvSpPr/>
          <p:nvPr/>
        </p:nvSpPr>
        <p:spPr>
          <a:xfrm>
            <a:off x="493776" y="3586742"/>
            <a:ext cx="4218070" cy="2191288"/>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27" name="Post screenshot" descr="Screenshot of a post by News from Google on X, 20 August 2026: Thanks for flagging. We agree that the results for these types of searches aren’t what they should be, and we’re working on improvements. Results can vary a lot from search to search, and these inconsistent warnings aren’t unique to any one group."/>
          <p:cNvPicPr>
            <a:picLocks noChangeAspect="1"/>
          </p:cNvPicPr>
          <p:nvPr/>
        </p:nvPicPr>
        <p:blipFill>
          <a:blip r:embed="rId4"/>
          <a:stretch>
            <a:fillRect/>
          </a:stretch>
        </p:blipFill>
        <p:spPr>
          <a:xfrm>
            <a:off x="548640" y="3641606"/>
            <a:ext cx="4108342" cy="2081560"/>
          </a:xfrm>
          <a:prstGeom prst="rect">
            <a:avLst/>
          </a:prstGeom>
        </p:spPr>
      </p:pic>
      <p:sp>
        <p:nvSpPr>
          <p:cNvPr id="5" name="Kicker"/>
          <p:cNvSpPr txBox="1"/>
          <p:nvPr/>
        </p:nvSpPr>
        <p:spPr>
          <a:xfrm>
            <a:off x="5205622" y="1353312"/>
            <a:ext cx="6437433"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WHAT GOOGLE’S AI OVERVIEW ANSWERED</a:t>
            </a:r>
            <a:endParaRPr lang="en-US" sz="1200" dirty="0"/>
          </a:p>
        </p:txBody>
      </p:sp>
      <p:sp>
        <p:nvSpPr>
          <p:cNvPr id="6" name="Search box 1"/>
          <p:cNvSpPr/>
          <p:nvPr/>
        </p:nvSpPr>
        <p:spPr>
          <a:xfrm>
            <a:off x="5205622" y="1783080"/>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7" name="Search icon 1" descr="preencoded.png"/>
          <p:cNvPicPr>
            <a:picLocks noChangeAspect="1"/>
          </p:cNvPicPr>
          <p:nvPr/>
        </p:nvPicPr>
        <p:blipFill>
          <a:blip r:embed="rId5"/>
          <a:stretch>
            <a:fillRect/>
          </a:stretch>
        </p:blipFill>
        <p:spPr>
          <a:xfrm>
            <a:off x="5388502" y="1911096"/>
            <a:ext cx="201168" cy="201168"/>
          </a:xfrm>
          <a:prstGeom prst="rect">
            <a:avLst/>
          </a:prstGeom>
        </p:spPr>
      </p:pic>
      <p:sp>
        <p:nvSpPr>
          <p:cNvPr id="8" name="Search text 1"/>
          <p:cNvSpPr txBox="1"/>
          <p:nvPr/>
        </p:nvSpPr>
        <p:spPr>
          <a:xfrm>
            <a:off x="5708542" y="1783080"/>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Muslim</a:t>
            </a:r>
            <a:endParaRPr lang="en-US" sz="1600" dirty="0"/>
          </a:p>
        </p:txBody>
      </p:sp>
      <p:sp>
        <p:nvSpPr>
          <p:cNvPr id="9" name="Answer mark 1"/>
          <p:cNvSpPr/>
          <p:nvPr/>
        </p:nvSpPr>
        <p:spPr>
          <a:xfrm>
            <a:off x="5251342" y="2404872"/>
            <a:ext cx="64008" cy="1152144"/>
          </a:xfrm>
          <a:prstGeom prst="rect">
            <a:avLst/>
          </a:prstGeom>
          <a:solidFill>
            <a:schemeClr val="accent2"/>
          </a:solidFill>
          <a:ln w="12700">
            <a:solidFill>
              <a:schemeClr val="accent2"/>
            </a:solidFill>
            <a:prstDash val="solid"/>
          </a:ln>
        </p:spPr>
        <p:txBody>
          <a:bodyPr/>
          <a:lstStyle/>
          <a:p>
            <a:endParaRPr lang="en-DE"/>
          </a:p>
        </p:txBody>
      </p:sp>
      <p:sp>
        <p:nvSpPr>
          <p:cNvPr id="10" name="Answer 1"/>
          <p:cNvSpPr txBox="1"/>
          <p:nvPr/>
        </p:nvSpPr>
        <p:spPr>
          <a:xfrm>
            <a:off x="5525662" y="2350008"/>
            <a:ext cx="6117393" cy="1243584"/>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“If you’re feeling unsafe or facing an emergency, please leave the area or call 911 immediately.”</a:t>
            </a:r>
            <a:endParaRPr lang="en-US" sz="2200" dirty="0"/>
          </a:p>
        </p:txBody>
      </p:sp>
      <p:sp>
        <p:nvSpPr>
          <p:cNvPr id="11" name="Search box 2"/>
          <p:cNvSpPr/>
          <p:nvPr/>
        </p:nvSpPr>
        <p:spPr>
          <a:xfrm>
            <a:off x="5205622" y="3867912"/>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12" name="Search icon 2" descr="preencoded.png"/>
          <p:cNvPicPr>
            <a:picLocks noChangeAspect="1"/>
          </p:cNvPicPr>
          <p:nvPr/>
        </p:nvPicPr>
        <p:blipFill>
          <a:blip r:embed="rId5"/>
          <a:stretch>
            <a:fillRect/>
          </a:stretch>
        </p:blipFill>
        <p:spPr>
          <a:xfrm>
            <a:off x="5388502" y="3995928"/>
            <a:ext cx="201168" cy="201168"/>
          </a:xfrm>
          <a:prstGeom prst="rect">
            <a:avLst/>
          </a:prstGeom>
        </p:spPr>
      </p:pic>
      <p:sp>
        <p:nvSpPr>
          <p:cNvPr id="13" name="Search text 2"/>
          <p:cNvSpPr txBox="1"/>
          <p:nvPr/>
        </p:nvSpPr>
        <p:spPr>
          <a:xfrm>
            <a:off x="5708542" y="3867912"/>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Brit</a:t>
            </a:r>
            <a:endParaRPr lang="en-US" sz="1600" dirty="0"/>
          </a:p>
        </p:txBody>
      </p:sp>
      <p:sp>
        <p:nvSpPr>
          <p:cNvPr id="14" name="Answer mark 2"/>
          <p:cNvSpPr/>
          <p:nvPr/>
        </p:nvSpPr>
        <p:spPr>
          <a:xfrm>
            <a:off x="5251342" y="4489704"/>
            <a:ext cx="64008" cy="384048"/>
          </a:xfrm>
          <a:prstGeom prst="rect">
            <a:avLst/>
          </a:prstGeom>
          <a:solidFill>
            <a:schemeClr val="accent6"/>
          </a:solidFill>
          <a:ln w="12700">
            <a:solidFill>
              <a:schemeClr val="accent6"/>
            </a:solidFill>
            <a:prstDash val="solid"/>
          </a:ln>
        </p:spPr>
        <p:txBody>
          <a:bodyPr/>
          <a:lstStyle/>
          <a:p>
            <a:endParaRPr lang="en-DE"/>
          </a:p>
        </p:txBody>
      </p:sp>
      <p:sp>
        <p:nvSpPr>
          <p:cNvPr id="15" name="Answer 2"/>
          <p:cNvSpPr txBox="1"/>
          <p:nvPr/>
        </p:nvSpPr>
        <p:spPr>
          <a:xfrm>
            <a:off x="5525662" y="4434840"/>
            <a:ext cx="6117393" cy="475488"/>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“Offer them a cup of tea immediately.”</a:t>
            </a:r>
            <a:endParaRPr lang="en-US" sz="2200" dirty="0"/>
          </a:p>
        </p:txBody>
      </p:sp>
      <p:sp>
        <p:nvSpPr>
          <p:cNvPr id="16" name="Google statement"/>
          <p:cNvSpPr txBox="1"/>
          <p:nvPr/>
        </p:nvSpPr>
        <p:spPr>
          <a:xfrm>
            <a:off x="5205622" y="4846320"/>
            <a:ext cx="6437433" cy="685800"/>
          </a:xfrm>
          <a:prstGeom prst="rect">
            <a:avLst/>
          </a:prstGeom>
          <a:noFill/>
          <a:ln/>
        </p:spPr>
        <p:txBody>
          <a:bodyPr wrap="square" lIns="0" tIns="0" rIns="0" bIns="0" rtlCol="0" anchor="b"/>
          <a:lstStyle/>
          <a:p>
            <a:pPr marL="0" indent="0">
              <a:buNone/>
            </a:pPr>
            <a:r>
              <a:rPr lang="en-US" sz="1500" b="1" dirty="0">
                <a:solidFill>
                  <a:schemeClr val="accent1"/>
                </a:solidFill>
              </a:rPr>
              <a:t>Google:  </a:t>
            </a:r>
            <a:r>
              <a:rPr lang="en-US" sz="1500" dirty="0">
                <a:solidFill>
                  <a:schemeClr val="accent5"/>
                </a:solidFill>
              </a:rPr>
              <a:t>“the results for these types of searches aren’t what they should be”</a:t>
            </a:r>
            <a:endParaRPr lang="en-US" sz="1500" dirty="0"/>
          </a:p>
        </p:txBody>
      </p:sp>
      <p:sp>
        <p:nvSpPr>
          <p:cNvPr id="1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Screenshot: Islam Channel, 27 August 2026. Answers as reported by Islam Channel, TRT World and Futurism (20 August 2026). Post: News from Google on X, 20 August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And in language models? What research found</a:t>
            </a:r>
            <a:endParaRPr lang="en-US" sz="3600" dirty="0"/>
          </a:p>
        </p:txBody>
      </p:sp>
      <p:sp>
        <p:nvSpPr>
          <p:cNvPr id="30" name="Paper wall"/>
          <p:cNvSpPr/>
          <p:nvPr/>
        </p:nvSpPr>
        <p:spPr>
          <a:xfrm>
            <a:off x="548640" y="1417320"/>
            <a:ext cx="11091672" cy="4389120"/>
          </a:xfrm>
          <a:prstGeom prst="roundRect">
            <a:avLst>
              <a:gd name="adj" fmla="val 2200"/>
            </a:avLst>
          </a:prstGeom>
          <a:solidFill>
            <a:schemeClr val="bg2"/>
          </a:solidFill>
          <a:ln>
            <a:noFill/>
          </a:ln>
        </p:spPr>
        <p:txBody>
          <a:bodyPr/>
          <a:lstStyle/>
          <a:p>
            <a:endParaRPr lang="en-DE"/>
          </a:p>
        </p:txBody>
      </p:sp>
      <p:sp>
        <p:nvSpPr>
          <p:cNvPr id="31" name="Paper card 1"/>
          <p:cNvSpPr/>
          <p:nvPr/>
        </p:nvSpPr>
        <p:spPr>
          <a:xfrm>
            <a:off x="749808" y="1618488"/>
            <a:ext cx="3465576" cy="886968"/>
          </a:xfrm>
          <a:prstGeom prst="roundRect">
            <a:avLst>
              <a:gd name="adj" fmla="val 7000"/>
            </a:avLst>
          </a:prstGeom>
          <a:solidFill>
            <a:schemeClr val="bg1"/>
          </a:solidFill>
          <a:ln>
            <a:noFill/>
          </a:ln>
        </p:spPr>
        <p:txBody>
          <a:bodyPr/>
          <a:lstStyle/>
          <a:p>
            <a:endParaRPr lang="en-DE"/>
          </a:p>
        </p:txBody>
      </p:sp>
      <p:pic>
        <p:nvPicPr>
          <p:cNvPr id="32" name="Paper title 1" descr="Title of the paper as printed: Persistent Anti-Muslim Bias in Large Language Models"/>
          <p:cNvPicPr>
            <a:picLocks noChangeAspect="1"/>
          </p:cNvPicPr>
          <p:nvPr/>
        </p:nvPicPr>
        <p:blipFill>
          <a:blip r:embed="rId3"/>
          <a:stretch>
            <a:fillRect/>
          </a:stretch>
        </p:blipFill>
        <p:spPr>
          <a:xfrm>
            <a:off x="877824" y="1856557"/>
            <a:ext cx="3209544" cy="163942"/>
          </a:xfrm>
          <a:prstGeom prst="rect">
            <a:avLst/>
          </a:prstGeom>
        </p:spPr>
      </p:pic>
      <p:sp>
        <p:nvSpPr>
          <p:cNvPr id="33" name="Paper caption 1"/>
          <p:cNvSpPr txBox="1"/>
          <p:nvPr/>
        </p:nvSpPr>
        <p:spPr>
          <a:xfrm>
            <a:off x="87782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Abid, Farooqi &amp; Zou · AIES 2021</a:t>
            </a:r>
            <a:endParaRPr lang="en-US" sz="1000" dirty="0"/>
          </a:p>
        </p:txBody>
      </p:sp>
      <p:sp>
        <p:nvSpPr>
          <p:cNvPr id="34" name="Paper card 2"/>
          <p:cNvSpPr/>
          <p:nvPr/>
        </p:nvSpPr>
        <p:spPr>
          <a:xfrm>
            <a:off x="4361688" y="1618488"/>
            <a:ext cx="3465576" cy="886968"/>
          </a:xfrm>
          <a:prstGeom prst="roundRect">
            <a:avLst>
              <a:gd name="adj" fmla="val 7000"/>
            </a:avLst>
          </a:prstGeom>
          <a:solidFill>
            <a:schemeClr val="bg1"/>
          </a:solidFill>
          <a:ln>
            <a:noFill/>
          </a:ln>
        </p:spPr>
        <p:txBody>
          <a:bodyPr/>
          <a:lstStyle/>
          <a:p>
            <a:endParaRPr lang="en-DE"/>
          </a:p>
        </p:txBody>
      </p:sp>
      <p:pic>
        <p:nvPicPr>
          <p:cNvPr id="35" name="Paper title 2" descr="Title of the paper as printed: Muslim-Violence Bias Persists in Debiased GPT Models"/>
          <p:cNvPicPr>
            <a:picLocks noChangeAspect="1"/>
          </p:cNvPicPr>
          <p:nvPr/>
        </p:nvPicPr>
        <p:blipFill>
          <a:blip r:embed="rId4"/>
          <a:stretch>
            <a:fillRect/>
          </a:stretch>
        </p:blipFill>
        <p:spPr>
          <a:xfrm>
            <a:off x="4489704" y="1763580"/>
            <a:ext cx="3209544" cy="349896"/>
          </a:xfrm>
          <a:prstGeom prst="rect">
            <a:avLst/>
          </a:prstGeom>
        </p:spPr>
      </p:pic>
      <p:sp>
        <p:nvSpPr>
          <p:cNvPr id="36" name="Paper caption 2"/>
          <p:cNvSpPr txBox="1"/>
          <p:nvPr/>
        </p:nvSpPr>
        <p:spPr>
          <a:xfrm>
            <a:off x="448970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Hemmatian, Baltaji &amp; Varshney · arXiv 2023</a:t>
            </a:r>
            <a:endParaRPr lang="en-US" sz="1000" dirty="0"/>
          </a:p>
        </p:txBody>
      </p:sp>
      <p:sp>
        <p:nvSpPr>
          <p:cNvPr id="37" name="Paper card 3"/>
          <p:cNvSpPr/>
          <p:nvPr/>
        </p:nvSpPr>
        <p:spPr>
          <a:xfrm>
            <a:off x="7973568" y="1618488"/>
            <a:ext cx="3465576" cy="886968"/>
          </a:xfrm>
          <a:prstGeom prst="roundRect">
            <a:avLst>
              <a:gd name="adj" fmla="val 7000"/>
            </a:avLst>
          </a:prstGeom>
          <a:solidFill>
            <a:schemeClr val="bg1"/>
          </a:solidFill>
          <a:ln>
            <a:noFill/>
          </a:ln>
        </p:spPr>
        <p:txBody>
          <a:bodyPr/>
          <a:lstStyle/>
          <a:p>
            <a:endParaRPr lang="en-DE"/>
          </a:p>
        </p:txBody>
      </p:sp>
      <p:pic>
        <p:nvPicPr>
          <p:cNvPr id="38" name="Paper title 3" descr="Title of the paper as printed: Divine LLaMAs: Bias, Stereotypes, Stigmatization, and Emotion Representation of Religion in Large Language Models"/>
          <p:cNvPicPr>
            <a:picLocks noChangeAspect="1"/>
          </p:cNvPicPr>
          <p:nvPr/>
        </p:nvPicPr>
        <p:blipFill>
          <a:blip r:embed="rId5"/>
          <a:stretch>
            <a:fillRect/>
          </a:stretch>
        </p:blipFill>
        <p:spPr>
          <a:xfrm>
            <a:off x="8101584" y="1795604"/>
            <a:ext cx="3209544" cy="285847"/>
          </a:xfrm>
          <a:prstGeom prst="rect">
            <a:avLst/>
          </a:prstGeom>
        </p:spPr>
      </p:pic>
      <p:sp>
        <p:nvSpPr>
          <p:cNvPr id="39" name="Paper caption 3"/>
          <p:cNvSpPr txBox="1"/>
          <p:nvPr/>
        </p:nvSpPr>
        <p:spPr>
          <a:xfrm>
            <a:off x="810158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Plaza-del-Arco et al. · Findings of EMNLP 2024</a:t>
            </a:r>
            <a:endParaRPr lang="en-US" sz="1000" dirty="0"/>
          </a:p>
        </p:txBody>
      </p:sp>
      <p:sp>
        <p:nvSpPr>
          <p:cNvPr id="40" name="Paper card 4"/>
          <p:cNvSpPr/>
          <p:nvPr/>
        </p:nvSpPr>
        <p:spPr>
          <a:xfrm>
            <a:off x="749808" y="2651760"/>
            <a:ext cx="3465576" cy="886968"/>
          </a:xfrm>
          <a:prstGeom prst="roundRect">
            <a:avLst>
              <a:gd name="adj" fmla="val 7000"/>
            </a:avLst>
          </a:prstGeom>
          <a:solidFill>
            <a:schemeClr val="bg1"/>
          </a:solidFill>
          <a:ln>
            <a:noFill/>
          </a:ln>
        </p:spPr>
        <p:txBody>
          <a:bodyPr/>
          <a:lstStyle/>
          <a:p>
            <a:endParaRPr lang="en-DE"/>
          </a:p>
        </p:txBody>
      </p:sp>
      <p:pic>
        <p:nvPicPr>
          <p:cNvPr id="41" name="Paper title 4" descr="Title of the paper as printed: Desert Camels and Oil Sheikhs: Arab-Centric Red Teaming of Frontier LLMs"/>
          <p:cNvPicPr>
            <a:picLocks noChangeAspect="1"/>
          </p:cNvPicPr>
          <p:nvPr/>
        </p:nvPicPr>
        <p:blipFill>
          <a:blip r:embed="rId6"/>
          <a:stretch>
            <a:fillRect/>
          </a:stretch>
        </p:blipFill>
        <p:spPr>
          <a:xfrm>
            <a:off x="935888" y="2778785"/>
            <a:ext cx="3093415" cy="386029"/>
          </a:xfrm>
          <a:prstGeom prst="rect">
            <a:avLst/>
          </a:prstGeom>
        </p:spPr>
      </p:pic>
      <p:sp>
        <p:nvSpPr>
          <p:cNvPr id="42" name="Paper caption 4"/>
          <p:cNvSpPr txBox="1"/>
          <p:nvPr/>
        </p:nvSpPr>
        <p:spPr>
          <a:xfrm>
            <a:off x="87782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Saeed et al. · arXiv 2024</a:t>
            </a:r>
            <a:endParaRPr lang="en-US" sz="1000" dirty="0"/>
          </a:p>
        </p:txBody>
      </p:sp>
      <p:sp>
        <p:nvSpPr>
          <p:cNvPr id="43" name="Paper card 5"/>
          <p:cNvSpPr/>
          <p:nvPr/>
        </p:nvSpPr>
        <p:spPr>
          <a:xfrm>
            <a:off x="4361688" y="2651760"/>
            <a:ext cx="3465576" cy="886968"/>
          </a:xfrm>
          <a:prstGeom prst="roundRect">
            <a:avLst>
              <a:gd name="adj" fmla="val 7000"/>
            </a:avLst>
          </a:prstGeom>
          <a:solidFill>
            <a:schemeClr val="bg1"/>
          </a:solidFill>
          <a:ln>
            <a:noFill/>
          </a:ln>
        </p:spPr>
        <p:txBody>
          <a:bodyPr/>
          <a:lstStyle/>
          <a:p>
            <a:endParaRPr lang="en-DE"/>
          </a:p>
        </p:txBody>
      </p:sp>
      <p:pic>
        <p:nvPicPr>
          <p:cNvPr id="44" name="Paper title 5" descr="Title of the paper as printed: Having Beer after Prayer? Measuring Cultural Bias in Large Language Models"/>
          <p:cNvPicPr>
            <a:picLocks noChangeAspect="1"/>
          </p:cNvPicPr>
          <p:nvPr/>
        </p:nvPicPr>
        <p:blipFill>
          <a:blip r:embed="rId7"/>
          <a:stretch>
            <a:fillRect/>
          </a:stretch>
        </p:blipFill>
        <p:spPr>
          <a:xfrm>
            <a:off x="4489704" y="2794673"/>
            <a:ext cx="3209544" cy="354254"/>
          </a:xfrm>
          <a:prstGeom prst="rect">
            <a:avLst/>
          </a:prstGeom>
        </p:spPr>
      </p:pic>
      <p:sp>
        <p:nvSpPr>
          <p:cNvPr id="45" name="Paper caption 5"/>
          <p:cNvSpPr txBox="1"/>
          <p:nvPr/>
        </p:nvSpPr>
        <p:spPr>
          <a:xfrm>
            <a:off x="448970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Naous, Ryan, Ritter &amp; Xu · ACL 2024</a:t>
            </a:r>
            <a:endParaRPr lang="en-US" sz="1000" dirty="0"/>
          </a:p>
        </p:txBody>
      </p:sp>
      <p:sp>
        <p:nvSpPr>
          <p:cNvPr id="46" name="Paper card 6"/>
          <p:cNvSpPr/>
          <p:nvPr/>
        </p:nvSpPr>
        <p:spPr>
          <a:xfrm>
            <a:off x="7973568" y="2651760"/>
            <a:ext cx="3465576" cy="886968"/>
          </a:xfrm>
          <a:prstGeom prst="roundRect">
            <a:avLst>
              <a:gd name="adj" fmla="val 7000"/>
            </a:avLst>
          </a:prstGeom>
          <a:solidFill>
            <a:schemeClr val="bg1"/>
          </a:solidFill>
          <a:ln>
            <a:noFill/>
          </a:ln>
        </p:spPr>
        <p:txBody>
          <a:bodyPr/>
          <a:lstStyle/>
          <a:p>
            <a:endParaRPr lang="en-DE"/>
          </a:p>
        </p:txBody>
      </p:sp>
      <p:pic>
        <p:nvPicPr>
          <p:cNvPr id="47" name="Paper title 6" descr="Title of the paper as printed: John vs. Ahmed: Debate-Induced Bias in Multilingual LLMs"/>
          <p:cNvPicPr>
            <a:picLocks noChangeAspect="1"/>
          </p:cNvPicPr>
          <p:nvPr/>
        </p:nvPicPr>
        <p:blipFill>
          <a:blip r:embed="rId8"/>
          <a:stretch>
            <a:fillRect/>
          </a:stretch>
        </p:blipFill>
        <p:spPr>
          <a:xfrm>
            <a:off x="8101584" y="2887712"/>
            <a:ext cx="3209544" cy="168177"/>
          </a:xfrm>
          <a:prstGeom prst="rect">
            <a:avLst/>
          </a:prstGeom>
        </p:spPr>
      </p:pic>
      <p:sp>
        <p:nvSpPr>
          <p:cNvPr id="48" name="Paper caption 6"/>
          <p:cNvSpPr txBox="1"/>
          <p:nvPr/>
        </p:nvSpPr>
        <p:spPr>
          <a:xfrm>
            <a:off x="810158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Demidova et al. · ArabicNLP 2024</a:t>
            </a:r>
            <a:endParaRPr lang="en-US" sz="1000" dirty="0"/>
          </a:p>
        </p:txBody>
      </p:sp>
      <p:sp>
        <p:nvSpPr>
          <p:cNvPr id="49" name="Paper card 7"/>
          <p:cNvSpPr/>
          <p:nvPr/>
        </p:nvSpPr>
        <p:spPr>
          <a:xfrm>
            <a:off x="749808" y="3685032"/>
            <a:ext cx="3465576" cy="886968"/>
          </a:xfrm>
          <a:prstGeom prst="roundRect">
            <a:avLst>
              <a:gd name="adj" fmla="val 7000"/>
            </a:avLst>
          </a:prstGeom>
          <a:solidFill>
            <a:schemeClr val="bg1"/>
          </a:solidFill>
          <a:ln>
            <a:noFill/>
          </a:ln>
        </p:spPr>
        <p:txBody>
          <a:bodyPr/>
          <a:lstStyle/>
          <a:p>
            <a:endParaRPr lang="en-DE"/>
          </a:p>
        </p:txBody>
      </p:sp>
      <p:pic>
        <p:nvPicPr>
          <p:cNvPr id="50" name="Paper title 7" descr="Title of the paper as printed: Intersectional biases in narratives produced by open-ended prompting of generative language models"/>
          <p:cNvPicPr>
            <a:picLocks noChangeAspect="1"/>
          </p:cNvPicPr>
          <p:nvPr/>
        </p:nvPicPr>
        <p:blipFill>
          <a:blip r:embed="rId9"/>
          <a:stretch>
            <a:fillRect/>
          </a:stretch>
        </p:blipFill>
        <p:spPr>
          <a:xfrm>
            <a:off x="1137016" y="3776472"/>
            <a:ext cx="2691161" cy="457200"/>
          </a:xfrm>
          <a:prstGeom prst="rect">
            <a:avLst/>
          </a:prstGeom>
        </p:spPr>
      </p:pic>
      <p:sp>
        <p:nvSpPr>
          <p:cNvPr id="51" name="Paper caption 7"/>
          <p:cNvSpPr txBox="1"/>
          <p:nvPr/>
        </p:nvSpPr>
        <p:spPr>
          <a:xfrm>
            <a:off x="87782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Shieh et al. · Nature Communications 2026</a:t>
            </a:r>
            <a:endParaRPr lang="en-US" sz="1000" dirty="0"/>
          </a:p>
        </p:txBody>
      </p:sp>
      <p:sp>
        <p:nvSpPr>
          <p:cNvPr id="52" name="Paper card 8"/>
          <p:cNvSpPr/>
          <p:nvPr/>
        </p:nvSpPr>
        <p:spPr>
          <a:xfrm>
            <a:off x="4361688" y="3685032"/>
            <a:ext cx="3465576" cy="886968"/>
          </a:xfrm>
          <a:prstGeom prst="roundRect">
            <a:avLst>
              <a:gd name="adj" fmla="val 7000"/>
            </a:avLst>
          </a:prstGeom>
          <a:solidFill>
            <a:schemeClr val="bg1"/>
          </a:solidFill>
          <a:ln>
            <a:noFill/>
          </a:ln>
        </p:spPr>
        <p:txBody>
          <a:bodyPr/>
          <a:lstStyle/>
          <a:p>
            <a:endParaRPr lang="en-DE"/>
          </a:p>
        </p:txBody>
      </p:sp>
      <p:pic>
        <p:nvPicPr>
          <p:cNvPr id="53" name="Paper title 8" descr="Title of the paper as printed: Computer says 'no': Exploring systemic bias in ChatGPT using an audit approach"/>
          <p:cNvPicPr>
            <a:picLocks noChangeAspect="1"/>
          </p:cNvPicPr>
          <p:nvPr/>
        </p:nvPicPr>
        <p:blipFill>
          <a:blip r:embed="rId10"/>
          <a:stretch>
            <a:fillRect/>
          </a:stretch>
        </p:blipFill>
        <p:spPr>
          <a:xfrm>
            <a:off x="5183035" y="3776472"/>
            <a:ext cx="1822882" cy="457200"/>
          </a:xfrm>
          <a:prstGeom prst="rect">
            <a:avLst/>
          </a:prstGeom>
        </p:spPr>
      </p:pic>
      <p:sp>
        <p:nvSpPr>
          <p:cNvPr id="54" name="Paper caption 8"/>
          <p:cNvSpPr txBox="1"/>
          <p:nvPr/>
        </p:nvSpPr>
        <p:spPr>
          <a:xfrm>
            <a:off x="448970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Lippens · Comput. Hum. Behav.: Artificial Humans 2024</a:t>
            </a:r>
            <a:endParaRPr lang="en-US" sz="1000" dirty="0"/>
          </a:p>
        </p:txBody>
      </p:sp>
      <p:sp>
        <p:nvSpPr>
          <p:cNvPr id="55" name="Paper card 9"/>
          <p:cNvSpPr/>
          <p:nvPr/>
        </p:nvSpPr>
        <p:spPr>
          <a:xfrm>
            <a:off x="7973568" y="3685032"/>
            <a:ext cx="3465576" cy="886968"/>
          </a:xfrm>
          <a:prstGeom prst="roundRect">
            <a:avLst>
              <a:gd name="adj" fmla="val 7000"/>
            </a:avLst>
          </a:prstGeom>
          <a:solidFill>
            <a:schemeClr val="bg1"/>
          </a:solidFill>
          <a:ln>
            <a:noFill/>
          </a:ln>
        </p:spPr>
        <p:txBody>
          <a:bodyPr/>
          <a:lstStyle/>
          <a:p>
            <a:endParaRPr lang="en-DE"/>
          </a:p>
        </p:txBody>
      </p:sp>
      <p:pic>
        <p:nvPicPr>
          <p:cNvPr id="56" name="Paper title 9" descr="Title of the paper as printed: LLM Alignment for the Arabs: A Homogenous Culture or Diverse Ones?"/>
          <p:cNvPicPr>
            <a:picLocks noChangeAspect="1"/>
          </p:cNvPicPr>
          <p:nvPr/>
        </p:nvPicPr>
        <p:blipFill>
          <a:blip r:embed="rId11"/>
          <a:stretch>
            <a:fillRect/>
          </a:stretch>
        </p:blipFill>
        <p:spPr>
          <a:xfrm>
            <a:off x="8101584" y="3934747"/>
            <a:ext cx="3209544" cy="140651"/>
          </a:xfrm>
          <a:prstGeom prst="rect">
            <a:avLst/>
          </a:prstGeom>
        </p:spPr>
      </p:pic>
      <p:sp>
        <p:nvSpPr>
          <p:cNvPr id="57" name="Paper caption 9"/>
          <p:cNvSpPr txBox="1"/>
          <p:nvPr/>
        </p:nvSpPr>
        <p:spPr>
          <a:xfrm>
            <a:off x="810158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Keleg · C3NLP workshop 2025</a:t>
            </a:r>
            <a:endParaRPr lang="en-US" sz="1000" dirty="0"/>
          </a:p>
        </p:txBody>
      </p:sp>
      <p:sp>
        <p:nvSpPr>
          <p:cNvPr id="58" name="Paper card 10"/>
          <p:cNvSpPr/>
          <p:nvPr/>
        </p:nvSpPr>
        <p:spPr>
          <a:xfrm>
            <a:off x="749808" y="4718304"/>
            <a:ext cx="3465576" cy="886968"/>
          </a:xfrm>
          <a:prstGeom prst="roundRect">
            <a:avLst>
              <a:gd name="adj" fmla="val 7000"/>
            </a:avLst>
          </a:prstGeom>
          <a:solidFill>
            <a:schemeClr val="bg1"/>
          </a:solidFill>
          <a:ln>
            <a:noFill/>
          </a:ln>
        </p:spPr>
        <p:txBody>
          <a:bodyPr/>
          <a:lstStyle/>
          <a:p>
            <a:endParaRPr lang="en-DE"/>
          </a:p>
        </p:txBody>
      </p:sp>
      <p:pic>
        <p:nvPicPr>
          <p:cNvPr id="59" name="Paper title 10" descr="Title of the paper as printed: Nationality Bias in Text Generation"/>
          <p:cNvPicPr>
            <a:picLocks noChangeAspect="1"/>
          </p:cNvPicPr>
          <p:nvPr/>
        </p:nvPicPr>
        <p:blipFill>
          <a:blip r:embed="rId12"/>
          <a:stretch>
            <a:fillRect/>
          </a:stretch>
        </p:blipFill>
        <p:spPr>
          <a:xfrm>
            <a:off x="1276579" y="4932121"/>
            <a:ext cx="2412035" cy="212446"/>
          </a:xfrm>
          <a:prstGeom prst="rect">
            <a:avLst/>
          </a:prstGeom>
        </p:spPr>
      </p:pic>
      <p:sp>
        <p:nvSpPr>
          <p:cNvPr id="60" name="Paper caption 10"/>
          <p:cNvSpPr txBox="1"/>
          <p:nvPr/>
        </p:nvSpPr>
        <p:spPr>
          <a:xfrm>
            <a:off x="87782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Venkit et al. · EACL 2023</a:t>
            </a:r>
            <a:endParaRPr lang="en-US" sz="1000" dirty="0"/>
          </a:p>
        </p:txBody>
      </p:sp>
      <p:sp>
        <p:nvSpPr>
          <p:cNvPr id="61" name="Paper card 11"/>
          <p:cNvSpPr/>
          <p:nvPr/>
        </p:nvSpPr>
        <p:spPr>
          <a:xfrm>
            <a:off x="4361688" y="4718304"/>
            <a:ext cx="3465576" cy="886968"/>
          </a:xfrm>
          <a:prstGeom prst="roundRect">
            <a:avLst>
              <a:gd name="adj" fmla="val 7000"/>
            </a:avLst>
          </a:prstGeom>
          <a:solidFill>
            <a:schemeClr val="bg1"/>
          </a:solidFill>
          <a:ln>
            <a:noFill/>
          </a:ln>
        </p:spPr>
        <p:txBody>
          <a:bodyPr/>
          <a:lstStyle/>
          <a:p>
            <a:endParaRPr lang="en-DE"/>
          </a:p>
        </p:txBody>
      </p:sp>
      <p:pic>
        <p:nvPicPr>
          <p:cNvPr id="62" name="Paper title 11" descr="Title of the paper as printed: Representational Harms in LLM-Generated Narratives Against Global Majority Nationalities"/>
          <p:cNvPicPr>
            <a:picLocks noChangeAspect="1"/>
          </p:cNvPicPr>
          <p:nvPr/>
        </p:nvPicPr>
        <p:blipFill>
          <a:blip r:embed="rId13"/>
          <a:stretch>
            <a:fillRect/>
          </a:stretch>
        </p:blipFill>
        <p:spPr>
          <a:xfrm>
            <a:off x="4489704" y="4917500"/>
            <a:ext cx="3209544" cy="241688"/>
          </a:xfrm>
          <a:prstGeom prst="rect">
            <a:avLst/>
          </a:prstGeom>
        </p:spPr>
      </p:pic>
      <p:sp>
        <p:nvSpPr>
          <p:cNvPr id="63" name="Paper caption 11"/>
          <p:cNvSpPr txBox="1"/>
          <p:nvPr/>
        </p:nvSpPr>
        <p:spPr>
          <a:xfrm>
            <a:off x="448970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Nguyen, Suresh, Monroe-White &amp; Shieh · FAccT 2026</a:t>
            </a:r>
            <a:endParaRPr lang="en-US" sz="1000" dirty="0"/>
          </a:p>
        </p:txBody>
      </p:sp>
      <p:sp>
        <p:nvSpPr>
          <p:cNvPr id="64" name="Paper card 12"/>
          <p:cNvSpPr/>
          <p:nvPr/>
        </p:nvSpPr>
        <p:spPr>
          <a:xfrm>
            <a:off x="7973568" y="4718304"/>
            <a:ext cx="3465576" cy="886968"/>
          </a:xfrm>
          <a:prstGeom prst="roundRect">
            <a:avLst>
              <a:gd name="adj" fmla="val 7000"/>
            </a:avLst>
          </a:prstGeom>
          <a:solidFill>
            <a:schemeClr val="bg1"/>
          </a:solidFill>
          <a:ln>
            <a:noFill/>
          </a:ln>
        </p:spPr>
        <p:txBody>
          <a:bodyPr/>
          <a:lstStyle/>
          <a:p>
            <a:endParaRPr lang="en-DE"/>
          </a:p>
        </p:txBody>
      </p:sp>
      <p:pic>
        <p:nvPicPr>
          <p:cNvPr id="65" name="Paper title 12" descr="Title of the paper as printed: Digital Gatekeepers: Exploring Large Language Model's Role in Immigration Decisions"/>
          <p:cNvPicPr>
            <a:picLocks noChangeAspect="1"/>
          </p:cNvPicPr>
          <p:nvPr/>
        </p:nvPicPr>
        <p:blipFill>
          <a:blip r:embed="rId14"/>
          <a:stretch>
            <a:fillRect/>
          </a:stretch>
        </p:blipFill>
        <p:spPr>
          <a:xfrm>
            <a:off x="8101584" y="4903021"/>
            <a:ext cx="3209544" cy="270646"/>
          </a:xfrm>
          <a:prstGeom prst="rect">
            <a:avLst/>
          </a:prstGeom>
        </p:spPr>
      </p:pic>
      <p:sp>
        <p:nvSpPr>
          <p:cNvPr id="66" name="Paper caption 12"/>
          <p:cNvSpPr txBox="1"/>
          <p:nvPr/>
        </p:nvSpPr>
        <p:spPr>
          <a:xfrm>
            <a:off x="810158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Mao &amp; Zhao · arXiv 2025</a:t>
            </a:r>
            <a:endParaRPr lang="en-US" sz="10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Twelve studies from our literature list. Each title is cut from the first page of the paper itself. Full references: speaker notes.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The papers we found compare one big group</a:t>
            </a:r>
            <a:endParaRPr lang="en-US" sz="3600" dirty="0"/>
          </a:p>
        </p:txBody>
      </p:sp>
      <p:sp>
        <p:nvSpPr>
          <p:cNvPr id="3" name="Usual card"/>
          <p:cNvSpPr/>
          <p:nvPr/>
        </p:nvSpPr>
        <p:spPr>
          <a:xfrm>
            <a:off x="548640" y="1417320"/>
            <a:ext cx="5349240" cy="3840480"/>
          </a:xfrm>
          <a:prstGeom prst="roundRect">
            <a:avLst>
              <a:gd name="adj" fmla="val 2857"/>
            </a:avLst>
          </a:prstGeom>
          <a:solidFill>
            <a:schemeClr val="bg2"/>
          </a:solidFill>
          <a:ln w="12700">
            <a:solidFill>
              <a:schemeClr val="bg2"/>
            </a:solidFill>
          </a:ln>
        </p:spPr>
        <p:txBody>
          <a:bodyPr rtlCol="0" anchor="ctr"/>
          <a:lstStyle/>
          <a:p>
            <a:pPr algn="ctr"/>
            <a:endParaRPr/>
          </a:p>
        </p:txBody>
      </p:sp>
      <p:sp>
        <p:nvSpPr>
          <p:cNvPr id="4" name="Usual circle"/>
          <p:cNvSpPr/>
          <p:nvPr/>
        </p:nvSpPr>
        <p:spPr>
          <a:xfrm>
            <a:off x="868680" y="169164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5" name="Usual icon"/>
          <p:cNvPicPr>
            <a:picLocks noChangeAspect="1"/>
          </p:cNvPicPr>
          <p:nvPr/>
        </p:nvPicPr>
        <p:blipFill>
          <a:blip r:embed="rId3"/>
          <a:stretch>
            <a:fillRect/>
          </a:stretch>
        </p:blipFill>
        <p:spPr>
          <a:xfrm>
            <a:off x="1024127" y="1847088"/>
            <a:ext cx="329184" cy="329184"/>
          </a:xfrm>
          <a:prstGeom prst="rect">
            <a:avLst/>
          </a:prstGeom>
        </p:spPr>
      </p:pic>
      <p:sp>
        <p:nvSpPr>
          <p:cNvPr id="6" name="Usual kicker"/>
          <p:cNvSpPr txBox="1"/>
          <p:nvPr/>
        </p:nvSpPr>
        <p:spPr>
          <a:xfrm>
            <a:off x="1645920" y="1691640"/>
            <a:ext cx="3931920" cy="640080"/>
          </a:xfrm>
          <a:prstGeom prst="rect">
            <a:avLst/>
          </a:prstGeom>
          <a:noFill/>
        </p:spPr>
        <p:txBody>
          <a:bodyPr wrap="square" lIns="0" tIns="0" rIns="0" bIns="0" anchor="ctr">
            <a:noAutofit/>
          </a:bodyPr>
          <a:lstStyle/>
          <a:p>
            <a:pPr algn="l"/>
            <a:r>
              <a:rPr lang="en-US" sz="1200" b="1" i="0" spc="200">
                <a:solidFill>
                  <a:schemeClr val="tx2"/>
                </a:solidFill>
              </a:rPr>
              <a:t>THE USUAL STUDY</a:t>
            </a:r>
          </a:p>
        </p:txBody>
      </p:sp>
      <p:sp>
        <p:nvSpPr>
          <p:cNvPr id="7" name="One group block"/>
          <p:cNvSpPr/>
          <p:nvPr/>
        </p:nvSpPr>
        <p:spPr>
          <a:xfrm>
            <a:off x="868680" y="2560320"/>
            <a:ext cx="2468880" cy="914400"/>
          </a:xfrm>
          <a:prstGeom prst="roundRect">
            <a:avLst>
              <a:gd name="adj" fmla="val 12000"/>
            </a:avLst>
          </a:prstGeom>
          <a:solidFill>
            <a:schemeClr val="tx1"/>
          </a:solidFill>
          <a:ln w="12700">
            <a:solidFill>
              <a:schemeClr val="tx1"/>
            </a:solidFill>
          </a:ln>
        </p:spPr>
        <p:txBody>
          <a:bodyPr rtlCol="0" anchor="ctr"/>
          <a:lstStyle/>
          <a:p>
            <a:pPr algn="ctr"/>
            <a:endParaRPr/>
          </a:p>
        </p:txBody>
      </p:sp>
      <p:sp>
        <p:nvSpPr>
          <p:cNvPr id="8" name="One group text"/>
          <p:cNvSpPr txBox="1"/>
          <p:nvPr/>
        </p:nvSpPr>
        <p:spPr>
          <a:xfrm>
            <a:off x="868680" y="2560320"/>
            <a:ext cx="2468880" cy="914400"/>
          </a:xfrm>
          <a:prstGeom prst="rect">
            <a:avLst/>
          </a:prstGeom>
          <a:noFill/>
        </p:spPr>
        <p:txBody>
          <a:bodyPr wrap="square" lIns="0" tIns="0" rIns="0" bIns="0" anchor="ctr">
            <a:noAutofit/>
          </a:bodyPr>
          <a:lstStyle/>
          <a:p>
            <a:pPr algn="ctr"/>
            <a:r>
              <a:rPr lang="en-US" sz="2000" b="1" i="0">
                <a:solidFill>
                  <a:schemeClr val="bg1"/>
                </a:solidFill>
                <a:latin typeface="Cambria"/>
              </a:rPr>
              <a:t>One group</a:t>
            </a:r>
          </a:p>
          <a:p>
            <a:pPr algn="ctr"/>
            <a:r>
              <a:rPr lang="en-US" sz="1200" b="0" i="0">
                <a:solidFill>
                  <a:schemeClr val="accent5"/>
                </a:solidFill>
              </a:rPr>
              <a:t>Muslim · Arab · Middle Eastern</a:t>
            </a:r>
          </a:p>
        </p:txBody>
      </p:sp>
      <p:sp>
        <p:nvSpPr>
          <p:cNvPr id="9" name="Versus"/>
          <p:cNvSpPr txBox="1"/>
          <p:nvPr/>
        </p:nvSpPr>
        <p:spPr>
          <a:xfrm>
            <a:off x="3337560" y="2560320"/>
            <a:ext cx="502920" cy="914400"/>
          </a:xfrm>
          <a:prstGeom prst="rect">
            <a:avLst/>
          </a:prstGeom>
          <a:noFill/>
        </p:spPr>
        <p:txBody>
          <a:bodyPr wrap="square" lIns="0" tIns="0" rIns="0" bIns="0" anchor="ctr">
            <a:noAutofit/>
          </a:bodyPr>
          <a:lstStyle/>
          <a:p>
            <a:pPr algn="ctr"/>
            <a:r>
              <a:rPr lang="en-US" sz="1600" b="0" i="1">
                <a:solidFill>
                  <a:schemeClr val="tx2"/>
                </a:solidFill>
                <a:latin typeface="Cambria"/>
              </a:rPr>
              <a:t>vs.</a:t>
            </a:r>
          </a:p>
        </p:txBody>
      </p:sp>
      <p:sp>
        <p:nvSpPr>
          <p:cNvPr id="10" name="Others block"/>
          <p:cNvSpPr/>
          <p:nvPr/>
        </p:nvSpPr>
        <p:spPr>
          <a:xfrm>
            <a:off x="3840480" y="2560320"/>
            <a:ext cx="1737360" cy="914400"/>
          </a:xfrm>
          <a:prstGeom prst="roundRect">
            <a:avLst>
              <a:gd name="adj" fmla="val 12000"/>
            </a:avLst>
          </a:prstGeom>
          <a:solidFill>
            <a:schemeClr val="bg1"/>
          </a:solidFill>
          <a:ln w="12700">
            <a:solidFill>
              <a:schemeClr val="accent5"/>
            </a:solidFill>
          </a:ln>
        </p:spPr>
        <p:txBody>
          <a:bodyPr rtlCol="0" anchor="ctr"/>
          <a:lstStyle/>
          <a:p>
            <a:pPr algn="ctr"/>
            <a:endParaRPr/>
          </a:p>
        </p:txBody>
      </p:sp>
      <p:sp>
        <p:nvSpPr>
          <p:cNvPr id="11" name="Others text"/>
          <p:cNvSpPr txBox="1"/>
          <p:nvPr/>
        </p:nvSpPr>
        <p:spPr>
          <a:xfrm>
            <a:off x="3840480" y="2560320"/>
            <a:ext cx="1737360" cy="914400"/>
          </a:xfrm>
          <a:prstGeom prst="rect">
            <a:avLst/>
          </a:prstGeom>
          <a:noFill/>
        </p:spPr>
        <p:txBody>
          <a:bodyPr wrap="square" lIns="0" tIns="0" rIns="0" bIns="0" anchor="ctr">
            <a:noAutofit/>
          </a:bodyPr>
          <a:lstStyle/>
          <a:p>
            <a:pPr algn="ctr"/>
            <a:r>
              <a:rPr lang="en-US" sz="2000" b="1" i="0">
                <a:solidFill>
                  <a:schemeClr val="tx1"/>
                </a:solidFill>
                <a:latin typeface="Cambria"/>
              </a:rPr>
              <a:t>The others</a:t>
            </a:r>
          </a:p>
        </p:txBody>
      </p:sp>
      <p:sp>
        <p:nvSpPr>
          <p:cNvPr id="12" name="Study 1"/>
          <p:cNvSpPr txBox="1"/>
          <p:nvPr/>
        </p:nvSpPr>
        <p:spPr>
          <a:xfrm>
            <a:off x="868680" y="3749039"/>
            <a:ext cx="1325880" cy="384048"/>
          </a:xfrm>
          <a:prstGeom prst="rect">
            <a:avLst/>
          </a:prstGeom>
          <a:noFill/>
        </p:spPr>
        <p:txBody>
          <a:bodyPr wrap="square" lIns="0" tIns="0" rIns="0" bIns="0" anchor="ctr">
            <a:noAutofit/>
          </a:bodyPr>
          <a:lstStyle/>
          <a:p>
            <a:pPr algn="l"/>
            <a:r>
              <a:rPr lang="en-US" sz="1400" b="1" i="0">
                <a:solidFill>
                  <a:schemeClr val="tx1"/>
                </a:solidFill>
              </a:rPr>
              <a:t>Abid 2021</a:t>
            </a:r>
          </a:p>
        </p:txBody>
      </p:sp>
      <p:sp>
        <p:nvSpPr>
          <p:cNvPr id="13" name="Study 1 compares"/>
          <p:cNvSpPr txBox="1"/>
          <p:nvPr/>
        </p:nvSpPr>
        <p:spPr>
          <a:xfrm>
            <a:off x="2194560" y="3749039"/>
            <a:ext cx="3383280" cy="384048"/>
          </a:xfrm>
          <a:prstGeom prst="rect">
            <a:avLst/>
          </a:prstGeom>
          <a:noFill/>
        </p:spPr>
        <p:txBody>
          <a:bodyPr wrap="square" lIns="0" tIns="0" rIns="0" bIns="0" anchor="ctr">
            <a:noAutofit/>
          </a:bodyPr>
          <a:lstStyle/>
          <a:p>
            <a:pPr algn="l"/>
            <a:r>
              <a:rPr lang="en-US" sz="1400" b="0" i="0">
                <a:solidFill>
                  <a:schemeClr val="tx1"/>
                </a:solidFill>
              </a:rPr>
              <a:t>Muslims vs. other religions</a:t>
            </a:r>
          </a:p>
        </p:txBody>
      </p:sp>
      <p:sp>
        <p:nvSpPr>
          <p:cNvPr id="14" name="Study 2"/>
          <p:cNvSpPr txBox="1"/>
          <p:nvPr/>
        </p:nvSpPr>
        <p:spPr>
          <a:xfrm>
            <a:off x="868680" y="4178807"/>
            <a:ext cx="1325880" cy="384048"/>
          </a:xfrm>
          <a:prstGeom prst="rect">
            <a:avLst/>
          </a:prstGeom>
          <a:noFill/>
        </p:spPr>
        <p:txBody>
          <a:bodyPr wrap="square" lIns="0" tIns="0" rIns="0" bIns="0" anchor="ctr">
            <a:noAutofit/>
          </a:bodyPr>
          <a:lstStyle/>
          <a:p>
            <a:pPr algn="l"/>
            <a:r>
              <a:rPr lang="en-US" sz="1400" b="1" i="0">
                <a:solidFill>
                  <a:schemeClr val="tx1"/>
                </a:solidFill>
              </a:rPr>
              <a:t>Shieh 2026</a:t>
            </a:r>
          </a:p>
        </p:txBody>
      </p:sp>
      <p:sp>
        <p:nvSpPr>
          <p:cNvPr id="15" name="Study 2 compares"/>
          <p:cNvSpPr txBox="1"/>
          <p:nvPr/>
        </p:nvSpPr>
        <p:spPr>
          <a:xfrm>
            <a:off x="2194560" y="4178807"/>
            <a:ext cx="3383280" cy="384048"/>
          </a:xfrm>
          <a:prstGeom prst="rect">
            <a:avLst/>
          </a:prstGeom>
          <a:noFill/>
        </p:spPr>
        <p:txBody>
          <a:bodyPr wrap="square" lIns="0" tIns="0" rIns="0" bIns="0" anchor="ctr">
            <a:noAutofit/>
          </a:bodyPr>
          <a:lstStyle/>
          <a:p>
            <a:pPr algn="l"/>
            <a:r>
              <a:rPr lang="en-US" sz="1400" b="0" i="0">
                <a:solidFill>
                  <a:schemeClr val="tx1"/>
                </a:solidFill>
              </a:rPr>
              <a:t>Middle Eastern names vs. US population</a:t>
            </a:r>
          </a:p>
        </p:txBody>
      </p:sp>
      <p:sp>
        <p:nvSpPr>
          <p:cNvPr id="16" name="Study 3"/>
          <p:cNvSpPr txBox="1"/>
          <p:nvPr/>
        </p:nvSpPr>
        <p:spPr>
          <a:xfrm>
            <a:off x="868680" y="4608575"/>
            <a:ext cx="1325880" cy="384048"/>
          </a:xfrm>
          <a:prstGeom prst="rect">
            <a:avLst/>
          </a:prstGeom>
          <a:noFill/>
        </p:spPr>
        <p:txBody>
          <a:bodyPr wrap="square" lIns="0" tIns="0" rIns="0" bIns="0" anchor="ctr">
            <a:noAutofit/>
          </a:bodyPr>
          <a:lstStyle/>
          <a:p>
            <a:pPr algn="l"/>
            <a:r>
              <a:rPr lang="en-US" sz="1400" b="1" i="0">
                <a:solidFill>
                  <a:schemeClr val="tx1"/>
                </a:solidFill>
              </a:rPr>
              <a:t>Lippens 2024</a:t>
            </a:r>
          </a:p>
        </p:txBody>
      </p:sp>
      <p:sp>
        <p:nvSpPr>
          <p:cNvPr id="17" name="Study 3 compares"/>
          <p:cNvSpPr txBox="1"/>
          <p:nvPr/>
        </p:nvSpPr>
        <p:spPr>
          <a:xfrm>
            <a:off x="2194560" y="4608575"/>
            <a:ext cx="3383280" cy="384048"/>
          </a:xfrm>
          <a:prstGeom prst="rect">
            <a:avLst/>
          </a:prstGeom>
          <a:noFill/>
        </p:spPr>
        <p:txBody>
          <a:bodyPr wrap="square" lIns="0" tIns="0" rIns="0" bIns="0" anchor="ctr">
            <a:noAutofit/>
          </a:bodyPr>
          <a:lstStyle/>
          <a:p>
            <a:pPr algn="l"/>
            <a:r>
              <a:rPr lang="en-US" sz="1400" b="0" i="0">
                <a:solidFill>
                  <a:schemeClr val="tx1"/>
                </a:solidFill>
              </a:rPr>
              <a:t>Arab names vs. Dutch names</a:t>
            </a:r>
          </a:p>
        </p:txBody>
      </p:sp>
      <p:pic>
        <p:nvPicPr>
          <p:cNvPr id="18" name="Arrow" descr="Arrow"/>
          <p:cNvPicPr>
            <a:picLocks noChangeAspect="1"/>
          </p:cNvPicPr>
          <p:nvPr/>
        </p:nvPicPr>
        <p:blipFill>
          <a:blip r:embed="rId4"/>
          <a:stretch>
            <a:fillRect/>
          </a:stretch>
        </p:blipFill>
        <p:spPr>
          <a:xfrm>
            <a:off x="5957316" y="3200400"/>
            <a:ext cx="274320" cy="274320"/>
          </a:xfrm>
          <a:prstGeom prst="rect">
            <a:avLst/>
          </a:prstGeom>
        </p:spPr>
      </p:pic>
      <p:sp>
        <p:nvSpPr>
          <p:cNvPr id="19" name="Idea card"/>
          <p:cNvSpPr/>
          <p:nvPr/>
        </p:nvSpPr>
        <p:spPr>
          <a:xfrm>
            <a:off x="6291072" y="1417320"/>
            <a:ext cx="5349240" cy="3840480"/>
          </a:xfrm>
          <a:prstGeom prst="roundRect">
            <a:avLst>
              <a:gd name="adj" fmla="val 2857"/>
            </a:avLst>
          </a:prstGeom>
          <a:solidFill>
            <a:schemeClr val="tx1"/>
          </a:solidFill>
          <a:ln w="12700">
            <a:solidFill>
              <a:schemeClr val="tx1"/>
            </a:solidFill>
          </a:ln>
        </p:spPr>
        <p:txBody>
          <a:bodyPr rtlCol="0" anchor="ctr"/>
          <a:lstStyle/>
          <a:p>
            <a:pPr algn="ctr"/>
            <a:endParaRPr/>
          </a:p>
        </p:txBody>
      </p:sp>
      <p:sp>
        <p:nvSpPr>
          <p:cNvPr id="20" name="Idea circle"/>
          <p:cNvSpPr/>
          <p:nvPr/>
        </p:nvSpPr>
        <p:spPr>
          <a:xfrm>
            <a:off x="6611112" y="1691640"/>
            <a:ext cx="640080" cy="640080"/>
          </a:xfrm>
          <a:prstGeom prst="ellipse">
            <a:avLst/>
          </a:prstGeom>
          <a:solidFill>
            <a:schemeClr val="accent1"/>
          </a:solidFill>
          <a:ln w="12700">
            <a:solidFill>
              <a:schemeClr val="accent1"/>
            </a:solidFill>
          </a:ln>
        </p:spPr>
        <p:txBody>
          <a:bodyPr rtlCol="0" anchor="ctr"/>
          <a:lstStyle/>
          <a:p>
            <a:pPr algn="ctr"/>
            <a:endParaRPr/>
          </a:p>
        </p:txBody>
      </p:sp>
      <p:pic>
        <p:nvPicPr>
          <p:cNvPr id="21" name="Idea icon"/>
          <p:cNvPicPr>
            <a:picLocks noChangeAspect="1"/>
          </p:cNvPicPr>
          <p:nvPr/>
        </p:nvPicPr>
        <p:blipFill>
          <a:blip r:embed="rId5"/>
          <a:stretch>
            <a:fillRect/>
          </a:stretch>
        </p:blipFill>
        <p:spPr>
          <a:xfrm>
            <a:off x="6766560" y="1847088"/>
            <a:ext cx="329184" cy="329184"/>
          </a:xfrm>
          <a:prstGeom prst="rect">
            <a:avLst/>
          </a:prstGeom>
        </p:spPr>
      </p:pic>
      <p:sp>
        <p:nvSpPr>
          <p:cNvPr id="22" name="Idea kicker"/>
          <p:cNvSpPr txBox="1"/>
          <p:nvPr/>
        </p:nvSpPr>
        <p:spPr>
          <a:xfrm>
            <a:off x="7388352" y="1691640"/>
            <a:ext cx="3931920" cy="640080"/>
          </a:xfrm>
          <a:prstGeom prst="rect">
            <a:avLst/>
          </a:prstGeom>
          <a:noFill/>
        </p:spPr>
        <p:txBody>
          <a:bodyPr wrap="square" lIns="0" tIns="0" rIns="0" bIns="0" anchor="ctr">
            <a:noAutofit/>
          </a:bodyPr>
          <a:lstStyle/>
          <a:p>
            <a:pPr algn="l"/>
            <a:r>
              <a:rPr lang="en-US" sz="1200" b="1" i="0" spc="200">
                <a:solidFill>
                  <a:schemeClr val="accent1"/>
                </a:solidFill>
              </a:rPr>
              <a:t>OUR IDEA</a:t>
            </a:r>
          </a:p>
        </p:txBody>
      </p:sp>
      <p:pic>
        <p:nvPicPr>
          <p:cNvPr id="23" name="Flag Algeria" descr="Flag of Algeria"/>
          <p:cNvPicPr>
            <a:picLocks noChangeAspect="1"/>
          </p:cNvPicPr>
          <p:nvPr/>
        </p:nvPicPr>
        <p:blipFill>
          <a:blip r:embed="rId6"/>
          <a:stretch>
            <a:fillRect/>
          </a:stretch>
        </p:blipFill>
        <p:spPr>
          <a:xfrm>
            <a:off x="6611112" y="2560320"/>
            <a:ext cx="365760" cy="274320"/>
          </a:xfrm>
          <a:prstGeom prst="rect">
            <a:avLst/>
          </a:prstGeom>
        </p:spPr>
      </p:pic>
      <p:sp>
        <p:nvSpPr>
          <p:cNvPr id="24" name="Flag frame Algeria"/>
          <p:cNvSpPr/>
          <p:nvPr/>
        </p:nvSpPr>
        <p:spPr>
          <a:xfrm>
            <a:off x="6611112" y="2560320"/>
            <a:ext cx="365760" cy="274320"/>
          </a:xfrm>
          <a:prstGeom prst="rect">
            <a:avLst/>
          </a:prstGeom>
          <a:noFill/>
          <a:ln w="6350">
            <a:solidFill>
              <a:schemeClr val="accent5"/>
            </a:solidFill>
          </a:ln>
        </p:spPr>
        <p:txBody>
          <a:bodyPr rtlCol="0" anchor="ctr"/>
          <a:lstStyle/>
          <a:p>
            <a:pPr algn="ctr"/>
            <a:endParaRPr/>
          </a:p>
        </p:txBody>
      </p:sp>
      <p:pic>
        <p:nvPicPr>
          <p:cNvPr id="25" name="Flag Bahrain" descr="Flag of Bahrain"/>
          <p:cNvPicPr>
            <a:picLocks noChangeAspect="1"/>
          </p:cNvPicPr>
          <p:nvPr/>
        </p:nvPicPr>
        <p:blipFill>
          <a:blip r:embed="rId7"/>
          <a:stretch>
            <a:fillRect/>
          </a:stretch>
        </p:blipFill>
        <p:spPr>
          <a:xfrm>
            <a:off x="7045452" y="2560320"/>
            <a:ext cx="365760" cy="274320"/>
          </a:xfrm>
          <a:prstGeom prst="rect">
            <a:avLst/>
          </a:prstGeom>
        </p:spPr>
      </p:pic>
      <p:sp>
        <p:nvSpPr>
          <p:cNvPr id="26" name="Flag frame Bahrain"/>
          <p:cNvSpPr/>
          <p:nvPr/>
        </p:nvSpPr>
        <p:spPr>
          <a:xfrm>
            <a:off x="7045452" y="2560320"/>
            <a:ext cx="365760" cy="274320"/>
          </a:xfrm>
          <a:prstGeom prst="rect">
            <a:avLst/>
          </a:prstGeom>
          <a:noFill/>
          <a:ln w="6350">
            <a:solidFill>
              <a:schemeClr val="accent5"/>
            </a:solidFill>
          </a:ln>
        </p:spPr>
        <p:txBody>
          <a:bodyPr rtlCol="0" anchor="ctr"/>
          <a:lstStyle/>
          <a:p>
            <a:pPr algn="ctr"/>
            <a:endParaRPr/>
          </a:p>
        </p:txBody>
      </p:sp>
      <p:pic>
        <p:nvPicPr>
          <p:cNvPr id="27" name="Flag Comoros" descr="Flag of Comoros"/>
          <p:cNvPicPr>
            <a:picLocks noChangeAspect="1"/>
          </p:cNvPicPr>
          <p:nvPr/>
        </p:nvPicPr>
        <p:blipFill>
          <a:blip r:embed="rId8"/>
          <a:stretch>
            <a:fillRect/>
          </a:stretch>
        </p:blipFill>
        <p:spPr>
          <a:xfrm>
            <a:off x="7479792" y="2560320"/>
            <a:ext cx="365760" cy="274320"/>
          </a:xfrm>
          <a:prstGeom prst="rect">
            <a:avLst/>
          </a:prstGeom>
        </p:spPr>
      </p:pic>
      <p:sp>
        <p:nvSpPr>
          <p:cNvPr id="28" name="Flag frame Comoros"/>
          <p:cNvSpPr/>
          <p:nvPr/>
        </p:nvSpPr>
        <p:spPr>
          <a:xfrm>
            <a:off x="7479792" y="2560320"/>
            <a:ext cx="365760" cy="274320"/>
          </a:xfrm>
          <a:prstGeom prst="rect">
            <a:avLst/>
          </a:prstGeom>
          <a:noFill/>
          <a:ln w="6350">
            <a:solidFill>
              <a:schemeClr val="accent5"/>
            </a:solidFill>
          </a:ln>
        </p:spPr>
        <p:txBody>
          <a:bodyPr rtlCol="0" anchor="ctr"/>
          <a:lstStyle/>
          <a:p>
            <a:pPr algn="ctr"/>
            <a:endParaRPr/>
          </a:p>
        </p:txBody>
      </p:sp>
      <p:pic>
        <p:nvPicPr>
          <p:cNvPr id="29" name="Flag Djibouti" descr="Flag of Djibouti"/>
          <p:cNvPicPr>
            <a:picLocks noChangeAspect="1"/>
          </p:cNvPicPr>
          <p:nvPr/>
        </p:nvPicPr>
        <p:blipFill>
          <a:blip r:embed="rId9"/>
          <a:stretch>
            <a:fillRect/>
          </a:stretch>
        </p:blipFill>
        <p:spPr>
          <a:xfrm>
            <a:off x="7914132" y="2560320"/>
            <a:ext cx="365760" cy="274320"/>
          </a:xfrm>
          <a:prstGeom prst="rect">
            <a:avLst/>
          </a:prstGeom>
        </p:spPr>
      </p:pic>
      <p:sp>
        <p:nvSpPr>
          <p:cNvPr id="30" name="Flag frame Djibouti"/>
          <p:cNvSpPr/>
          <p:nvPr/>
        </p:nvSpPr>
        <p:spPr>
          <a:xfrm>
            <a:off x="7914132" y="2560320"/>
            <a:ext cx="365760" cy="274320"/>
          </a:xfrm>
          <a:prstGeom prst="rect">
            <a:avLst/>
          </a:prstGeom>
          <a:noFill/>
          <a:ln w="6350">
            <a:solidFill>
              <a:schemeClr val="accent5"/>
            </a:solidFill>
          </a:ln>
        </p:spPr>
        <p:txBody>
          <a:bodyPr rtlCol="0" anchor="ctr"/>
          <a:lstStyle/>
          <a:p>
            <a:pPr algn="ctr"/>
            <a:endParaRPr/>
          </a:p>
        </p:txBody>
      </p:sp>
      <p:pic>
        <p:nvPicPr>
          <p:cNvPr id="31" name="Flag Egypt" descr="Flag of Egypt"/>
          <p:cNvPicPr>
            <a:picLocks noChangeAspect="1"/>
          </p:cNvPicPr>
          <p:nvPr/>
        </p:nvPicPr>
        <p:blipFill>
          <a:blip r:embed="rId10"/>
          <a:stretch>
            <a:fillRect/>
          </a:stretch>
        </p:blipFill>
        <p:spPr>
          <a:xfrm>
            <a:off x="8348472" y="2560320"/>
            <a:ext cx="365760" cy="274320"/>
          </a:xfrm>
          <a:prstGeom prst="rect">
            <a:avLst/>
          </a:prstGeom>
        </p:spPr>
      </p:pic>
      <p:sp>
        <p:nvSpPr>
          <p:cNvPr id="32" name="Flag frame Egypt"/>
          <p:cNvSpPr/>
          <p:nvPr/>
        </p:nvSpPr>
        <p:spPr>
          <a:xfrm>
            <a:off x="8348472" y="2560320"/>
            <a:ext cx="365760" cy="274320"/>
          </a:xfrm>
          <a:prstGeom prst="rect">
            <a:avLst/>
          </a:prstGeom>
          <a:noFill/>
          <a:ln w="6350">
            <a:solidFill>
              <a:schemeClr val="accent5"/>
            </a:solidFill>
          </a:ln>
        </p:spPr>
        <p:txBody>
          <a:bodyPr rtlCol="0" anchor="ctr"/>
          <a:lstStyle/>
          <a:p>
            <a:pPr algn="ctr"/>
            <a:endParaRPr/>
          </a:p>
        </p:txBody>
      </p:sp>
      <p:pic>
        <p:nvPicPr>
          <p:cNvPr id="33" name="Flag United Arab Emirates" descr="Flag of United Arab Emirates"/>
          <p:cNvPicPr>
            <a:picLocks noChangeAspect="1"/>
          </p:cNvPicPr>
          <p:nvPr/>
        </p:nvPicPr>
        <p:blipFill>
          <a:blip r:embed="rId11"/>
          <a:stretch>
            <a:fillRect/>
          </a:stretch>
        </p:blipFill>
        <p:spPr>
          <a:xfrm>
            <a:off x="8782812" y="2560320"/>
            <a:ext cx="365760" cy="274320"/>
          </a:xfrm>
          <a:prstGeom prst="rect">
            <a:avLst/>
          </a:prstGeom>
        </p:spPr>
      </p:pic>
      <p:sp>
        <p:nvSpPr>
          <p:cNvPr id="34" name="Flag frame United Arab Emirates"/>
          <p:cNvSpPr/>
          <p:nvPr/>
        </p:nvSpPr>
        <p:spPr>
          <a:xfrm>
            <a:off x="8782812" y="2560320"/>
            <a:ext cx="365760" cy="274320"/>
          </a:xfrm>
          <a:prstGeom prst="rect">
            <a:avLst/>
          </a:prstGeom>
          <a:noFill/>
          <a:ln w="6350">
            <a:solidFill>
              <a:schemeClr val="accent5"/>
            </a:solidFill>
          </a:ln>
        </p:spPr>
        <p:txBody>
          <a:bodyPr rtlCol="0" anchor="ctr"/>
          <a:lstStyle/>
          <a:p>
            <a:pPr algn="ctr"/>
            <a:endParaRPr/>
          </a:p>
        </p:txBody>
      </p:sp>
      <p:pic>
        <p:nvPicPr>
          <p:cNvPr id="35" name="Flag Iraq" descr="Flag of Iraq"/>
          <p:cNvPicPr>
            <a:picLocks noChangeAspect="1"/>
          </p:cNvPicPr>
          <p:nvPr/>
        </p:nvPicPr>
        <p:blipFill>
          <a:blip r:embed="rId12"/>
          <a:stretch>
            <a:fillRect/>
          </a:stretch>
        </p:blipFill>
        <p:spPr>
          <a:xfrm>
            <a:off x="9217152" y="2560320"/>
            <a:ext cx="365760" cy="274320"/>
          </a:xfrm>
          <a:prstGeom prst="rect">
            <a:avLst/>
          </a:prstGeom>
        </p:spPr>
      </p:pic>
      <p:sp>
        <p:nvSpPr>
          <p:cNvPr id="36" name="Flag frame Iraq"/>
          <p:cNvSpPr/>
          <p:nvPr/>
        </p:nvSpPr>
        <p:spPr>
          <a:xfrm>
            <a:off x="9217152" y="2560320"/>
            <a:ext cx="365760" cy="274320"/>
          </a:xfrm>
          <a:prstGeom prst="rect">
            <a:avLst/>
          </a:prstGeom>
          <a:noFill/>
          <a:ln w="6350">
            <a:solidFill>
              <a:schemeClr val="accent5"/>
            </a:solidFill>
          </a:ln>
        </p:spPr>
        <p:txBody>
          <a:bodyPr rtlCol="0" anchor="ctr"/>
          <a:lstStyle/>
          <a:p>
            <a:pPr algn="ctr"/>
            <a:endParaRPr/>
          </a:p>
        </p:txBody>
      </p:sp>
      <p:pic>
        <p:nvPicPr>
          <p:cNvPr id="37" name="Flag Jordan" descr="Flag of Jordan"/>
          <p:cNvPicPr>
            <a:picLocks noChangeAspect="1"/>
          </p:cNvPicPr>
          <p:nvPr/>
        </p:nvPicPr>
        <p:blipFill>
          <a:blip r:embed="rId13"/>
          <a:stretch>
            <a:fillRect/>
          </a:stretch>
        </p:blipFill>
        <p:spPr>
          <a:xfrm>
            <a:off x="9651492" y="2560320"/>
            <a:ext cx="365760" cy="274320"/>
          </a:xfrm>
          <a:prstGeom prst="rect">
            <a:avLst/>
          </a:prstGeom>
        </p:spPr>
      </p:pic>
      <p:sp>
        <p:nvSpPr>
          <p:cNvPr id="38" name="Flag frame Jordan"/>
          <p:cNvSpPr/>
          <p:nvPr/>
        </p:nvSpPr>
        <p:spPr>
          <a:xfrm>
            <a:off x="9651492" y="2560320"/>
            <a:ext cx="365760" cy="274320"/>
          </a:xfrm>
          <a:prstGeom prst="rect">
            <a:avLst/>
          </a:prstGeom>
          <a:noFill/>
          <a:ln w="6350">
            <a:solidFill>
              <a:schemeClr val="accent5"/>
            </a:solidFill>
          </a:ln>
        </p:spPr>
        <p:txBody>
          <a:bodyPr rtlCol="0" anchor="ctr"/>
          <a:lstStyle/>
          <a:p>
            <a:pPr algn="ctr"/>
            <a:endParaRPr/>
          </a:p>
        </p:txBody>
      </p:sp>
      <p:pic>
        <p:nvPicPr>
          <p:cNvPr id="39" name="Flag Kuwait" descr="Flag of Kuwait"/>
          <p:cNvPicPr>
            <a:picLocks noChangeAspect="1"/>
          </p:cNvPicPr>
          <p:nvPr/>
        </p:nvPicPr>
        <p:blipFill>
          <a:blip r:embed="rId14"/>
          <a:stretch>
            <a:fillRect/>
          </a:stretch>
        </p:blipFill>
        <p:spPr>
          <a:xfrm>
            <a:off x="10085832" y="2560320"/>
            <a:ext cx="365760" cy="274320"/>
          </a:xfrm>
          <a:prstGeom prst="rect">
            <a:avLst/>
          </a:prstGeom>
        </p:spPr>
      </p:pic>
      <p:sp>
        <p:nvSpPr>
          <p:cNvPr id="40" name="Flag frame Kuwait"/>
          <p:cNvSpPr/>
          <p:nvPr/>
        </p:nvSpPr>
        <p:spPr>
          <a:xfrm>
            <a:off x="10085832" y="2560320"/>
            <a:ext cx="365760" cy="274320"/>
          </a:xfrm>
          <a:prstGeom prst="rect">
            <a:avLst/>
          </a:prstGeom>
          <a:noFill/>
          <a:ln w="6350">
            <a:solidFill>
              <a:schemeClr val="accent5"/>
            </a:solidFill>
          </a:ln>
        </p:spPr>
        <p:txBody>
          <a:bodyPr rtlCol="0" anchor="ctr"/>
          <a:lstStyle/>
          <a:p>
            <a:pPr algn="ctr"/>
            <a:endParaRPr/>
          </a:p>
        </p:txBody>
      </p:sp>
      <p:pic>
        <p:nvPicPr>
          <p:cNvPr id="41" name="Flag Lebanon" descr="Flag of Lebanon"/>
          <p:cNvPicPr>
            <a:picLocks noChangeAspect="1"/>
          </p:cNvPicPr>
          <p:nvPr/>
        </p:nvPicPr>
        <p:blipFill>
          <a:blip r:embed="rId15"/>
          <a:stretch>
            <a:fillRect/>
          </a:stretch>
        </p:blipFill>
        <p:spPr>
          <a:xfrm>
            <a:off x="10520172" y="2560320"/>
            <a:ext cx="365760" cy="274320"/>
          </a:xfrm>
          <a:prstGeom prst="rect">
            <a:avLst/>
          </a:prstGeom>
        </p:spPr>
      </p:pic>
      <p:sp>
        <p:nvSpPr>
          <p:cNvPr id="42" name="Flag frame Lebanon"/>
          <p:cNvSpPr/>
          <p:nvPr/>
        </p:nvSpPr>
        <p:spPr>
          <a:xfrm>
            <a:off x="10520172" y="2560320"/>
            <a:ext cx="365760" cy="274320"/>
          </a:xfrm>
          <a:prstGeom prst="rect">
            <a:avLst/>
          </a:prstGeom>
          <a:noFill/>
          <a:ln w="6350">
            <a:solidFill>
              <a:schemeClr val="accent5"/>
            </a:solidFill>
          </a:ln>
        </p:spPr>
        <p:txBody>
          <a:bodyPr rtlCol="0" anchor="ctr"/>
          <a:lstStyle/>
          <a:p>
            <a:pPr algn="ctr"/>
            <a:endParaRPr/>
          </a:p>
        </p:txBody>
      </p:sp>
      <p:pic>
        <p:nvPicPr>
          <p:cNvPr id="43" name="Flag Libya" descr="Flag of Libya"/>
          <p:cNvPicPr>
            <a:picLocks noChangeAspect="1"/>
          </p:cNvPicPr>
          <p:nvPr/>
        </p:nvPicPr>
        <p:blipFill>
          <a:blip r:embed="rId16"/>
          <a:stretch>
            <a:fillRect/>
          </a:stretch>
        </p:blipFill>
        <p:spPr>
          <a:xfrm>
            <a:off x="10954512" y="2560320"/>
            <a:ext cx="365760" cy="274320"/>
          </a:xfrm>
          <a:prstGeom prst="rect">
            <a:avLst/>
          </a:prstGeom>
        </p:spPr>
      </p:pic>
      <p:sp>
        <p:nvSpPr>
          <p:cNvPr id="44" name="Flag frame Libya"/>
          <p:cNvSpPr/>
          <p:nvPr/>
        </p:nvSpPr>
        <p:spPr>
          <a:xfrm>
            <a:off x="10954512" y="2560320"/>
            <a:ext cx="365760" cy="274320"/>
          </a:xfrm>
          <a:prstGeom prst="rect">
            <a:avLst/>
          </a:prstGeom>
          <a:noFill/>
          <a:ln w="6350">
            <a:solidFill>
              <a:schemeClr val="accent5"/>
            </a:solidFill>
          </a:ln>
        </p:spPr>
        <p:txBody>
          <a:bodyPr rtlCol="0" anchor="ctr"/>
          <a:lstStyle/>
          <a:p>
            <a:pPr algn="ctr"/>
            <a:endParaRPr/>
          </a:p>
        </p:txBody>
      </p:sp>
      <p:pic>
        <p:nvPicPr>
          <p:cNvPr id="45" name="Flag Mauritania" descr="Flag of Mauritania"/>
          <p:cNvPicPr>
            <a:picLocks noChangeAspect="1"/>
          </p:cNvPicPr>
          <p:nvPr/>
        </p:nvPicPr>
        <p:blipFill>
          <a:blip r:embed="rId17"/>
          <a:stretch>
            <a:fillRect/>
          </a:stretch>
        </p:blipFill>
        <p:spPr>
          <a:xfrm>
            <a:off x="6611112" y="2971800"/>
            <a:ext cx="365760" cy="274320"/>
          </a:xfrm>
          <a:prstGeom prst="rect">
            <a:avLst/>
          </a:prstGeom>
        </p:spPr>
      </p:pic>
      <p:sp>
        <p:nvSpPr>
          <p:cNvPr id="46" name="Flag frame Mauritania"/>
          <p:cNvSpPr/>
          <p:nvPr/>
        </p:nvSpPr>
        <p:spPr>
          <a:xfrm>
            <a:off x="6611112" y="2971800"/>
            <a:ext cx="365760" cy="274320"/>
          </a:xfrm>
          <a:prstGeom prst="rect">
            <a:avLst/>
          </a:prstGeom>
          <a:noFill/>
          <a:ln w="6350">
            <a:solidFill>
              <a:schemeClr val="accent5"/>
            </a:solidFill>
          </a:ln>
        </p:spPr>
        <p:txBody>
          <a:bodyPr rtlCol="0" anchor="ctr"/>
          <a:lstStyle/>
          <a:p>
            <a:pPr algn="ctr"/>
            <a:endParaRPr/>
          </a:p>
        </p:txBody>
      </p:sp>
      <p:pic>
        <p:nvPicPr>
          <p:cNvPr id="47" name="Flag Morocco" descr="Flag of Morocco"/>
          <p:cNvPicPr>
            <a:picLocks noChangeAspect="1"/>
          </p:cNvPicPr>
          <p:nvPr/>
        </p:nvPicPr>
        <p:blipFill>
          <a:blip r:embed="rId18"/>
          <a:stretch>
            <a:fillRect/>
          </a:stretch>
        </p:blipFill>
        <p:spPr>
          <a:xfrm>
            <a:off x="7045452" y="2971800"/>
            <a:ext cx="365760" cy="274320"/>
          </a:xfrm>
          <a:prstGeom prst="rect">
            <a:avLst/>
          </a:prstGeom>
        </p:spPr>
      </p:pic>
      <p:sp>
        <p:nvSpPr>
          <p:cNvPr id="48" name="Flag frame Morocco"/>
          <p:cNvSpPr/>
          <p:nvPr/>
        </p:nvSpPr>
        <p:spPr>
          <a:xfrm>
            <a:off x="7045452" y="2971800"/>
            <a:ext cx="365760" cy="274320"/>
          </a:xfrm>
          <a:prstGeom prst="rect">
            <a:avLst/>
          </a:prstGeom>
          <a:noFill/>
          <a:ln w="6350">
            <a:solidFill>
              <a:schemeClr val="accent5"/>
            </a:solidFill>
          </a:ln>
        </p:spPr>
        <p:txBody>
          <a:bodyPr rtlCol="0" anchor="ctr"/>
          <a:lstStyle/>
          <a:p>
            <a:pPr algn="ctr"/>
            <a:endParaRPr/>
          </a:p>
        </p:txBody>
      </p:sp>
      <p:pic>
        <p:nvPicPr>
          <p:cNvPr id="49" name="Flag Oman" descr="Flag of Oman"/>
          <p:cNvPicPr>
            <a:picLocks noChangeAspect="1"/>
          </p:cNvPicPr>
          <p:nvPr/>
        </p:nvPicPr>
        <p:blipFill>
          <a:blip r:embed="rId19"/>
          <a:stretch>
            <a:fillRect/>
          </a:stretch>
        </p:blipFill>
        <p:spPr>
          <a:xfrm>
            <a:off x="7479792" y="2971800"/>
            <a:ext cx="365760" cy="274320"/>
          </a:xfrm>
          <a:prstGeom prst="rect">
            <a:avLst/>
          </a:prstGeom>
        </p:spPr>
      </p:pic>
      <p:sp>
        <p:nvSpPr>
          <p:cNvPr id="50" name="Flag frame Oman"/>
          <p:cNvSpPr/>
          <p:nvPr/>
        </p:nvSpPr>
        <p:spPr>
          <a:xfrm>
            <a:off x="7479792" y="2971800"/>
            <a:ext cx="365760" cy="274320"/>
          </a:xfrm>
          <a:prstGeom prst="rect">
            <a:avLst/>
          </a:prstGeom>
          <a:noFill/>
          <a:ln w="6350">
            <a:solidFill>
              <a:schemeClr val="accent5"/>
            </a:solidFill>
          </a:ln>
        </p:spPr>
        <p:txBody>
          <a:bodyPr rtlCol="0" anchor="ctr"/>
          <a:lstStyle/>
          <a:p>
            <a:pPr algn="ctr"/>
            <a:endParaRPr/>
          </a:p>
        </p:txBody>
      </p:sp>
      <p:pic>
        <p:nvPicPr>
          <p:cNvPr id="51" name="Flag Palestine" descr="Flag of Palestine"/>
          <p:cNvPicPr>
            <a:picLocks noChangeAspect="1"/>
          </p:cNvPicPr>
          <p:nvPr/>
        </p:nvPicPr>
        <p:blipFill>
          <a:blip r:embed="rId20"/>
          <a:stretch>
            <a:fillRect/>
          </a:stretch>
        </p:blipFill>
        <p:spPr>
          <a:xfrm>
            <a:off x="7914132" y="2971800"/>
            <a:ext cx="365760" cy="274320"/>
          </a:xfrm>
          <a:prstGeom prst="rect">
            <a:avLst/>
          </a:prstGeom>
        </p:spPr>
      </p:pic>
      <p:sp>
        <p:nvSpPr>
          <p:cNvPr id="52" name="Flag frame Palestine"/>
          <p:cNvSpPr/>
          <p:nvPr/>
        </p:nvSpPr>
        <p:spPr>
          <a:xfrm>
            <a:off x="7914132" y="2971800"/>
            <a:ext cx="365760" cy="274320"/>
          </a:xfrm>
          <a:prstGeom prst="rect">
            <a:avLst/>
          </a:prstGeom>
          <a:noFill/>
          <a:ln w="6350">
            <a:solidFill>
              <a:schemeClr val="accent5"/>
            </a:solidFill>
          </a:ln>
        </p:spPr>
        <p:txBody>
          <a:bodyPr rtlCol="0" anchor="ctr"/>
          <a:lstStyle/>
          <a:p>
            <a:pPr algn="ctr"/>
            <a:endParaRPr/>
          </a:p>
        </p:txBody>
      </p:sp>
      <p:pic>
        <p:nvPicPr>
          <p:cNvPr id="53" name="Flag Qatar" descr="Flag of Qatar"/>
          <p:cNvPicPr>
            <a:picLocks noChangeAspect="1"/>
          </p:cNvPicPr>
          <p:nvPr/>
        </p:nvPicPr>
        <p:blipFill>
          <a:blip r:embed="rId21"/>
          <a:stretch>
            <a:fillRect/>
          </a:stretch>
        </p:blipFill>
        <p:spPr>
          <a:xfrm>
            <a:off x="8348472" y="2971800"/>
            <a:ext cx="365760" cy="274320"/>
          </a:xfrm>
          <a:prstGeom prst="rect">
            <a:avLst/>
          </a:prstGeom>
        </p:spPr>
      </p:pic>
      <p:sp>
        <p:nvSpPr>
          <p:cNvPr id="54" name="Flag frame Qatar"/>
          <p:cNvSpPr/>
          <p:nvPr/>
        </p:nvSpPr>
        <p:spPr>
          <a:xfrm>
            <a:off x="8348472" y="2971800"/>
            <a:ext cx="365760" cy="274320"/>
          </a:xfrm>
          <a:prstGeom prst="rect">
            <a:avLst/>
          </a:prstGeom>
          <a:noFill/>
          <a:ln w="6350">
            <a:solidFill>
              <a:schemeClr val="accent5"/>
            </a:solidFill>
          </a:ln>
        </p:spPr>
        <p:txBody>
          <a:bodyPr rtlCol="0" anchor="ctr"/>
          <a:lstStyle/>
          <a:p>
            <a:pPr algn="ctr"/>
            <a:endParaRPr/>
          </a:p>
        </p:txBody>
      </p:sp>
      <p:pic>
        <p:nvPicPr>
          <p:cNvPr id="55" name="Flag Saudi Arabia" descr="Flag of Saudi Arabia"/>
          <p:cNvPicPr>
            <a:picLocks noChangeAspect="1"/>
          </p:cNvPicPr>
          <p:nvPr/>
        </p:nvPicPr>
        <p:blipFill>
          <a:blip r:embed="rId22"/>
          <a:stretch>
            <a:fillRect/>
          </a:stretch>
        </p:blipFill>
        <p:spPr>
          <a:xfrm>
            <a:off x="8782812" y="2971800"/>
            <a:ext cx="365760" cy="274320"/>
          </a:xfrm>
          <a:prstGeom prst="rect">
            <a:avLst/>
          </a:prstGeom>
        </p:spPr>
      </p:pic>
      <p:sp>
        <p:nvSpPr>
          <p:cNvPr id="56" name="Flag frame Saudi Arabia"/>
          <p:cNvSpPr/>
          <p:nvPr/>
        </p:nvSpPr>
        <p:spPr>
          <a:xfrm>
            <a:off x="8782812" y="2971800"/>
            <a:ext cx="365760" cy="274320"/>
          </a:xfrm>
          <a:prstGeom prst="rect">
            <a:avLst/>
          </a:prstGeom>
          <a:noFill/>
          <a:ln w="6350">
            <a:solidFill>
              <a:schemeClr val="accent5"/>
            </a:solidFill>
          </a:ln>
        </p:spPr>
        <p:txBody>
          <a:bodyPr rtlCol="0" anchor="ctr"/>
          <a:lstStyle/>
          <a:p>
            <a:pPr algn="ctr"/>
            <a:endParaRPr/>
          </a:p>
        </p:txBody>
      </p:sp>
      <p:pic>
        <p:nvPicPr>
          <p:cNvPr id="57" name="Flag Somalia" descr="Flag of Somalia"/>
          <p:cNvPicPr>
            <a:picLocks noChangeAspect="1"/>
          </p:cNvPicPr>
          <p:nvPr/>
        </p:nvPicPr>
        <p:blipFill>
          <a:blip r:embed="rId23"/>
          <a:stretch>
            <a:fillRect/>
          </a:stretch>
        </p:blipFill>
        <p:spPr>
          <a:xfrm>
            <a:off x="9217152" y="2971800"/>
            <a:ext cx="365760" cy="274320"/>
          </a:xfrm>
          <a:prstGeom prst="rect">
            <a:avLst/>
          </a:prstGeom>
        </p:spPr>
      </p:pic>
      <p:sp>
        <p:nvSpPr>
          <p:cNvPr id="58" name="Flag frame Somalia"/>
          <p:cNvSpPr/>
          <p:nvPr/>
        </p:nvSpPr>
        <p:spPr>
          <a:xfrm>
            <a:off x="9217152" y="2971800"/>
            <a:ext cx="365760" cy="274320"/>
          </a:xfrm>
          <a:prstGeom prst="rect">
            <a:avLst/>
          </a:prstGeom>
          <a:noFill/>
          <a:ln w="6350">
            <a:solidFill>
              <a:schemeClr val="accent5"/>
            </a:solidFill>
          </a:ln>
        </p:spPr>
        <p:txBody>
          <a:bodyPr rtlCol="0" anchor="ctr"/>
          <a:lstStyle/>
          <a:p>
            <a:pPr algn="ctr"/>
            <a:endParaRPr/>
          </a:p>
        </p:txBody>
      </p:sp>
      <p:pic>
        <p:nvPicPr>
          <p:cNvPr id="59" name="Flag Sudan" descr="Flag of Sudan"/>
          <p:cNvPicPr>
            <a:picLocks noChangeAspect="1"/>
          </p:cNvPicPr>
          <p:nvPr/>
        </p:nvPicPr>
        <p:blipFill>
          <a:blip r:embed="rId24"/>
          <a:stretch>
            <a:fillRect/>
          </a:stretch>
        </p:blipFill>
        <p:spPr>
          <a:xfrm>
            <a:off x="9651492" y="2971800"/>
            <a:ext cx="365760" cy="274320"/>
          </a:xfrm>
          <a:prstGeom prst="rect">
            <a:avLst/>
          </a:prstGeom>
        </p:spPr>
      </p:pic>
      <p:sp>
        <p:nvSpPr>
          <p:cNvPr id="60" name="Flag frame Sudan"/>
          <p:cNvSpPr/>
          <p:nvPr/>
        </p:nvSpPr>
        <p:spPr>
          <a:xfrm>
            <a:off x="9651492" y="2971800"/>
            <a:ext cx="365760" cy="274320"/>
          </a:xfrm>
          <a:prstGeom prst="rect">
            <a:avLst/>
          </a:prstGeom>
          <a:noFill/>
          <a:ln w="6350">
            <a:solidFill>
              <a:schemeClr val="accent5"/>
            </a:solidFill>
          </a:ln>
        </p:spPr>
        <p:txBody>
          <a:bodyPr rtlCol="0" anchor="ctr"/>
          <a:lstStyle/>
          <a:p>
            <a:pPr algn="ctr"/>
            <a:endParaRPr/>
          </a:p>
        </p:txBody>
      </p:sp>
      <p:pic>
        <p:nvPicPr>
          <p:cNvPr id="61" name="Flag Syria" descr="Flag of Syria"/>
          <p:cNvPicPr>
            <a:picLocks noChangeAspect="1"/>
          </p:cNvPicPr>
          <p:nvPr/>
        </p:nvPicPr>
        <p:blipFill>
          <a:blip r:embed="rId25"/>
          <a:stretch>
            <a:fillRect/>
          </a:stretch>
        </p:blipFill>
        <p:spPr>
          <a:xfrm>
            <a:off x="10085832" y="2971800"/>
            <a:ext cx="365760" cy="274320"/>
          </a:xfrm>
          <a:prstGeom prst="rect">
            <a:avLst/>
          </a:prstGeom>
        </p:spPr>
      </p:pic>
      <p:sp>
        <p:nvSpPr>
          <p:cNvPr id="62" name="Flag frame Syria"/>
          <p:cNvSpPr/>
          <p:nvPr/>
        </p:nvSpPr>
        <p:spPr>
          <a:xfrm>
            <a:off x="10085832" y="2971800"/>
            <a:ext cx="365760" cy="274320"/>
          </a:xfrm>
          <a:prstGeom prst="rect">
            <a:avLst/>
          </a:prstGeom>
          <a:noFill/>
          <a:ln w="6350">
            <a:solidFill>
              <a:schemeClr val="accent5"/>
            </a:solidFill>
          </a:ln>
        </p:spPr>
        <p:txBody>
          <a:bodyPr rtlCol="0" anchor="ctr"/>
          <a:lstStyle/>
          <a:p>
            <a:pPr algn="ctr"/>
            <a:endParaRPr/>
          </a:p>
        </p:txBody>
      </p:sp>
      <p:pic>
        <p:nvPicPr>
          <p:cNvPr id="63" name="Flag Tunisia" descr="Flag of Tunisia"/>
          <p:cNvPicPr>
            <a:picLocks noChangeAspect="1"/>
          </p:cNvPicPr>
          <p:nvPr/>
        </p:nvPicPr>
        <p:blipFill>
          <a:blip r:embed="rId26"/>
          <a:stretch>
            <a:fillRect/>
          </a:stretch>
        </p:blipFill>
        <p:spPr>
          <a:xfrm>
            <a:off x="10520172" y="2971800"/>
            <a:ext cx="365760" cy="274320"/>
          </a:xfrm>
          <a:prstGeom prst="rect">
            <a:avLst/>
          </a:prstGeom>
        </p:spPr>
      </p:pic>
      <p:sp>
        <p:nvSpPr>
          <p:cNvPr id="64" name="Flag frame Tunisia"/>
          <p:cNvSpPr/>
          <p:nvPr/>
        </p:nvSpPr>
        <p:spPr>
          <a:xfrm>
            <a:off x="10520172" y="2971800"/>
            <a:ext cx="365760" cy="274320"/>
          </a:xfrm>
          <a:prstGeom prst="rect">
            <a:avLst/>
          </a:prstGeom>
          <a:noFill/>
          <a:ln w="6350">
            <a:solidFill>
              <a:schemeClr val="accent5"/>
            </a:solidFill>
          </a:ln>
        </p:spPr>
        <p:txBody>
          <a:bodyPr rtlCol="0" anchor="ctr"/>
          <a:lstStyle/>
          <a:p>
            <a:pPr algn="ctr"/>
            <a:endParaRPr/>
          </a:p>
        </p:txBody>
      </p:sp>
      <p:pic>
        <p:nvPicPr>
          <p:cNvPr id="65" name="Flag Yemen" descr="Flag of Yemen"/>
          <p:cNvPicPr>
            <a:picLocks noChangeAspect="1"/>
          </p:cNvPicPr>
          <p:nvPr/>
        </p:nvPicPr>
        <p:blipFill>
          <a:blip r:embed="rId27"/>
          <a:stretch>
            <a:fillRect/>
          </a:stretch>
        </p:blipFill>
        <p:spPr>
          <a:xfrm>
            <a:off x="10954512" y="2971800"/>
            <a:ext cx="365760" cy="274320"/>
          </a:xfrm>
          <a:prstGeom prst="rect">
            <a:avLst/>
          </a:prstGeom>
        </p:spPr>
      </p:pic>
      <p:sp>
        <p:nvSpPr>
          <p:cNvPr id="66" name="Flag frame Yemen"/>
          <p:cNvSpPr/>
          <p:nvPr/>
        </p:nvSpPr>
        <p:spPr>
          <a:xfrm>
            <a:off x="10954512" y="2971800"/>
            <a:ext cx="365760" cy="274320"/>
          </a:xfrm>
          <a:prstGeom prst="rect">
            <a:avLst/>
          </a:prstGeom>
          <a:noFill/>
          <a:ln w="6350">
            <a:solidFill>
              <a:schemeClr val="accent5"/>
            </a:solidFill>
          </a:ln>
        </p:spPr>
        <p:txBody>
          <a:bodyPr rtlCol="0" anchor="ctr"/>
          <a:lstStyle/>
          <a:p>
            <a:pPr algn="ctr"/>
            <a:endParaRPr/>
          </a:p>
        </p:txBody>
      </p:sp>
      <p:sp>
        <p:nvSpPr>
          <p:cNvPr id="67" name="Idea big"/>
          <p:cNvSpPr txBox="1"/>
          <p:nvPr/>
        </p:nvSpPr>
        <p:spPr>
          <a:xfrm>
            <a:off x="6611112" y="3520440"/>
            <a:ext cx="4709160" cy="548640"/>
          </a:xfrm>
          <a:prstGeom prst="rect">
            <a:avLst/>
          </a:prstGeom>
          <a:noFill/>
        </p:spPr>
        <p:txBody>
          <a:bodyPr wrap="square" lIns="0" tIns="0" rIns="0" bIns="0" anchor="ctr">
            <a:noAutofit/>
          </a:bodyPr>
          <a:lstStyle/>
          <a:p>
            <a:pPr algn="l"/>
            <a:r>
              <a:rPr lang="en-US" sz="2400" b="1" i="0">
                <a:solidFill>
                  <a:schemeClr val="accent1"/>
                </a:solidFill>
                <a:latin typeface="Cambria"/>
              </a:rPr>
              <a:t>And inside the group?</a:t>
            </a:r>
          </a:p>
        </p:txBody>
      </p:sp>
      <p:sp>
        <p:nvSpPr>
          <p:cNvPr id="68" name="Idea small"/>
          <p:cNvSpPr txBox="1"/>
          <p:nvPr/>
        </p:nvSpPr>
        <p:spPr>
          <a:xfrm>
            <a:off x="6611112" y="4114800"/>
            <a:ext cx="4709160" cy="822960"/>
          </a:xfrm>
          <a:prstGeom prst="rect">
            <a:avLst/>
          </a:prstGeom>
          <a:noFill/>
        </p:spPr>
        <p:txBody>
          <a:bodyPr wrap="square" lIns="0" tIns="0" rIns="0" bIns="0" anchor="t">
            <a:noAutofit/>
          </a:bodyPr>
          <a:lstStyle/>
          <a:p>
            <a:pPr algn="l"/>
            <a:r>
              <a:rPr lang="en-US" sz="1500" b="0" i="0">
                <a:solidFill>
                  <a:schemeClr val="bg1"/>
                </a:solidFill>
              </a:rPr>
              <a:t>22 countries under one label. We compare them with one another.</a:t>
            </a:r>
          </a:p>
        </p:txBody>
      </p:sp>
      <p:sp>
        <p:nvSpPr>
          <p:cNvPr id="69" name="Question"/>
          <p:cNvSpPr txBox="1"/>
          <p:nvPr/>
        </p:nvSpPr>
        <p:spPr>
          <a:xfrm>
            <a:off x="548640" y="5440680"/>
            <a:ext cx="11091672" cy="457200"/>
          </a:xfrm>
          <a:prstGeom prst="rect">
            <a:avLst/>
          </a:prstGeom>
          <a:noFill/>
        </p:spPr>
        <p:txBody>
          <a:bodyPr wrap="square" lIns="0" tIns="0" rIns="0" bIns="0" anchor="ctr">
            <a:noAutofit/>
          </a:bodyPr>
          <a:lstStyle/>
          <a:p>
            <a:pPr algn="l"/>
            <a:r>
              <a:rPr lang="en-US" sz="2000" b="0" i="1">
                <a:solidFill>
                  <a:schemeClr val="accent3"/>
                </a:solidFill>
              </a:rPr>
              <a:t>Is there an internal difference, an internal bias?</a:t>
            </a:r>
          </a:p>
        </p:txBody>
      </p:sp>
      <p:sp>
        <p:nvSpPr>
          <p:cNvPr id="70" name="Source"/>
          <p:cNvSpPr txBox="1"/>
          <p:nvPr/>
        </p:nvSpPr>
        <p:spPr>
          <a:xfrm>
            <a:off x="548640" y="5989320"/>
            <a:ext cx="11091672" cy="320040"/>
          </a:xfrm>
          <a:prstGeom prst="rect">
            <a:avLst/>
          </a:prstGeom>
          <a:noFill/>
        </p:spPr>
        <p:txBody>
          <a:bodyPr wrap="square" lIns="0" tIns="0" rIns="0" bIns="0" anchor="ctr">
            <a:noAutofit/>
          </a:bodyPr>
          <a:lstStyle/>
          <a:p>
            <a:pPr algn="l"/>
            <a:r>
              <a:rPr lang="en-US" sz="1000" b="0" i="0">
                <a:solidFill>
                  <a:schemeClr val="tx2"/>
                </a:solidFill>
              </a:rPr>
              <a:t>Three examples from our literature search, not a survey of the field: Abid, Farooqi &amp; Zou 2021; Shieh et al. 2026; Lippens 2024.</a:t>
            </a:r>
          </a:p>
        </p:txBody>
      </p:sp>
      <p:sp>
        <p:nvSpPr>
          <p:cNvPr id="7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Why Arabs? Two reasons</a:t>
            </a:r>
            <a:endParaRPr lang="en-US" sz="3600" dirty="0"/>
          </a:p>
        </p:txBody>
      </p:sp>
      <p:sp>
        <p:nvSpPr>
          <p:cNvPr id="3" name="Reason 1 card"/>
          <p:cNvSpPr/>
          <p:nvPr/>
        </p:nvSpPr>
        <p:spPr>
          <a:xfrm>
            <a:off x="548640" y="1417320"/>
            <a:ext cx="5413248" cy="3840480"/>
          </a:xfrm>
          <a:prstGeom prst="roundRect">
            <a:avLst>
              <a:gd name="adj" fmla="val 2857"/>
            </a:avLst>
          </a:prstGeom>
          <a:solidFill>
            <a:schemeClr val="bg1"/>
          </a:solidFill>
          <a:ln w="12700">
            <a:solidFill>
              <a:schemeClr val="accent5"/>
            </a:solidFill>
          </a:ln>
        </p:spPr>
        <p:txBody>
          <a:bodyPr rtlCol="0" anchor="ctr"/>
          <a:lstStyle/>
          <a:p>
            <a:pPr algn="ctr"/>
            <a:endParaRPr/>
          </a:p>
        </p:txBody>
      </p:sp>
      <p:sp>
        <p:nvSpPr>
          <p:cNvPr id="4" name="Reason 1 circle"/>
          <p:cNvSpPr/>
          <p:nvPr/>
        </p:nvSpPr>
        <p:spPr>
          <a:xfrm>
            <a:off x="868680" y="169164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5" name="Reason 1 icon"/>
          <p:cNvPicPr>
            <a:picLocks noChangeAspect="1"/>
          </p:cNvPicPr>
          <p:nvPr/>
        </p:nvPicPr>
        <p:blipFill>
          <a:blip r:embed="rId3"/>
          <a:stretch>
            <a:fillRect/>
          </a:stretch>
        </p:blipFill>
        <p:spPr>
          <a:xfrm>
            <a:off x="1024127" y="1847088"/>
            <a:ext cx="329184" cy="329184"/>
          </a:xfrm>
          <a:prstGeom prst="rect">
            <a:avLst/>
          </a:prstGeom>
        </p:spPr>
      </p:pic>
      <p:sp>
        <p:nvSpPr>
          <p:cNvPr id="6" name="Reason 1 heading"/>
          <p:cNvSpPr txBox="1"/>
          <p:nvPr/>
        </p:nvSpPr>
        <p:spPr>
          <a:xfrm>
            <a:off x="1691640" y="1691640"/>
            <a:ext cx="2103120" cy="640080"/>
          </a:xfrm>
          <a:prstGeom prst="rect">
            <a:avLst/>
          </a:prstGeom>
          <a:noFill/>
        </p:spPr>
        <p:txBody>
          <a:bodyPr wrap="square" lIns="0" tIns="0" rIns="0" bIns="0" anchor="ctr">
            <a:noAutofit/>
          </a:bodyPr>
          <a:lstStyle/>
          <a:p>
            <a:pPr algn="l"/>
            <a:r>
              <a:rPr lang="en-US" sz="2400" b="1" i="0">
                <a:solidFill>
                  <a:schemeClr val="tx1"/>
                </a:solidFill>
                <a:latin typeface="Cambria"/>
              </a:rPr>
              <a:t>1  Less noise</a:t>
            </a:r>
          </a:p>
        </p:txBody>
      </p:sp>
      <p:sp>
        <p:nvSpPr>
          <p:cNvPr id="7" name="Reason 1 from"/>
          <p:cNvSpPr txBox="1"/>
          <p:nvPr/>
        </p:nvSpPr>
        <p:spPr>
          <a:xfrm>
            <a:off x="3675887" y="1691640"/>
            <a:ext cx="731520" cy="640080"/>
          </a:xfrm>
          <a:prstGeom prst="rect">
            <a:avLst/>
          </a:prstGeom>
          <a:noFill/>
        </p:spPr>
        <p:txBody>
          <a:bodyPr wrap="square" lIns="0" tIns="0" rIns="0" bIns="0" anchor="ctr">
            <a:noAutofit/>
          </a:bodyPr>
          <a:lstStyle/>
          <a:p>
            <a:pPr algn="r"/>
            <a:r>
              <a:rPr lang="en-US" sz="3200" b="1" i="0">
                <a:solidFill>
                  <a:schemeClr val="tx2"/>
                </a:solidFill>
                <a:latin typeface="Cambria"/>
              </a:rPr>
              <a:t>53</a:t>
            </a:r>
          </a:p>
        </p:txBody>
      </p:sp>
      <p:pic>
        <p:nvPicPr>
          <p:cNvPr id="8" name="Reason 1 arrow" descr="Arrow"/>
          <p:cNvPicPr>
            <a:picLocks noChangeAspect="1"/>
          </p:cNvPicPr>
          <p:nvPr/>
        </p:nvPicPr>
        <p:blipFill>
          <a:blip r:embed="rId4"/>
          <a:stretch>
            <a:fillRect/>
          </a:stretch>
        </p:blipFill>
        <p:spPr>
          <a:xfrm>
            <a:off x="4517136" y="1901952"/>
            <a:ext cx="219456" cy="219456"/>
          </a:xfrm>
          <a:prstGeom prst="rect">
            <a:avLst/>
          </a:prstGeom>
        </p:spPr>
      </p:pic>
      <p:sp>
        <p:nvSpPr>
          <p:cNvPr id="9" name="Reason 1 to"/>
          <p:cNvSpPr txBox="1"/>
          <p:nvPr/>
        </p:nvSpPr>
        <p:spPr>
          <a:xfrm>
            <a:off x="4846320" y="1691640"/>
            <a:ext cx="795528" cy="640080"/>
          </a:xfrm>
          <a:prstGeom prst="rect">
            <a:avLst/>
          </a:prstGeom>
          <a:noFill/>
        </p:spPr>
        <p:txBody>
          <a:bodyPr wrap="square" lIns="0" tIns="0" rIns="0" bIns="0" anchor="ctr">
            <a:noAutofit/>
          </a:bodyPr>
          <a:lstStyle/>
          <a:p>
            <a:pPr algn="l"/>
            <a:r>
              <a:rPr lang="en-US" sz="3200" b="1" i="0">
                <a:solidFill>
                  <a:schemeClr val="tx1"/>
                </a:solidFill>
                <a:latin typeface="Cambria"/>
              </a:rPr>
              <a:t>22</a:t>
            </a:r>
          </a:p>
        </p:txBody>
      </p:sp>
      <p:pic>
        <p:nvPicPr>
          <p:cNvPr id="10" name="Map of Muslim-majority countries" descr="Map from West Africa to Indonesia: the 53 countries and territories with a Muslim majority in 2020, with the 22 Arab League members in a darker colour"/>
          <p:cNvPicPr>
            <a:picLocks noChangeAspect="1"/>
          </p:cNvPicPr>
          <p:nvPr/>
        </p:nvPicPr>
        <p:blipFill>
          <a:blip r:embed="rId5"/>
          <a:stretch>
            <a:fillRect/>
          </a:stretch>
        </p:blipFill>
        <p:spPr>
          <a:xfrm>
            <a:off x="868680" y="2468880"/>
            <a:ext cx="4773168" cy="2316673"/>
          </a:xfrm>
          <a:prstGeom prst="rect">
            <a:avLst/>
          </a:prstGeom>
        </p:spPr>
      </p:pic>
      <p:sp>
        <p:nvSpPr>
          <p:cNvPr id="11" name="Reason 1 label"/>
          <p:cNvSpPr txBox="1"/>
          <p:nvPr/>
        </p:nvSpPr>
        <p:spPr>
          <a:xfrm>
            <a:off x="868680" y="4800600"/>
            <a:ext cx="4773168" cy="365760"/>
          </a:xfrm>
          <a:prstGeom prst="rect">
            <a:avLst/>
          </a:prstGeom>
          <a:noFill/>
        </p:spPr>
        <p:txBody>
          <a:bodyPr wrap="square" lIns="0" tIns="0" rIns="0" bIns="0" anchor="ctr">
            <a:noAutofit/>
          </a:bodyPr>
          <a:lstStyle/>
          <a:p>
            <a:pPr algn="l"/>
            <a:r>
              <a:rPr lang="en-US" sz="1400" b="0" i="0">
                <a:solidFill>
                  <a:schemeClr val="tx1"/>
                </a:solidFill>
              </a:rPr>
              <a:t>53 Muslim-majority countries. 22 of them: the Arab League.</a:t>
            </a:r>
          </a:p>
        </p:txBody>
      </p:sp>
      <p:sp>
        <p:nvSpPr>
          <p:cNvPr id="12" name="Reason 2 card"/>
          <p:cNvSpPr/>
          <p:nvPr/>
        </p:nvSpPr>
        <p:spPr>
          <a:xfrm>
            <a:off x="6227064" y="1417320"/>
            <a:ext cx="5413248" cy="3840480"/>
          </a:xfrm>
          <a:prstGeom prst="roundRect">
            <a:avLst>
              <a:gd name="adj" fmla="val 2857"/>
            </a:avLst>
          </a:prstGeom>
          <a:solidFill>
            <a:schemeClr val="tx1"/>
          </a:solidFill>
          <a:ln w="12700">
            <a:solidFill>
              <a:schemeClr val="tx1"/>
            </a:solidFill>
          </a:ln>
        </p:spPr>
        <p:txBody>
          <a:bodyPr rtlCol="0" anchor="ctr"/>
          <a:lstStyle/>
          <a:p>
            <a:pPr algn="ctr"/>
            <a:endParaRPr/>
          </a:p>
        </p:txBody>
      </p:sp>
      <p:sp>
        <p:nvSpPr>
          <p:cNvPr id="13" name="Reason 2 circle"/>
          <p:cNvSpPr/>
          <p:nvPr/>
        </p:nvSpPr>
        <p:spPr>
          <a:xfrm>
            <a:off x="6547104" y="1691640"/>
            <a:ext cx="640080" cy="640080"/>
          </a:xfrm>
          <a:prstGeom prst="ellipse">
            <a:avLst/>
          </a:prstGeom>
          <a:solidFill>
            <a:schemeClr val="accent1"/>
          </a:solidFill>
          <a:ln w="12700">
            <a:solidFill>
              <a:schemeClr val="accent1"/>
            </a:solidFill>
          </a:ln>
        </p:spPr>
        <p:txBody>
          <a:bodyPr rtlCol="0" anchor="ctr"/>
          <a:lstStyle/>
          <a:p>
            <a:pPr algn="ctr"/>
            <a:endParaRPr/>
          </a:p>
        </p:txBody>
      </p:sp>
      <p:pic>
        <p:nvPicPr>
          <p:cNvPr id="14" name="Reason 2 icon"/>
          <p:cNvPicPr>
            <a:picLocks noChangeAspect="1"/>
          </p:cNvPicPr>
          <p:nvPr/>
        </p:nvPicPr>
        <p:blipFill>
          <a:blip r:embed="rId6"/>
          <a:stretch>
            <a:fillRect/>
          </a:stretch>
        </p:blipFill>
        <p:spPr>
          <a:xfrm>
            <a:off x="6702552" y="1847088"/>
            <a:ext cx="329184" cy="329184"/>
          </a:xfrm>
          <a:prstGeom prst="rect">
            <a:avLst/>
          </a:prstGeom>
        </p:spPr>
      </p:pic>
      <p:sp>
        <p:nvSpPr>
          <p:cNvPr id="15" name="Reason 2 heading"/>
          <p:cNvSpPr txBox="1"/>
          <p:nvPr/>
        </p:nvSpPr>
        <p:spPr>
          <a:xfrm>
            <a:off x="7370064" y="1691640"/>
            <a:ext cx="3931920" cy="640080"/>
          </a:xfrm>
          <a:prstGeom prst="rect">
            <a:avLst/>
          </a:prstGeom>
          <a:noFill/>
        </p:spPr>
        <p:txBody>
          <a:bodyPr wrap="square" lIns="0" tIns="0" rIns="0" bIns="0" anchor="ctr">
            <a:noAutofit/>
          </a:bodyPr>
          <a:lstStyle/>
          <a:p>
            <a:pPr algn="l"/>
            <a:r>
              <a:rPr lang="en-US" sz="2400" b="1" i="0">
                <a:solidFill>
                  <a:schemeClr val="accent1"/>
                </a:solidFill>
                <a:latin typeface="Cambria"/>
              </a:rPr>
              <a:t>2  Realistic</a:t>
            </a:r>
          </a:p>
        </p:txBody>
      </p:sp>
      <p:sp>
        <p:nvSpPr>
          <p:cNvPr id="16" name="Reason 2 number"/>
          <p:cNvSpPr txBox="1"/>
          <p:nvPr/>
        </p:nvSpPr>
        <p:spPr>
          <a:xfrm>
            <a:off x="6547104" y="2468880"/>
            <a:ext cx="4773168" cy="868680"/>
          </a:xfrm>
          <a:prstGeom prst="rect">
            <a:avLst/>
          </a:prstGeom>
          <a:noFill/>
        </p:spPr>
        <p:txBody>
          <a:bodyPr wrap="square" lIns="0" tIns="0" rIns="0" bIns="0" anchor="ctr">
            <a:noAutofit/>
          </a:bodyPr>
          <a:lstStyle/>
          <a:p>
            <a:pPr algn="l"/>
            <a:r>
              <a:rPr lang="en-US" sz="5400" b="1" i="0">
                <a:solidFill>
                  <a:schemeClr val="bg1"/>
                </a:solidFill>
                <a:latin typeface="Cambria"/>
              </a:rPr>
              <a:t>6.9 million</a:t>
            </a:r>
          </a:p>
        </p:txBody>
      </p:sp>
      <p:sp>
        <p:nvSpPr>
          <p:cNvPr id="17" name="Reason 2 label"/>
          <p:cNvSpPr txBox="1"/>
          <p:nvPr/>
        </p:nvSpPr>
        <p:spPr>
          <a:xfrm>
            <a:off x="6547104" y="3364992"/>
            <a:ext cx="4773168" cy="548640"/>
          </a:xfrm>
          <a:prstGeom prst="rect">
            <a:avLst/>
          </a:prstGeom>
          <a:noFill/>
        </p:spPr>
        <p:txBody>
          <a:bodyPr wrap="square" lIns="0" tIns="0" rIns="0" bIns="0" anchor="t">
            <a:noAutofit/>
          </a:bodyPr>
          <a:lstStyle/>
          <a:p>
            <a:pPr algn="l"/>
            <a:r>
              <a:rPr lang="en-US" sz="1500" b="0" i="0">
                <a:solidFill>
                  <a:schemeClr val="bg1"/>
                </a:solidFill>
              </a:rPr>
              <a:t>citizens of other Arab countries live in Saudi Arabia and the Emirates.</a:t>
            </a:r>
          </a:p>
        </p:txBody>
      </p:sp>
      <p:pic>
        <p:nvPicPr>
          <p:cNvPr id="18" name="Flag Egypt" descr="Flag of Egypt"/>
          <p:cNvPicPr>
            <a:picLocks noChangeAspect="1"/>
          </p:cNvPicPr>
          <p:nvPr/>
        </p:nvPicPr>
        <p:blipFill>
          <a:blip r:embed="rId7"/>
          <a:stretch>
            <a:fillRect/>
          </a:stretch>
        </p:blipFill>
        <p:spPr>
          <a:xfrm>
            <a:off x="6547104" y="4069080"/>
            <a:ext cx="457200" cy="347472"/>
          </a:xfrm>
          <a:prstGeom prst="rect">
            <a:avLst/>
          </a:prstGeom>
        </p:spPr>
      </p:pic>
      <p:sp>
        <p:nvSpPr>
          <p:cNvPr id="19" name="Flag frame Egypt"/>
          <p:cNvSpPr/>
          <p:nvPr/>
        </p:nvSpPr>
        <p:spPr>
          <a:xfrm>
            <a:off x="6547104" y="4069080"/>
            <a:ext cx="457200" cy="347472"/>
          </a:xfrm>
          <a:prstGeom prst="rect">
            <a:avLst/>
          </a:prstGeom>
          <a:noFill/>
          <a:ln w="6350">
            <a:solidFill>
              <a:schemeClr val="accent5"/>
            </a:solidFill>
          </a:ln>
        </p:spPr>
        <p:txBody>
          <a:bodyPr rtlCol="0" anchor="ctr"/>
          <a:lstStyle/>
          <a:p>
            <a:pPr algn="ctr"/>
            <a:endParaRPr/>
          </a:p>
        </p:txBody>
      </p:sp>
      <p:sp>
        <p:nvSpPr>
          <p:cNvPr id="20" name="People Egypt"/>
          <p:cNvSpPr txBox="1"/>
          <p:nvPr/>
        </p:nvSpPr>
        <p:spPr>
          <a:xfrm>
            <a:off x="6455664" y="4462272"/>
            <a:ext cx="640080" cy="256032"/>
          </a:xfrm>
          <a:prstGeom prst="rect">
            <a:avLst/>
          </a:prstGeom>
          <a:noFill/>
        </p:spPr>
        <p:txBody>
          <a:bodyPr wrap="square" lIns="0" tIns="0" rIns="0" bIns="0" anchor="ctr">
            <a:noAutofit/>
          </a:bodyPr>
          <a:lstStyle/>
          <a:p>
            <a:pPr algn="ctr"/>
            <a:r>
              <a:rPr lang="en-US" sz="1300" b="1" i="0">
                <a:solidFill>
                  <a:schemeClr val="accent1"/>
                </a:solidFill>
              </a:rPr>
              <a:t>2.3</a:t>
            </a:r>
          </a:p>
        </p:txBody>
      </p:sp>
      <p:pic>
        <p:nvPicPr>
          <p:cNvPr id="21" name="Flag Yemen" descr="Flag of Yemen"/>
          <p:cNvPicPr>
            <a:picLocks noChangeAspect="1"/>
          </p:cNvPicPr>
          <p:nvPr/>
        </p:nvPicPr>
        <p:blipFill>
          <a:blip r:embed="rId8"/>
          <a:stretch>
            <a:fillRect/>
          </a:stretch>
        </p:blipFill>
        <p:spPr>
          <a:xfrm>
            <a:off x="7228332" y="4069080"/>
            <a:ext cx="457200" cy="347472"/>
          </a:xfrm>
          <a:prstGeom prst="rect">
            <a:avLst/>
          </a:prstGeom>
        </p:spPr>
      </p:pic>
      <p:sp>
        <p:nvSpPr>
          <p:cNvPr id="22" name="Flag frame Yemen"/>
          <p:cNvSpPr/>
          <p:nvPr/>
        </p:nvSpPr>
        <p:spPr>
          <a:xfrm>
            <a:off x="7228332" y="4069080"/>
            <a:ext cx="457200" cy="347472"/>
          </a:xfrm>
          <a:prstGeom prst="rect">
            <a:avLst/>
          </a:prstGeom>
          <a:noFill/>
          <a:ln w="6350">
            <a:solidFill>
              <a:schemeClr val="accent5"/>
            </a:solidFill>
          </a:ln>
        </p:spPr>
        <p:txBody>
          <a:bodyPr rtlCol="0" anchor="ctr"/>
          <a:lstStyle/>
          <a:p>
            <a:pPr algn="ctr"/>
            <a:endParaRPr/>
          </a:p>
        </p:txBody>
      </p:sp>
      <p:sp>
        <p:nvSpPr>
          <p:cNvPr id="23" name="People Yemen"/>
          <p:cNvSpPr txBox="1"/>
          <p:nvPr/>
        </p:nvSpPr>
        <p:spPr>
          <a:xfrm>
            <a:off x="7136892" y="4462272"/>
            <a:ext cx="640080" cy="256032"/>
          </a:xfrm>
          <a:prstGeom prst="rect">
            <a:avLst/>
          </a:prstGeom>
          <a:noFill/>
        </p:spPr>
        <p:txBody>
          <a:bodyPr wrap="square" lIns="0" tIns="0" rIns="0" bIns="0" anchor="ctr">
            <a:noAutofit/>
          </a:bodyPr>
          <a:lstStyle/>
          <a:p>
            <a:pPr algn="ctr"/>
            <a:r>
              <a:rPr lang="en-US" sz="1300" b="1" i="0">
                <a:solidFill>
                  <a:schemeClr val="accent1"/>
                </a:solidFill>
              </a:rPr>
              <a:t>2.2</a:t>
            </a:r>
          </a:p>
        </p:txBody>
      </p:sp>
      <p:pic>
        <p:nvPicPr>
          <p:cNvPr id="24" name="Flag Sudan" descr="Flag of Sudan"/>
          <p:cNvPicPr>
            <a:picLocks noChangeAspect="1"/>
          </p:cNvPicPr>
          <p:nvPr/>
        </p:nvPicPr>
        <p:blipFill>
          <a:blip r:embed="rId9"/>
          <a:stretch>
            <a:fillRect/>
          </a:stretch>
        </p:blipFill>
        <p:spPr>
          <a:xfrm>
            <a:off x="7909560" y="4069080"/>
            <a:ext cx="457200" cy="347472"/>
          </a:xfrm>
          <a:prstGeom prst="rect">
            <a:avLst/>
          </a:prstGeom>
        </p:spPr>
      </p:pic>
      <p:sp>
        <p:nvSpPr>
          <p:cNvPr id="25" name="Flag frame Sudan"/>
          <p:cNvSpPr/>
          <p:nvPr/>
        </p:nvSpPr>
        <p:spPr>
          <a:xfrm>
            <a:off x="7909560" y="4069080"/>
            <a:ext cx="457200" cy="347472"/>
          </a:xfrm>
          <a:prstGeom prst="rect">
            <a:avLst/>
          </a:prstGeom>
          <a:noFill/>
          <a:ln w="6350">
            <a:solidFill>
              <a:schemeClr val="accent5"/>
            </a:solidFill>
          </a:ln>
        </p:spPr>
        <p:txBody>
          <a:bodyPr rtlCol="0" anchor="ctr"/>
          <a:lstStyle/>
          <a:p>
            <a:pPr algn="ctr"/>
            <a:endParaRPr/>
          </a:p>
        </p:txBody>
      </p:sp>
      <p:sp>
        <p:nvSpPr>
          <p:cNvPr id="26" name="People Sudan"/>
          <p:cNvSpPr txBox="1"/>
          <p:nvPr/>
        </p:nvSpPr>
        <p:spPr>
          <a:xfrm>
            <a:off x="7818120" y="4462272"/>
            <a:ext cx="640080" cy="256032"/>
          </a:xfrm>
          <a:prstGeom prst="rect">
            <a:avLst/>
          </a:prstGeom>
          <a:noFill/>
        </p:spPr>
        <p:txBody>
          <a:bodyPr wrap="square" lIns="0" tIns="0" rIns="0" bIns="0" anchor="ctr">
            <a:noAutofit/>
          </a:bodyPr>
          <a:lstStyle/>
          <a:p>
            <a:pPr algn="ctr"/>
            <a:r>
              <a:rPr lang="en-US" sz="1300" b="1" i="0">
                <a:solidFill>
                  <a:schemeClr val="accent1"/>
                </a:solidFill>
              </a:rPr>
              <a:t>1.0</a:t>
            </a:r>
          </a:p>
        </p:txBody>
      </p:sp>
      <p:pic>
        <p:nvPicPr>
          <p:cNvPr id="27" name="Flag Syria" descr="Flag of Syria"/>
          <p:cNvPicPr>
            <a:picLocks noChangeAspect="1"/>
          </p:cNvPicPr>
          <p:nvPr/>
        </p:nvPicPr>
        <p:blipFill>
          <a:blip r:embed="rId10"/>
          <a:stretch>
            <a:fillRect/>
          </a:stretch>
        </p:blipFill>
        <p:spPr>
          <a:xfrm>
            <a:off x="8590788" y="4069080"/>
            <a:ext cx="457200" cy="347472"/>
          </a:xfrm>
          <a:prstGeom prst="rect">
            <a:avLst/>
          </a:prstGeom>
        </p:spPr>
      </p:pic>
      <p:sp>
        <p:nvSpPr>
          <p:cNvPr id="28" name="Flag frame Syria"/>
          <p:cNvSpPr/>
          <p:nvPr/>
        </p:nvSpPr>
        <p:spPr>
          <a:xfrm>
            <a:off x="8590788" y="4069080"/>
            <a:ext cx="457200" cy="347472"/>
          </a:xfrm>
          <a:prstGeom prst="rect">
            <a:avLst/>
          </a:prstGeom>
          <a:noFill/>
          <a:ln w="6350">
            <a:solidFill>
              <a:schemeClr val="accent5"/>
            </a:solidFill>
          </a:ln>
        </p:spPr>
        <p:txBody>
          <a:bodyPr rtlCol="0" anchor="ctr"/>
          <a:lstStyle/>
          <a:p>
            <a:pPr algn="ctr"/>
            <a:endParaRPr/>
          </a:p>
        </p:txBody>
      </p:sp>
      <p:sp>
        <p:nvSpPr>
          <p:cNvPr id="29" name="People Syria"/>
          <p:cNvSpPr txBox="1"/>
          <p:nvPr/>
        </p:nvSpPr>
        <p:spPr>
          <a:xfrm>
            <a:off x="8499348" y="4462272"/>
            <a:ext cx="640080" cy="256032"/>
          </a:xfrm>
          <a:prstGeom prst="rect">
            <a:avLst/>
          </a:prstGeom>
          <a:noFill/>
        </p:spPr>
        <p:txBody>
          <a:bodyPr wrap="square" lIns="0" tIns="0" rIns="0" bIns="0" anchor="ctr">
            <a:noAutofit/>
          </a:bodyPr>
          <a:lstStyle/>
          <a:p>
            <a:pPr algn="ctr"/>
            <a:r>
              <a:rPr lang="en-US" sz="1300" b="1" i="0">
                <a:solidFill>
                  <a:schemeClr val="accent1"/>
                </a:solidFill>
              </a:rPr>
              <a:t>0.5</a:t>
            </a:r>
          </a:p>
        </p:txBody>
      </p:sp>
      <p:pic>
        <p:nvPicPr>
          <p:cNvPr id="30" name="Flag Jordan" descr="Flag of Jordan"/>
          <p:cNvPicPr>
            <a:picLocks noChangeAspect="1"/>
          </p:cNvPicPr>
          <p:nvPr/>
        </p:nvPicPr>
        <p:blipFill>
          <a:blip r:embed="rId11"/>
          <a:stretch>
            <a:fillRect/>
          </a:stretch>
        </p:blipFill>
        <p:spPr>
          <a:xfrm>
            <a:off x="9272016" y="4069080"/>
            <a:ext cx="457200" cy="347472"/>
          </a:xfrm>
          <a:prstGeom prst="rect">
            <a:avLst/>
          </a:prstGeom>
        </p:spPr>
      </p:pic>
      <p:sp>
        <p:nvSpPr>
          <p:cNvPr id="31" name="Flag frame Jordan"/>
          <p:cNvSpPr/>
          <p:nvPr/>
        </p:nvSpPr>
        <p:spPr>
          <a:xfrm>
            <a:off x="9272016" y="4069080"/>
            <a:ext cx="457200" cy="347472"/>
          </a:xfrm>
          <a:prstGeom prst="rect">
            <a:avLst/>
          </a:prstGeom>
          <a:noFill/>
          <a:ln w="6350">
            <a:solidFill>
              <a:schemeClr val="accent5"/>
            </a:solidFill>
          </a:ln>
        </p:spPr>
        <p:txBody>
          <a:bodyPr rtlCol="0" anchor="ctr"/>
          <a:lstStyle/>
          <a:p>
            <a:pPr algn="ctr"/>
            <a:endParaRPr/>
          </a:p>
        </p:txBody>
      </p:sp>
      <p:sp>
        <p:nvSpPr>
          <p:cNvPr id="32" name="People Jordan"/>
          <p:cNvSpPr txBox="1"/>
          <p:nvPr/>
        </p:nvSpPr>
        <p:spPr>
          <a:xfrm>
            <a:off x="9180576" y="4462272"/>
            <a:ext cx="640080" cy="256032"/>
          </a:xfrm>
          <a:prstGeom prst="rect">
            <a:avLst/>
          </a:prstGeom>
          <a:noFill/>
        </p:spPr>
        <p:txBody>
          <a:bodyPr wrap="square" lIns="0" tIns="0" rIns="0" bIns="0" anchor="ctr">
            <a:noAutofit/>
          </a:bodyPr>
          <a:lstStyle/>
          <a:p>
            <a:pPr algn="ctr"/>
            <a:r>
              <a:rPr lang="en-US" sz="1300" b="1" i="0">
                <a:solidFill>
                  <a:schemeClr val="accent1"/>
                </a:solidFill>
              </a:rPr>
              <a:t>0.4</a:t>
            </a:r>
          </a:p>
        </p:txBody>
      </p:sp>
      <p:pic>
        <p:nvPicPr>
          <p:cNvPr id="33" name="Flag Palestine" descr="Flag of Palestine"/>
          <p:cNvPicPr>
            <a:picLocks noChangeAspect="1"/>
          </p:cNvPicPr>
          <p:nvPr/>
        </p:nvPicPr>
        <p:blipFill>
          <a:blip r:embed="rId12"/>
          <a:stretch>
            <a:fillRect/>
          </a:stretch>
        </p:blipFill>
        <p:spPr>
          <a:xfrm>
            <a:off x="9953244" y="4069080"/>
            <a:ext cx="457200" cy="347472"/>
          </a:xfrm>
          <a:prstGeom prst="rect">
            <a:avLst/>
          </a:prstGeom>
        </p:spPr>
      </p:pic>
      <p:sp>
        <p:nvSpPr>
          <p:cNvPr id="34" name="Flag frame Palestine"/>
          <p:cNvSpPr/>
          <p:nvPr/>
        </p:nvSpPr>
        <p:spPr>
          <a:xfrm>
            <a:off x="9953244" y="4069080"/>
            <a:ext cx="457200" cy="347472"/>
          </a:xfrm>
          <a:prstGeom prst="rect">
            <a:avLst/>
          </a:prstGeom>
          <a:noFill/>
          <a:ln w="6350">
            <a:solidFill>
              <a:schemeClr val="accent5"/>
            </a:solidFill>
          </a:ln>
        </p:spPr>
        <p:txBody>
          <a:bodyPr rtlCol="0" anchor="ctr"/>
          <a:lstStyle/>
          <a:p>
            <a:pPr algn="ctr"/>
            <a:endParaRPr/>
          </a:p>
        </p:txBody>
      </p:sp>
      <p:sp>
        <p:nvSpPr>
          <p:cNvPr id="35" name="People Palestine"/>
          <p:cNvSpPr txBox="1"/>
          <p:nvPr/>
        </p:nvSpPr>
        <p:spPr>
          <a:xfrm>
            <a:off x="9861804" y="4462272"/>
            <a:ext cx="640080" cy="256032"/>
          </a:xfrm>
          <a:prstGeom prst="rect">
            <a:avLst/>
          </a:prstGeom>
          <a:noFill/>
        </p:spPr>
        <p:txBody>
          <a:bodyPr wrap="square" lIns="0" tIns="0" rIns="0" bIns="0" anchor="ctr">
            <a:noAutofit/>
          </a:bodyPr>
          <a:lstStyle/>
          <a:p>
            <a:pPr algn="ctr"/>
            <a:r>
              <a:rPr lang="en-US" sz="1300" b="1" i="0">
                <a:solidFill>
                  <a:schemeClr val="accent1"/>
                </a:solidFill>
              </a:rPr>
              <a:t>0.2</a:t>
            </a:r>
          </a:p>
        </p:txBody>
      </p:sp>
      <p:pic>
        <p:nvPicPr>
          <p:cNvPr id="36" name="Flag Lebanon" descr="Flag of Lebanon"/>
          <p:cNvPicPr>
            <a:picLocks noChangeAspect="1"/>
          </p:cNvPicPr>
          <p:nvPr/>
        </p:nvPicPr>
        <p:blipFill>
          <a:blip r:embed="rId13"/>
          <a:stretch>
            <a:fillRect/>
          </a:stretch>
        </p:blipFill>
        <p:spPr>
          <a:xfrm>
            <a:off x="10634472" y="4069080"/>
            <a:ext cx="457200" cy="347472"/>
          </a:xfrm>
          <a:prstGeom prst="rect">
            <a:avLst/>
          </a:prstGeom>
        </p:spPr>
      </p:pic>
      <p:sp>
        <p:nvSpPr>
          <p:cNvPr id="37" name="Flag frame Lebanon"/>
          <p:cNvSpPr/>
          <p:nvPr/>
        </p:nvSpPr>
        <p:spPr>
          <a:xfrm>
            <a:off x="10634472" y="4069080"/>
            <a:ext cx="457200" cy="347472"/>
          </a:xfrm>
          <a:prstGeom prst="rect">
            <a:avLst/>
          </a:prstGeom>
          <a:noFill/>
          <a:ln w="6350">
            <a:solidFill>
              <a:schemeClr val="accent5"/>
            </a:solidFill>
          </a:ln>
        </p:spPr>
        <p:txBody>
          <a:bodyPr rtlCol="0" anchor="ctr"/>
          <a:lstStyle/>
          <a:p>
            <a:pPr algn="ctr"/>
            <a:endParaRPr/>
          </a:p>
        </p:txBody>
      </p:sp>
      <p:sp>
        <p:nvSpPr>
          <p:cNvPr id="38" name="People Lebanon"/>
          <p:cNvSpPr txBox="1"/>
          <p:nvPr/>
        </p:nvSpPr>
        <p:spPr>
          <a:xfrm>
            <a:off x="10543032" y="4462272"/>
            <a:ext cx="640080" cy="256032"/>
          </a:xfrm>
          <a:prstGeom prst="rect">
            <a:avLst/>
          </a:prstGeom>
          <a:noFill/>
        </p:spPr>
        <p:txBody>
          <a:bodyPr wrap="square" lIns="0" tIns="0" rIns="0" bIns="0" anchor="ctr">
            <a:noAutofit/>
          </a:bodyPr>
          <a:lstStyle/>
          <a:p>
            <a:pPr algn="ctr"/>
            <a:r>
              <a:rPr lang="en-US" sz="1300" b="1" i="0">
                <a:solidFill>
                  <a:schemeClr val="accent1"/>
                </a:solidFill>
              </a:rPr>
              <a:t>0.1</a:t>
            </a:r>
          </a:p>
        </p:txBody>
      </p:sp>
      <p:sp>
        <p:nvSpPr>
          <p:cNvPr id="39" name="Reason 2 unit"/>
          <p:cNvSpPr txBox="1"/>
          <p:nvPr/>
        </p:nvSpPr>
        <p:spPr>
          <a:xfrm>
            <a:off x="6547104" y="4773168"/>
            <a:ext cx="4773168" cy="292608"/>
          </a:xfrm>
          <a:prstGeom prst="rect">
            <a:avLst/>
          </a:prstGeom>
          <a:noFill/>
        </p:spPr>
        <p:txBody>
          <a:bodyPr wrap="square" lIns="0" tIns="0" rIns="0" bIns="0" anchor="ctr">
            <a:noAutofit/>
          </a:bodyPr>
          <a:lstStyle/>
          <a:p>
            <a:pPr algn="l"/>
            <a:r>
              <a:rPr lang="en-US" sz="1200" b="0" i="0">
                <a:solidFill>
                  <a:schemeClr val="accent5"/>
                </a:solidFill>
              </a:rPr>
              <a:t>million people, by passport</a:t>
            </a:r>
          </a:p>
        </p:txBody>
      </p:sp>
      <p:sp>
        <p:nvSpPr>
          <p:cNvPr id="40" name="Question"/>
          <p:cNvSpPr txBox="1"/>
          <p:nvPr/>
        </p:nvSpPr>
        <p:spPr>
          <a:xfrm>
            <a:off x="548640" y="5440680"/>
            <a:ext cx="11091672" cy="457200"/>
          </a:xfrm>
          <a:prstGeom prst="rect">
            <a:avLst/>
          </a:prstGeom>
          <a:noFill/>
        </p:spPr>
        <p:txBody>
          <a:bodyPr wrap="square" lIns="0" tIns="0" rIns="0" bIns="0" anchor="ctr">
            <a:noAutofit/>
          </a:bodyPr>
          <a:lstStyle/>
          <a:p>
            <a:pPr algn="l"/>
            <a:r>
              <a:rPr lang="en-US" sz="2000" b="0" i="1">
                <a:solidFill>
                  <a:schemeClr val="accent3"/>
                </a:solidFill>
              </a:rPr>
              <a:t>Born in the Gulf, the passport of the parents stays. That is our applicant.</a:t>
            </a:r>
          </a:p>
        </p:txBody>
      </p:sp>
      <p:sp>
        <p:nvSpPr>
          <p:cNvPr id="41" name="Source"/>
          <p:cNvSpPr txBox="1"/>
          <p:nvPr/>
        </p:nvSpPr>
        <p:spPr>
          <a:xfrm>
            <a:off x="548640" y="5989320"/>
            <a:ext cx="11091672" cy="320040"/>
          </a:xfrm>
          <a:prstGeom prst="rect">
            <a:avLst/>
          </a:prstGeom>
          <a:noFill/>
        </p:spPr>
        <p:txBody>
          <a:bodyPr wrap="square" lIns="0" tIns="0" rIns="0" bIns="0" anchor="ctr">
            <a:noAutofit/>
          </a:bodyPr>
          <a:lstStyle/>
          <a:p>
            <a:pPr algn="l"/>
            <a:r>
              <a:rPr lang="en-US" sz="1000" b="0" i="0">
                <a:solidFill>
                  <a:schemeClr val="tx2"/>
                </a:solidFill>
              </a:rPr>
              <a:t>Sources: Pew Research Center, Religious Composition by Country 2010–2020; UN DESA, International Migrant Stock 2024 (foreign citizens, mid-2024). Map outlines: Natural Earth.</a:t>
            </a:r>
          </a:p>
        </p:txBody>
      </p:sp>
      <p:sp>
        <p:nvSpPr>
          <p:cNvPr id="4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scenario is best?</a:t>
            </a:r>
            <a:endParaRPr lang="en-US" sz="3600" dirty="0"/>
          </a:p>
        </p:txBody>
      </p:sp>
      <p:sp>
        <p:nvSpPr>
          <p:cNvPr id="3" name="Removable band"/>
          <p:cNvSpPr/>
          <p:nvPr/>
        </p:nvSpPr>
        <p:spPr>
          <a:xfrm>
            <a:off x="548640" y="1371600"/>
            <a:ext cx="11091672" cy="2194560"/>
          </a:xfrm>
          <a:prstGeom prst="roundRect">
            <a:avLst>
              <a:gd name="adj" fmla="val 5000"/>
            </a:avLst>
          </a:prstGeom>
          <a:solidFill>
            <a:schemeClr val="bg2"/>
          </a:solidFill>
          <a:ln w="12700">
            <a:solidFill>
              <a:schemeClr val="bg2"/>
            </a:solidFill>
          </a:ln>
        </p:spPr>
        <p:txBody>
          <a:bodyPr rtlCol="0" anchor="ctr"/>
          <a:lstStyle/>
          <a:p>
            <a:pPr algn="ctr"/>
            <a:endParaRPr/>
          </a:p>
        </p:txBody>
      </p:sp>
      <p:sp>
        <p:nvSpPr>
          <p:cNvPr id="4" name="Hiring tile"/>
          <p:cNvSpPr/>
          <p:nvPr/>
        </p:nvSpPr>
        <p:spPr>
          <a:xfrm>
            <a:off x="822960" y="1645920"/>
            <a:ext cx="1417320" cy="1645920"/>
          </a:xfrm>
          <a:prstGeom prst="roundRect">
            <a:avLst>
              <a:gd name="adj" fmla="val 7741"/>
            </a:avLst>
          </a:prstGeom>
          <a:solidFill>
            <a:schemeClr val="bg1"/>
          </a:solidFill>
          <a:ln w="12700">
            <a:solidFill>
              <a:schemeClr val="accent5"/>
            </a:solidFill>
          </a:ln>
        </p:spPr>
        <p:txBody>
          <a:bodyPr rtlCol="0" anchor="ctr"/>
          <a:lstStyle/>
          <a:p>
            <a:pPr algn="ctr"/>
            <a:endParaRPr/>
          </a:p>
        </p:txBody>
      </p:sp>
      <p:sp>
        <p:nvSpPr>
          <p:cNvPr id="5" name="Hiring circle"/>
          <p:cNvSpPr/>
          <p:nvPr/>
        </p:nvSpPr>
        <p:spPr>
          <a:xfrm>
            <a:off x="1211580" y="182880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6" name="Hiring icon"/>
          <p:cNvPicPr>
            <a:picLocks noChangeAspect="1"/>
          </p:cNvPicPr>
          <p:nvPr/>
        </p:nvPicPr>
        <p:blipFill>
          <a:blip r:embed="rId3"/>
          <a:stretch>
            <a:fillRect/>
          </a:stretch>
        </p:blipFill>
        <p:spPr>
          <a:xfrm>
            <a:off x="1367028" y="1984248"/>
            <a:ext cx="329184" cy="329184"/>
          </a:xfrm>
          <a:prstGeom prst="rect">
            <a:avLst/>
          </a:prstGeom>
        </p:spPr>
      </p:pic>
      <p:sp>
        <p:nvSpPr>
          <p:cNvPr id="7" name="Hiring label"/>
          <p:cNvSpPr txBox="1"/>
          <p:nvPr/>
        </p:nvSpPr>
        <p:spPr>
          <a:xfrm>
            <a:off x="822960" y="2606040"/>
            <a:ext cx="1417320" cy="457200"/>
          </a:xfrm>
          <a:prstGeom prst="rect">
            <a:avLst/>
          </a:prstGeom>
          <a:noFill/>
        </p:spPr>
        <p:txBody>
          <a:bodyPr wrap="square" lIns="0" tIns="0" rIns="0" bIns="0" anchor="ctr">
            <a:noAutofit/>
          </a:bodyPr>
          <a:lstStyle/>
          <a:p>
            <a:pPr algn="ctr"/>
            <a:r>
              <a:rPr lang="en-US" sz="1800" b="1" i="0">
                <a:solidFill>
                  <a:schemeClr val="tx1"/>
                </a:solidFill>
                <a:latin typeface="Cambria"/>
              </a:rPr>
              <a:t>Hiring</a:t>
            </a:r>
          </a:p>
        </p:txBody>
      </p:sp>
      <p:cxnSp>
        <p:nvCxnSpPr>
          <p:cNvPr id="8" name="Hiring cross stroke 1"/>
          <p:cNvCxnSpPr/>
          <p:nvPr/>
        </p:nvCxnSpPr>
        <p:spPr>
          <a:xfrm>
            <a:off x="1097280" y="1719072"/>
            <a:ext cx="868680" cy="859536"/>
          </a:xfrm>
          <a:prstGeom prst="line">
            <a:avLst/>
          </a:prstGeom>
          <a:ln w="50800" cap="rnd">
            <a:solidFill>
              <a:schemeClr val="accent2"/>
            </a:solidFill>
          </a:ln>
        </p:spPr>
      </p:cxnSp>
      <p:cxnSp>
        <p:nvCxnSpPr>
          <p:cNvPr id="9" name="Hiring cross stroke 2"/>
          <p:cNvCxnSpPr/>
          <p:nvPr/>
        </p:nvCxnSpPr>
        <p:spPr>
          <a:xfrm flipH="1">
            <a:off x="1097280" y="1719072"/>
            <a:ext cx="868680" cy="859536"/>
          </a:xfrm>
          <a:prstGeom prst="line">
            <a:avLst/>
          </a:prstGeom>
          <a:ln w="50800" cap="rnd">
            <a:solidFill>
              <a:schemeClr val="accent2"/>
            </a:solidFill>
          </a:ln>
        </p:spPr>
      </p:cxnSp>
      <p:sp>
        <p:nvSpPr>
          <p:cNvPr id="10" name="Medicine tile"/>
          <p:cNvSpPr/>
          <p:nvPr/>
        </p:nvSpPr>
        <p:spPr>
          <a:xfrm>
            <a:off x="2423160" y="1645920"/>
            <a:ext cx="1417320" cy="1645920"/>
          </a:xfrm>
          <a:prstGeom prst="roundRect">
            <a:avLst>
              <a:gd name="adj" fmla="val 7741"/>
            </a:avLst>
          </a:prstGeom>
          <a:solidFill>
            <a:schemeClr val="bg1"/>
          </a:solidFill>
          <a:ln w="12700">
            <a:solidFill>
              <a:schemeClr val="accent5"/>
            </a:solidFill>
          </a:ln>
        </p:spPr>
        <p:txBody>
          <a:bodyPr rtlCol="0" anchor="ctr"/>
          <a:lstStyle/>
          <a:p>
            <a:pPr algn="ctr"/>
            <a:endParaRPr/>
          </a:p>
        </p:txBody>
      </p:sp>
      <p:sp>
        <p:nvSpPr>
          <p:cNvPr id="11" name="Medicine circle"/>
          <p:cNvSpPr/>
          <p:nvPr/>
        </p:nvSpPr>
        <p:spPr>
          <a:xfrm>
            <a:off x="2811779" y="182880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12" name="Medicine icon"/>
          <p:cNvPicPr>
            <a:picLocks noChangeAspect="1"/>
          </p:cNvPicPr>
          <p:nvPr/>
        </p:nvPicPr>
        <p:blipFill>
          <a:blip r:embed="rId4"/>
          <a:stretch>
            <a:fillRect/>
          </a:stretch>
        </p:blipFill>
        <p:spPr>
          <a:xfrm>
            <a:off x="2967227" y="1984248"/>
            <a:ext cx="329184" cy="329184"/>
          </a:xfrm>
          <a:prstGeom prst="rect">
            <a:avLst/>
          </a:prstGeom>
        </p:spPr>
      </p:pic>
      <p:sp>
        <p:nvSpPr>
          <p:cNvPr id="13" name="Medicine label"/>
          <p:cNvSpPr txBox="1"/>
          <p:nvPr/>
        </p:nvSpPr>
        <p:spPr>
          <a:xfrm>
            <a:off x="2423160" y="2606040"/>
            <a:ext cx="1417320" cy="457200"/>
          </a:xfrm>
          <a:prstGeom prst="rect">
            <a:avLst/>
          </a:prstGeom>
          <a:noFill/>
        </p:spPr>
        <p:txBody>
          <a:bodyPr wrap="square" lIns="0" tIns="0" rIns="0" bIns="0" anchor="ctr">
            <a:noAutofit/>
          </a:bodyPr>
          <a:lstStyle/>
          <a:p>
            <a:pPr algn="ctr"/>
            <a:r>
              <a:rPr lang="en-US" sz="1800" b="1" i="0">
                <a:solidFill>
                  <a:schemeClr val="tx1"/>
                </a:solidFill>
                <a:latin typeface="Cambria"/>
              </a:rPr>
              <a:t>Medicine</a:t>
            </a:r>
          </a:p>
        </p:txBody>
      </p:sp>
      <p:cxnSp>
        <p:nvCxnSpPr>
          <p:cNvPr id="14" name="Medicine cross stroke 1"/>
          <p:cNvCxnSpPr/>
          <p:nvPr/>
        </p:nvCxnSpPr>
        <p:spPr>
          <a:xfrm>
            <a:off x="2697479" y="1719072"/>
            <a:ext cx="868680" cy="859536"/>
          </a:xfrm>
          <a:prstGeom prst="line">
            <a:avLst/>
          </a:prstGeom>
          <a:ln w="50800" cap="rnd">
            <a:solidFill>
              <a:schemeClr val="accent2"/>
            </a:solidFill>
          </a:ln>
        </p:spPr>
      </p:cxnSp>
      <p:cxnSp>
        <p:nvCxnSpPr>
          <p:cNvPr id="15" name="Medicine cross stroke 2"/>
          <p:cNvCxnSpPr/>
          <p:nvPr/>
        </p:nvCxnSpPr>
        <p:spPr>
          <a:xfrm flipH="1">
            <a:off x="2697479" y="1719072"/>
            <a:ext cx="868680" cy="859536"/>
          </a:xfrm>
          <a:prstGeom prst="line">
            <a:avLst/>
          </a:prstGeom>
          <a:ln w="50800" cap="rnd">
            <a:solidFill>
              <a:schemeClr val="accent2"/>
            </a:solidFill>
          </a:ln>
        </p:spPr>
      </p:cxnSp>
      <p:pic>
        <p:nvPicPr>
          <p:cNvPr id="16" name="Arrow 1" descr="Arrow"/>
          <p:cNvPicPr>
            <a:picLocks noChangeAspect="1"/>
          </p:cNvPicPr>
          <p:nvPr/>
        </p:nvPicPr>
        <p:blipFill>
          <a:blip r:embed="rId5"/>
          <a:stretch>
            <a:fillRect/>
          </a:stretch>
        </p:blipFill>
        <p:spPr>
          <a:xfrm>
            <a:off x="4041648" y="2350008"/>
            <a:ext cx="237744" cy="237744"/>
          </a:xfrm>
          <a:prstGeom prst="rect">
            <a:avLst/>
          </a:prstGeom>
        </p:spPr>
      </p:pic>
      <p:sp>
        <p:nvSpPr>
          <p:cNvPr id="17" name="Pipeline card"/>
          <p:cNvSpPr/>
          <p:nvPr/>
        </p:nvSpPr>
        <p:spPr>
          <a:xfrm>
            <a:off x="4480560" y="1572768"/>
            <a:ext cx="3886200" cy="1792224"/>
          </a:xfrm>
          <a:prstGeom prst="roundRect">
            <a:avLst>
              <a:gd name="adj" fmla="val 6122"/>
            </a:avLst>
          </a:prstGeom>
          <a:solidFill>
            <a:schemeClr val="bg1"/>
          </a:solidFill>
          <a:ln w="12700">
            <a:solidFill>
              <a:schemeClr val="accent5"/>
            </a:solidFill>
          </a:ln>
        </p:spPr>
        <p:txBody>
          <a:bodyPr rtlCol="0" anchor="ctr"/>
          <a:lstStyle/>
          <a:p>
            <a:pPr algn="ctr"/>
            <a:endParaRPr/>
          </a:p>
        </p:txBody>
      </p:sp>
      <p:sp>
        <p:nvSpPr>
          <p:cNvPr id="18" name="Pipeline kicker"/>
          <p:cNvSpPr txBox="1"/>
          <p:nvPr/>
        </p:nvSpPr>
        <p:spPr>
          <a:xfrm>
            <a:off x="4709160" y="1682496"/>
            <a:ext cx="3474720" cy="292608"/>
          </a:xfrm>
          <a:prstGeom prst="rect">
            <a:avLst/>
          </a:prstGeom>
          <a:noFill/>
        </p:spPr>
        <p:txBody>
          <a:bodyPr wrap="square" lIns="0" tIns="0" rIns="0" bIns="0" anchor="ctr">
            <a:noAutofit/>
          </a:bodyPr>
          <a:lstStyle/>
          <a:p>
            <a:pPr algn="l"/>
            <a:r>
              <a:rPr lang="en-US" sz="1000" b="1" i="0" spc="300">
                <a:solidFill>
                  <a:schemeClr val="tx2"/>
                </a:solidFill>
              </a:rPr>
              <a:t>AI PRE-PROCESSING</a:t>
            </a:r>
          </a:p>
        </p:txBody>
      </p:sp>
      <p:sp>
        <p:nvSpPr>
          <p:cNvPr id="19" name="Removed field Name"/>
          <p:cNvSpPr txBox="1"/>
          <p:nvPr/>
        </p:nvSpPr>
        <p:spPr>
          <a:xfrm>
            <a:off x="4709160" y="2048256"/>
            <a:ext cx="1691640" cy="347472"/>
          </a:xfrm>
          <a:prstGeom prst="rect">
            <a:avLst/>
          </a:prstGeom>
          <a:noFill/>
        </p:spPr>
        <p:txBody>
          <a:bodyPr wrap="square" lIns="0" tIns="0" rIns="0" bIns="0" anchor="ctr">
            <a:noAutofit/>
          </a:bodyPr>
          <a:lstStyle/>
          <a:p>
            <a:pPr algn="l"/>
            <a:r>
              <a:rPr lang="en-US" sz="1600" b="1" i="0" strike="sngStrike">
                <a:solidFill>
                  <a:schemeClr val="accent2"/>
                </a:solidFill>
              </a:rPr>
              <a:t>Name</a:t>
            </a:r>
          </a:p>
        </p:txBody>
      </p:sp>
      <p:sp>
        <p:nvSpPr>
          <p:cNvPr id="20" name="Removed pill Name"/>
          <p:cNvSpPr/>
          <p:nvPr/>
        </p:nvSpPr>
        <p:spPr>
          <a:xfrm>
            <a:off x="6492240" y="2048256"/>
            <a:ext cx="1645920" cy="347472"/>
          </a:xfrm>
          <a:prstGeom prst="roundRect">
            <a:avLst>
              <a:gd name="adj" fmla="val 13157"/>
            </a:avLst>
          </a:prstGeom>
          <a:noFill/>
          <a:ln w="9525">
            <a:solidFill>
              <a:schemeClr val="accent2"/>
            </a:solidFill>
            <a:prstDash val="dash"/>
          </a:ln>
        </p:spPr>
        <p:txBody>
          <a:bodyPr rtlCol="0" anchor="ctr"/>
          <a:lstStyle/>
          <a:p>
            <a:pPr algn="ctr"/>
            <a:endParaRPr/>
          </a:p>
        </p:txBody>
      </p:sp>
      <p:sp>
        <p:nvSpPr>
          <p:cNvPr id="21" name="Removed text Name"/>
          <p:cNvSpPr txBox="1"/>
          <p:nvPr/>
        </p:nvSpPr>
        <p:spPr>
          <a:xfrm>
            <a:off x="6492240" y="2048256"/>
            <a:ext cx="1645920" cy="347472"/>
          </a:xfrm>
          <a:prstGeom prst="rect">
            <a:avLst/>
          </a:prstGeom>
          <a:noFill/>
        </p:spPr>
        <p:txBody>
          <a:bodyPr wrap="square" lIns="0" tIns="0" rIns="0" bIns="0" anchor="ctr">
            <a:noAutofit/>
          </a:bodyPr>
          <a:lstStyle/>
          <a:p>
            <a:pPr algn="ctr"/>
            <a:r>
              <a:rPr lang="en-US" sz="1200" b="0" i="1">
                <a:solidFill>
                  <a:schemeClr val="accent2"/>
                </a:solidFill>
              </a:rPr>
              <a:t>removed</a:t>
            </a:r>
          </a:p>
        </p:txBody>
      </p:sp>
      <p:sp>
        <p:nvSpPr>
          <p:cNvPr id="22" name="Removed field Religion"/>
          <p:cNvSpPr txBox="1"/>
          <p:nvPr/>
        </p:nvSpPr>
        <p:spPr>
          <a:xfrm>
            <a:off x="4709160" y="2468880"/>
            <a:ext cx="1691640" cy="347472"/>
          </a:xfrm>
          <a:prstGeom prst="rect">
            <a:avLst/>
          </a:prstGeom>
          <a:noFill/>
        </p:spPr>
        <p:txBody>
          <a:bodyPr wrap="square" lIns="0" tIns="0" rIns="0" bIns="0" anchor="ctr">
            <a:noAutofit/>
          </a:bodyPr>
          <a:lstStyle/>
          <a:p>
            <a:pPr algn="l"/>
            <a:r>
              <a:rPr lang="en-US" sz="1600" b="1" i="0" strike="sngStrike">
                <a:solidFill>
                  <a:schemeClr val="accent2"/>
                </a:solidFill>
              </a:rPr>
              <a:t>Religion</a:t>
            </a:r>
          </a:p>
        </p:txBody>
      </p:sp>
      <p:sp>
        <p:nvSpPr>
          <p:cNvPr id="23" name="Removed pill Religion"/>
          <p:cNvSpPr/>
          <p:nvPr/>
        </p:nvSpPr>
        <p:spPr>
          <a:xfrm>
            <a:off x="6492240" y="2468880"/>
            <a:ext cx="1645920" cy="347472"/>
          </a:xfrm>
          <a:prstGeom prst="roundRect">
            <a:avLst>
              <a:gd name="adj" fmla="val 13157"/>
            </a:avLst>
          </a:prstGeom>
          <a:noFill/>
          <a:ln w="9525">
            <a:solidFill>
              <a:schemeClr val="accent2"/>
            </a:solidFill>
            <a:prstDash val="dash"/>
          </a:ln>
        </p:spPr>
        <p:txBody>
          <a:bodyPr rtlCol="0" anchor="ctr"/>
          <a:lstStyle/>
          <a:p>
            <a:pPr algn="ctr"/>
            <a:endParaRPr/>
          </a:p>
        </p:txBody>
      </p:sp>
      <p:sp>
        <p:nvSpPr>
          <p:cNvPr id="24" name="Removed text Religion"/>
          <p:cNvSpPr txBox="1"/>
          <p:nvPr/>
        </p:nvSpPr>
        <p:spPr>
          <a:xfrm>
            <a:off x="6492240" y="2468880"/>
            <a:ext cx="1645920" cy="347472"/>
          </a:xfrm>
          <a:prstGeom prst="rect">
            <a:avLst/>
          </a:prstGeom>
          <a:noFill/>
        </p:spPr>
        <p:txBody>
          <a:bodyPr wrap="square" lIns="0" tIns="0" rIns="0" bIns="0" anchor="ctr">
            <a:noAutofit/>
          </a:bodyPr>
          <a:lstStyle/>
          <a:p>
            <a:pPr algn="ctr"/>
            <a:r>
              <a:rPr lang="en-US" sz="1200" b="0" i="1">
                <a:solidFill>
                  <a:schemeClr val="accent2"/>
                </a:solidFill>
              </a:rPr>
              <a:t>removed</a:t>
            </a:r>
          </a:p>
        </p:txBody>
      </p:sp>
      <p:sp>
        <p:nvSpPr>
          <p:cNvPr id="25" name="Removed field Nationality"/>
          <p:cNvSpPr txBox="1"/>
          <p:nvPr/>
        </p:nvSpPr>
        <p:spPr>
          <a:xfrm>
            <a:off x="4709160" y="2889504"/>
            <a:ext cx="1691640" cy="347472"/>
          </a:xfrm>
          <a:prstGeom prst="rect">
            <a:avLst/>
          </a:prstGeom>
          <a:noFill/>
        </p:spPr>
        <p:txBody>
          <a:bodyPr wrap="square" lIns="0" tIns="0" rIns="0" bIns="0" anchor="ctr">
            <a:noAutofit/>
          </a:bodyPr>
          <a:lstStyle/>
          <a:p>
            <a:pPr algn="l"/>
            <a:r>
              <a:rPr lang="en-US" sz="1600" b="1" i="0" strike="sngStrike">
                <a:solidFill>
                  <a:schemeClr val="accent2"/>
                </a:solidFill>
              </a:rPr>
              <a:t>Nationality</a:t>
            </a:r>
          </a:p>
        </p:txBody>
      </p:sp>
      <p:sp>
        <p:nvSpPr>
          <p:cNvPr id="26" name="Removed pill Nationality"/>
          <p:cNvSpPr/>
          <p:nvPr/>
        </p:nvSpPr>
        <p:spPr>
          <a:xfrm>
            <a:off x="6492240" y="2889504"/>
            <a:ext cx="1645920" cy="347472"/>
          </a:xfrm>
          <a:prstGeom prst="roundRect">
            <a:avLst>
              <a:gd name="adj" fmla="val 13157"/>
            </a:avLst>
          </a:prstGeom>
          <a:noFill/>
          <a:ln w="9525">
            <a:solidFill>
              <a:schemeClr val="accent2"/>
            </a:solidFill>
            <a:prstDash val="dash"/>
          </a:ln>
        </p:spPr>
        <p:txBody>
          <a:bodyPr rtlCol="0" anchor="ctr"/>
          <a:lstStyle/>
          <a:p>
            <a:pPr algn="ctr"/>
            <a:endParaRPr/>
          </a:p>
        </p:txBody>
      </p:sp>
      <p:sp>
        <p:nvSpPr>
          <p:cNvPr id="27" name="Removed text Nationality"/>
          <p:cNvSpPr txBox="1"/>
          <p:nvPr/>
        </p:nvSpPr>
        <p:spPr>
          <a:xfrm>
            <a:off x="6492240" y="2889504"/>
            <a:ext cx="1645920" cy="347472"/>
          </a:xfrm>
          <a:prstGeom prst="rect">
            <a:avLst/>
          </a:prstGeom>
          <a:noFill/>
        </p:spPr>
        <p:txBody>
          <a:bodyPr wrap="square" lIns="0" tIns="0" rIns="0" bIns="0" anchor="ctr">
            <a:noAutofit/>
          </a:bodyPr>
          <a:lstStyle/>
          <a:p>
            <a:pPr algn="ctr"/>
            <a:r>
              <a:rPr lang="en-US" sz="1200" b="0" i="1">
                <a:solidFill>
                  <a:schemeClr val="accent2"/>
                </a:solidFill>
              </a:rPr>
              <a:t>removed</a:t>
            </a:r>
          </a:p>
        </p:txBody>
      </p:sp>
      <p:pic>
        <p:nvPicPr>
          <p:cNvPr id="28" name="Arrow 2" descr="Arrow"/>
          <p:cNvPicPr>
            <a:picLocks noChangeAspect="1"/>
          </p:cNvPicPr>
          <p:nvPr/>
        </p:nvPicPr>
        <p:blipFill>
          <a:blip r:embed="rId5"/>
          <a:stretch>
            <a:fillRect/>
          </a:stretch>
        </p:blipFill>
        <p:spPr>
          <a:xfrm>
            <a:off x="8567928" y="2350008"/>
            <a:ext cx="237744" cy="237744"/>
          </a:xfrm>
          <a:prstGeom prst="rect">
            <a:avLst/>
          </a:prstGeom>
        </p:spPr>
      </p:pic>
      <p:sp>
        <p:nvSpPr>
          <p:cNvPr id="29" name="Model blind circle"/>
          <p:cNvSpPr/>
          <p:nvPr/>
        </p:nvSpPr>
        <p:spPr>
          <a:xfrm>
            <a:off x="9006840" y="214884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30" name="Model blind icon"/>
          <p:cNvPicPr>
            <a:picLocks noChangeAspect="1"/>
          </p:cNvPicPr>
          <p:nvPr/>
        </p:nvPicPr>
        <p:blipFill>
          <a:blip r:embed="rId6"/>
          <a:stretch>
            <a:fillRect/>
          </a:stretch>
        </p:blipFill>
        <p:spPr>
          <a:xfrm>
            <a:off x="9162288" y="2304288"/>
            <a:ext cx="329184" cy="329184"/>
          </a:xfrm>
          <a:prstGeom prst="rect">
            <a:avLst/>
          </a:prstGeom>
        </p:spPr>
      </p:pic>
      <p:sp>
        <p:nvSpPr>
          <p:cNvPr id="31" name="Model blind text"/>
          <p:cNvSpPr txBox="1"/>
          <p:nvPr/>
        </p:nvSpPr>
        <p:spPr>
          <a:xfrm>
            <a:off x="9802368" y="1874519"/>
            <a:ext cx="1645920" cy="1188720"/>
          </a:xfrm>
          <a:prstGeom prst="rect">
            <a:avLst/>
          </a:prstGeom>
          <a:noFill/>
        </p:spPr>
        <p:txBody>
          <a:bodyPr wrap="square" lIns="0" tIns="0" rIns="0" bIns="0" anchor="ctr">
            <a:noAutofit/>
          </a:bodyPr>
          <a:lstStyle/>
          <a:p>
            <a:pPr algn="l"/>
            <a:r>
              <a:rPr lang="en-US" sz="1600" b="1" i="0">
                <a:solidFill>
                  <a:schemeClr val="tx1"/>
                </a:solidFill>
                <a:latin typeface="Cambria"/>
              </a:rPr>
              <a:t>The model never sees them</a:t>
            </a:r>
          </a:p>
        </p:txBody>
      </p:sp>
      <p:sp>
        <p:nvSpPr>
          <p:cNvPr id="32" name="Visa band"/>
          <p:cNvSpPr/>
          <p:nvPr/>
        </p:nvSpPr>
        <p:spPr>
          <a:xfrm>
            <a:off x="548640" y="3730752"/>
            <a:ext cx="11091672" cy="1554480"/>
          </a:xfrm>
          <a:prstGeom prst="roundRect">
            <a:avLst>
              <a:gd name="adj" fmla="val 7058"/>
            </a:avLst>
          </a:prstGeom>
          <a:solidFill>
            <a:schemeClr val="tx1"/>
          </a:solidFill>
          <a:ln w="12700">
            <a:solidFill>
              <a:schemeClr val="tx1"/>
            </a:solidFill>
          </a:ln>
        </p:spPr>
        <p:txBody>
          <a:bodyPr rtlCol="0" anchor="ctr"/>
          <a:lstStyle/>
          <a:p>
            <a:pPr algn="ctr"/>
            <a:endParaRPr/>
          </a:p>
        </p:txBody>
      </p:sp>
      <p:sp>
        <p:nvSpPr>
          <p:cNvPr id="33" name="Visa tile"/>
          <p:cNvSpPr/>
          <p:nvPr/>
        </p:nvSpPr>
        <p:spPr>
          <a:xfrm>
            <a:off x="822960" y="3931920"/>
            <a:ext cx="3017520" cy="1152144"/>
          </a:xfrm>
          <a:prstGeom prst="roundRect">
            <a:avLst>
              <a:gd name="adj" fmla="val 9523"/>
            </a:avLst>
          </a:prstGeom>
          <a:solidFill>
            <a:schemeClr val="bg1"/>
          </a:solidFill>
          <a:ln w="12700">
            <a:solidFill>
              <a:schemeClr val="bg1"/>
            </a:solidFill>
          </a:ln>
        </p:spPr>
        <p:txBody>
          <a:bodyPr rtlCol="0" anchor="ctr"/>
          <a:lstStyle/>
          <a:p>
            <a:pPr algn="ctr"/>
            <a:endParaRPr/>
          </a:p>
        </p:txBody>
      </p:sp>
      <p:sp>
        <p:nvSpPr>
          <p:cNvPr id="34" name="Visa circle"/>
          <p:cNvSpPr/>
          <p:nvPr/>
        </p:nvSpPr>
        <p:spPr>
          <a:xfrm>
            <a:off x="1024128" y="4187952"/>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35" name="Visa icon"/>
          <p:cNvPicPr>
            <a:picLocks noChangeAspect="1"/>
          </p:cNvPicPr>
          <p:nvPr/>
        </p:nvPicPr>
        <p:blipFill>
          <a:blip r:embed="rId7"/>
          <a:stretch>
            <a:fillRect/>
          </a:stretch>
        </p:blipFill>
        <p:spPr>
          <a:xfrm>
            <a:off x="1179576" y="4343400"/>
            <a:ext cx="329184" cy="329184"/>
          </a:xfrm>
          <a:prstGeom prst="rect">
            <a:avLst/>
          </a:prstGeom>
        </p:spPr>
      </p:pic>
      <p:sp>
        <p:nvSpPr>
          <p:cNvPr id="36" name="Visa label"/>
          <p:cNvSpPr txBox="1"/>
          <p:nvPr/>
        </p:nvSpPr>
        <p:spPr>
          <a:xfrm>
            <a:off x="1828800" y="3931920"/>
            <a:ext cx="1097280" cy="1152144"/>
          </a:xfrm>
          <a:prstGeom prst="rect">
            <a:avLst/>
          </a:prstGeom>
          <a:noFill/>
        </p:spPr>
        <p:txBody>
          <a:bodyPr wrap="square" lIns="0" tIns="0" rIns="0" bIns="0" anchor="ctr">
            <a:noAutofit/>
          </a:bodyPr>
          <a:lstStyle/>
          <a:p>
            <a:pPr algn="l"/>
            <a:r>
              <a:rPr lang="en-US" sz="2200" b="1" i="0">
                <a:solidFill>
                  <a:schemeClr val="tx1"/>
                </a:solidFill>
                <a:latin typeface="Cambria"/>
              </a:rPr>
              <a:t>Visa</a:t>
            </a:r>
          </a:p>
        </p:txBody>
      </p:sp>
      <p:sp>
        <p:nvSpPr>
          <p:cNvPr id="37" name="Visa check circle"/>
          <p:cNvSpPr/>
          <p:nvPr/>
        </p:nvSpPr>
        <p:spPr>
          <a:xfrm>
            <a:off x="3035808" y="4233672"/>
            <a:ext cx="548640" cy="548640"/>
          </a:xfrm>
          <a:prstGeom prst="ellipse">
            <a:avLst/>
          </a:prstGeom>
          <a:solidFill>
            <a:schemeClr val="accent6"/>
          </a:solidFill>
          <a:ln w="12700">
            <a:solidFill>
              <a:schemeClr val="accent6"/>
            </a:solidFill>
          </a:ln>
        </p:spPr>
        <p:txBody>
          <a:bodyPr rtlCol="0" anchor="ctr"/>
          <a:lstStyle/>
          <a:p>
            <a:pPr algn="ctr"/>
            <a:endParaRPr/>
          </a:p>
        </p:txBody>
      </p:sp>
      <p:pic>
        <p:nvPicPr>
          <p:cNvPr id="38" name="Visa check" descr="Check mark"/>
          <p:cNvPicPr>
            <a:picLocks noChangeAspect="1"/>
          </p:cNvPicPr>
          <p:nvPr/>
        </p:nvPicPr>
        <p:blipFill>
          <a:blip r:embed="rId8"/>
          <a:stretch>
            <a:fillRect/>
          </a:stretch>
        </p:blipFill>
        <p:spPr>
          <a:xfrm>
            <a:off x="3172968" y="4370832"/>
            <a:ext cx="274320" cy="274320"/>
          </a:xfrm>
          <a:prstGeom prst="rect">
            <a:avLst/>
          </a:prstGeom>
        </p:spPr>
      </p:pic>
      <p:pic>
        <p:nvPicPr>
          <p:cNvPr id="39" name="Arrow 3" descr="Arrow"/>
          <p:cNvPicPr>
            <a:picLocks noChangeAspect="1"/>
          </p:cNvPicPr>
          <p:nvPr/>
        </p:nvPicPr>
        <p:blipFill>
          <a:blip r:embed="rId5"/>
          <a:stretch>
            <a:fillRect/>
          </a:stretch>
        </p:blipFill>
        <p:spPr>
          <a:xfrm>
            <a:off x="4041648" y="4389120"/>
            <a:ext cx="237744" cy="237744"/>
          </a:xfrm>
          <a:prstGeom prst="rect">
            <a:avLst/>
          </a:prstGeom>
        </p:spPr>
      </p:pic>
      <p:sp>
        <p:nvSpPr>
          <p:cNvPr id="40" name="Form card"/>
          <p:cNvSpPr/>
          <p:nvPr/>
        </p:nvSpPr>
        <p:spPr>
          <a:xfrm>
            <a:off x="4480560" y="3931920"/>
            <a:ext cx="3886200" cy="1152144"/>
          </a:xfrm>
          <a:prstGeom prst="roundRect">
            <a:avLst>
              <a:gd name="adj" fmla="val 9523"/>
            </a:avLst>
          </a:prstGeom>
          <a:solidFill>
            <a:schemeClr val="bg1"/>
          </a:solidFill>
          <a:ln w="12700">
            <a:solidFill>
              <a:schemeClr val="bg1"/>
            </a:solidFill>
          </a:ln>
        </p:spPr>
        <p:txBody>
          <a:bodyPr rtlCol="0" anchor="ctr"/>
          <a:lstStyle/>
          <a:p>
            <a:pPr algn="ctr"/>
            <a:endParaRPr/>
          </a:p>
        </p:txBody>
      </p:sp>
      <p:sp>
        <p:nvSpPr>
          <p:cNvPr id="41" name="Form kicker"/>
          <p:cNvSpPr txBox="1"/>
          <p:nvPr/>
        </p:nvSpPr>
        <p:spPr>
          <a:xfrm>
            <a:off x="4709160" y="4041648"/>
            <a:ext cx="3474720" cy="292608"/>
          </a:xfrm>
          <a:prstGeom prst="rect">
            <a:avLst/>
          </a:prstGeom>
          <a:noFill/>
        </p:spPr>
        <p:txBody>
          <a:bodyPr wrap="square" lIns="0" tIns="0" rIns="0" bIns="0" anchor="ctr">
            <a:noAutofit/>
          </a:bodyPr>
          <a:lstStyle/>
          <a:p>
            <a:pPr algn="l"/>
            <a:r>
              <a:rPr lang="en-US" sz="1000" b="1" i="0" spc="300">
                <a:solidFill>
                  <a:schemeClr val="tx2"/>
                </a:solidFill>
              </a:rPr>
              <a:t>VISA APPLICATION FORM</a:t>
            </a:r>
          </a:p>
        </p:txBody>
      </p:sp>
      <p:sp>
        <p:nvSpPr>
          <p:cNvPr id="42" name="Form field"/>
          <p:cNvSpPr txBox="1"/>
          <p:nvPr/>
        </p:nvSpPr>
        <p:spPr>
          <a:xfrm>
            <a:off x="4709160" y="4443984"/>
            <a:ext cx="1691640" cy="402336"/>
          </a:xfrm>
          <a:prstGeom prst="rect">
            <a:avLst/>
          </a:prstGeom>
          <a:noFill/>
        </p:spPr>
        <p:txBody>
          <a:bodyPr wrap="square" lIns="0" tIns="0" rIns="0" bIns="0" anchor="ctr">
            <a:noAutofit/>
          </a:bodyPr>
          <a:lstStyle/>
          <a:p>
            <a:pPr algn="l"/>
            <a:r>
              <a:rPr lang="en-US" sz="1600" b="1" i="0">
                <a:solidFill>
                  <a:schemeClr val="tx1"/>
                </a:solidFill>
              </a:rPr>
              <a:t>Nationality</a:t>
            </a:r>
          </a:p>
        </p:txBody>
      </p:sp>
      <p:sp>
        <p:nvSpPr>
          <p:cNvPr id="43" name="Form value box"/>
          <p:cNvSpPr/>
          <p:nvPr/>
        </p:nvSpPr>
        <p:spPr>
          <a:xfrm>
            <a:off x="6492240" y="4443984"/>
            <a:ext cx="1645920" cy="402336"/>
          </a:xfrm>
          <a:prstGeom prst="roundRect">
            <a:avLst>
              <a:gd name="adj" fmla="val 11363"/>
            </a:avLst>
          </a:prstGeom>
          <a:solidFill>
            <a:schemeClr val="bg2"/>
          </a:solidFill>
          <a:ln w="12700">
            <a:solidFill>
              <a:schemeClr val="accent5"/>
            </a:solidFill>
          </a:ln>
        </p:spPr>
        <p:txBody>
          <a:bodyPr rtlCol="0" anchor="ctr"/>
          <a:lstStyle/>
          <a:p>
            <a:pPr algn="ctr"/>
            <a:endParaRPr/>
          </a:p>
        </p:txBody>
      </p:sp>
      <p:sp>
        <p:nvSpPr>
          <p:cNvPr id="44" name="Form value"/>
          <p:cNvSpPr txBox="1"/>
          <p:nvPr/>
        </p:nvSpPr>
        <p:spPr>
          <a:xfrm>
            <a:off x="6492240" y="4443984"/>
            <a:ext cx="1645920" cy="402336"/>
          </a:xfrm>
          <a:prstGeom prst="rect">
            <a:avLst/>
          </a:prstGeom>
          <a:noFill/>
        </p:spPr>
        <p:txBody>
          <a:bodyPr wrap="square" lIns="0" tIns="0" rIns="0" bIns="0" anchor="ctr">
            <a:noAutofit/>
          </a:bodyPr>
          <a:lstStyle/>
          <a:p>
            <a:pPr algn="ctr"/>
            <a:r>
              <a:rPr lang="en-US" sz="1400" b="1" i="0">
                <a:solidFill>
                  <a:schemeClr val="tx1"/>
                </a:solidFill>
              </a:rPr>
              <a:t>Syrian</a:t>
            </a:r>
          </a:p>
        </p:txBody>
      </p:sp>
      <p:pic>
        <p:nvPicPr>
          <p:cNvPr id="45" name="Arrow 4" descr="Arrow"/>
          <p:cNvPicPr>
            <a:picLocks noChangeAspect="1"/>
          </p:cNvPicPr>
          <p:nvPr/>
        </p:nvPicPr>
        <p:blipFill>
          <a:blip r:embed="rId5"/>
          <a:stretch>
            <a:fillRect/>
          </a:stretch>
        </p:blipFill>
        <p:spPr>
          <a:xfrm>
            <a:off x="8567928" y="4389120"/>
            <a:ext cx="237744" cy="237744"/>
          </a:xfrm>
          <a:prstGeom prst="rect">
            <a:avLst/>
          </a:prstGeom>
        </p:spPr>
      </p:pic>
      <p:sp>
        <p:nvSpPr>
          <p:cNvPr id="46" name="Model sees circle"/>
          <p:cNvSpPr/>
          <p:nvPr/>
        </p:nvSpPr>
        <p:spPr>
          <a:xfrm>
            <a:off x="9006840" y="4187952"/>
            <a:ext cx="640080" cy="640080"/>
          </a:xfrm>
          <a:prstGeom prst="ellipse">
            <a:avLst/>
          </a:prstGeom>
          <a:solidFill>
            <a:schemeClr val="accent1"/>
          </a:solidFill>
          <a:ln w="12700">
            <a:solidFill>
              <a:schemeClr val="accent1"/>
            </a:solidFill>
          </a:ln>
        </p:spPr>
        <p:txBody>
          <a:bodyPr rtlCol="0" anchor="ctr"/>
          <a:lstStyle/>
          <a:p>
            <a:pPr algn="ctr"/>
            <a:endParaRPr/>
          </a:p>
        </p:txBody>
      </p:sp>
      <p:pic>
        <p:nvPicPr>
          <p:cNvPr id="47" name="Model sees icon"/>
          <p:cNvPicPr>
            <a:picLocks noChangeAspect="1"/>
          </p:cNvPicPr>
          <p:nvPr/>
        </p:nvPicPr>
        <p:blipFill>
          <a:blip r:embed="rId9"/>
          <a:stretch>
            <a:fillRect/>
          </a:stretch>
        </p:blipFill>
        <p:spPr>
          <a:xfrm>
            <a:off x="9162288" y="4343400"/>
            <a:ext cx="329184" cy="329184"/>
          </a:xfrm>
          <a:prstGeom prst="rect">
            <a:avLst/>
          </a:prstGeom>
        </p:spPr>
      </p:pic>
      <p:sp>
        <p:nvSpPr>
          <p:cNvPr id="48" name="Model sees text"/>
          <p:cNvSpPr txBox="1"/>
          <p:nvPr/>
        </p:nvSpPr>
        <p:spPr>
          <a:xfrm>
            <a:off x="9802368" y="3931920"/>
            <a:ext cx="1645920" cy="1152144"/>
          </a:xfrm>
          <a:prstGeom prst="rect">
            <a:avLst/>
          </a:prstGeom>
          <a:noFill/>
        </p:spPr>
        <p:txBody>
          <a:bodyPr wrap="square" lIns="0" tIns="0" rIns="0" bIns="0" anchor="ctr">
            <a:noAutofit/>
          </a:bodyPr>
          <a:lstStyle/>
          <a:p>
            <a:pPr algn="l"/>
            <a:r>
              <a:rPr lang="en-US" sz="1600" b="1" i="0">
                <a:solidFill>
                  <a:schemeClr val="accent1"/>
                </a:solidFill>
                <a:latin typeface="Cambria"/>
              </a:rPr>
              <a:t>The model always sees it</a:t>
            </a:r>
          </a:p>
        </p:txBody>
      </p:sp>
      <p:sp>
        <p:nvSpPr>
          <p:cNvPr id="49" name="Question"/>
          <p:cNvSpPr txBox="1"/>
          <p:nvPr/>
        </p:nvSpPr>
        <p:spPr>
          <a:xfrm>
            <a:off x="548640" y="5440680"/>
            <a:ext cx="11091672" cy="457200"/>
          </a:xfrm>
          <a:prstGeom prst="rect">
            <a:avLst/>
          </a:prstGeom>
          <a:noFill/>
        </p:spPr>
        <p:txBody>
          <a:bodyPr wrap="square" lIns="0" tIns="0" rIns="0" bIns="0" anchor="ctr">
            <a:noAutofit/>
          </a:bodyPr>
          <a:lstStyle/>
          <a:p>
            <a:pPr algn="l"/>
            <a:r>
              <a:rPr lang="en-US" sz="2000" b="0" i="1" dirty="0">
                <a:solidFill>
                  <a:schemeClr val="accent3"/>
                </a:solidFill>
              </a:rPr>
              <a:t>No filter can take the passport off a visa application. What does a model do with it?</a:t>
            </a:r>
          </a:p>
        </p:txBody>
      </p:sp>
      <p:sp>
        <p:nvSpPr>
          <p:cNvPr id="50" name="Source"/>
          <p:cNvSpPr txBox="1"/>
          <p:nvPr/>
        </p:nvSpPr>
        <p:spPr>
          <a:xfrm>
            <a:off x="548640" y="5989320"/>
            <a:ext cx="11091672" cy="320040"/>
          </a:xfrm>
          <a:prstGeom prst="rect">
            <a:avLst/>
          </a:prstGeom>
          <a:noFill/>
        </p:spPr>
        <p:txBody>
          <a:bodyPr wrap="square" lIns="0" tIns="0" rIns="0" bIns="0" anchor="ctr">
            <a:noAutofit/>
          </a:bodyPr>
          <a:lstStyle/>
          <a:p>
            <a:pPr algn="l"/>
            <a:r>
              <a:rPr lang="en-US" sz="1000" b="0" i="0">
                <a:solidFill>
                  <a:schemeClr val="tx2"/>
                </a:solidFill>
              </a:rPr>
              <a:t>Example of a redaction tool: Presidio (open source) removes the entities PERSON and NRP, “A person’s Nationality, religious or political group.” Not every hiring pipeline does this: speaker notes.</a:t>
            </a:r>
          </a:p>
        </p:txBody>
      </p:sp>
      <p:sp>
        <p:nvSpPr>
          <p:cNvPr id="5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marL="0" indent="0" algn="r">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txBody>
          <a:bodyPr/>
          <a:lstStyle/>
          <a:p>
            <a:endParaRPr lang="en-DE"/>
          </a:p>
        </p:txBody>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marL="0" indent="0" algn="ctr">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marL="0" indent="0">
              <a:buNone/>
            </a:pPr>
            <a:r>
              <a:rPr lang="en-US" sz="1200" b="1" kern="0" spc="30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marL="0" indent="0" algn="ctr">
              <a:buNone/>
            </a:pPr>
            <a:r>
              <a:rPr lang="en-US" sz="2400" i="1" dirty="0">
                <a:solidFill>
                  <a:schemeClr val="accent1"/>
                </a:solidFill>
              </a:rPr>
              <a:t>Same person on paper, same rules. Why should the answer differ?</a:t>
            </a:r>
            <a:endParaRPr lang="en-US" sz="2400" dirty="0"/>
          </a:p>
        </p:txBody>
      </p:sp>
      <p:sp>
        <p:nvSpPr>
          <p:cNvPr id="6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DC58-F679-A872-D36F-E2147F4A4509}"/>
            </a:ext>
          </a:extLst>
        </p:cNvPr>
        <p:cNvGrpSpPr/>
        <p:nvPr/>
      </p:nvGrpSpPr>
      <p:grpSpPr>
        <a:xfrm>
          <a:off x="0" y="0"/>
          <a:ext cx="0" cy="0"/>
          <a:chOff x="0" y="0"/>
          <a:chExt cx="0" cy="0"/>
        </a:xfrm>
      </p:grpSpPr>
      <p:sp>
        <p:nvSpPr>
          <p:cNvPr id="2" name="Text 2">
            <a:extLst>
              <a:ext uri="{FF2B5EF4-FFF2-40B4-BE49-F238E27FC236}">
                <a16:creationId xmlns:a16="http://schemas.microsoft.com/office/drawing/2014/main" id="{5FEBAF27-9AE1-1325-3AFA-B8DAFAA8E270}"/>
              </a:ext>
            </a:extLst>
          </p:cNvPr>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a:extLst>
              <a:ext uri="{FF2B5EF4-FFF2-40B4-BE49-F238E27FC236}">
                <a16:creationId xmlns:a16="http://schemas.microsoft.com/office/drawing/2014/main" id="{6334A9A2-2480-0816-4995-562DFC9426BD}"/>
              </a:ext>
            </a:extLst>
          </p:cNvPr>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a:extLst>
              <a:ext uri="{FF2B5EF4-FFF2-40B4-BE49-F238E27FC236}">
                <a16:creationId xmlns:a16="http://schemas.microsoft.com/office/drawing/2014/main" id="{6CF2C5DD-3F86-1018-12A6-B3DB42575843}"/>
              </a:ext>
            </a:extLst>
          </p:cNvPr>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a:extLst>
              <a:ext uri="{FF2B5EF4-FFF2-40B4-BE49-F238E27FC236}">
                <a16:creationId xmlns:a16="http://schemas.microsoft.com/office/drawing/2014/main" id="{7D627797-D340-808C-682C-18B2DDA615A8}"/>
              </a:ext>
            </a:extLst>
          </p:cNvPr>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a:extLst>
              <a:ext uri="{FF2B5EF4-FFF2-40B4-BE49-F238E27FC236}">
                <a16:creationId xmlns:a16="http://schemas.microsoft.com/office/drawing/2014/main" id="{40144777-BC28-80C2-BCA9-010A0031A7E0}"/>
              </a:ext>
            </a:extLst>
          </p:cNvPr>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a:extLst>
              <a:ext uri="{FF2B5EF4-FFF2-40B4-BE49-F238E27FC236}">
                <a16:creationId xmlns:a16="http://schemas.microsoft.com/office/drawing/2014/main" id="{035190EA-2764-A441-76F4-8DE150C0582C}"/>
              </a:ext>
            </a:extLst>
          </p:cNvPr>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a:extLst>
              <a:ext uri="{FF2B5EF4-FFF2-40B4-BE49-F238E27FC236}">
                <a16:creationId xmlns:a16="http://schemas.microsoft.com/office/drawing/2014/main" id="{389DE5E6-74A9-490E-955E-5FD40DC54D0F}"/>
              </a:ext>
            </a:extLst>
          </p:cNvPr>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a:extLst>
              <a:ext uri="{FF2B5EF4-FFF2-40B4-BE49-F238E27FC236}">
                <a16:creationId xmlns:a16="http://schemas.microsoft.com/office/drawing/2014/main" id="{448275D3-44FC-7F84-CB69-E9AE1F27BB98}"/>
              </a:ext>
            </a:extLst>
          </p:cNvP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a:extLst>
              <a:ext uri="{FF2B5EF4-FFF2-40B4-BE49-F238E27FC236}">
                <a16:creationId xmlns:a16="http://schemas.microsoft.com/office/drawing/2014/main" id="{2C6D8FB1-E58A-7EBE-8E61-E4E917B84EF0}"/>
              </a:ext>
            </a:extLst>
          </p:cNvPr>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a:extLst>
              <a:ext uri="{FF2B5EF4-FFF2-40B4-BE49-F238E27FC236}">
                <a16:creationId xmlns:a16="http://schemas.microsoft.com/office/drawing/2014/main" id="{CE8B7D0D-AE3C-226A-BBD7-3F70F4C89070}"/>
              </a:ext>
            </a:extLst>
          </p:cNvPr>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a:extLst>
              <a:ext uri="{FF2B5EF4-FFF2-40B4-BE49-F238E27FC236}">
                <a16:creationId xmlns:a16="http://schemas.microsoft.com/office/drawing/2014/main" id="{412A4760-3159-3F34-2C8A-9835777E5DA3}"/>
              </a:ext>
            </a:extLst>
          </p:cNvPr>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a:extLst>
              <a:ext uri="{FF2B5EF4-FFF2-40B4-BE49-F238E27FC236}">
                <a16:creationId xmlns:a16="http://schemas.microsoft.com/office/drawing/2014/main" id="{AE4C3928-7C08-4BC4-954F-A0C8385F6E80}"/>
              </a:ext>
            </a:extLst>
          </p:cNvPr>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a:extLst>
              <a:ext uri="{FF2B5EF4-FFF2-40B4-BE49-F238E27FC236}">
                <a16:creationId xmlns:a16="http://schemas.microsoft.com/office/drawing/2014/main" id="{8FC48E64-3680-0A12-6CCC-E27CA2929808}"/>
              </a:ext>
            </a:extLst>
          </p:cNvPr>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a:extLst>
              <a:ext uri="{FF2B5EF4-FFF2-40B4-BE49-F238E27FC236}">
                <a16:creationId xmlns:a16="http://schemas.microsoft.com/office/drawing/2014/main" id="{9374D742-96DC-FDA4-0F6C-D407F3A6657C}"/>
              </a:ext>
            </a:extLst>
          </p:cNvPr>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a:extLst>
              <a:ext uri="{FF2B5EF4-FFF2-40B4-BE49-F238E27FC236}">
                <a16:creationId xmlns:a16="http://schemas.microsoft.com/office/drawing/2014/main" id="{01C8D44D-FA63-1642-459C-9503F64BE640}"/>
              </a:ext>
            </a:extLst>
          </p:cNvPr>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a:extLst>
              <a:ext uri="{FF2B5EF4-FFF2-40B4-BE49-F238E27FC236}">
                <a16:creationId xmlns:a16="http://schemas.microsoft.com/office/drawing/2014/main" id="{A260C8C7-88B9-B6B4-0A10-410F2D6B1A1A}"/>
              </a:ext>
            </a:extLst>
          </p:cNvPr>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a:extLst>
              <a:ext uri="{FF2B5EF4-FFF2-40B4-BE49-F238E27FC236}">
                <a16:creationId xmlns:a16="http://schemas.microsoft.com/office/drawing/2014/main" id="{378BB6D4-2E92-0FBE-5EBB-C2353FC13791}"/>
              </a:ext>
            </a:extLst>
          </p:cNvPr>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a:extLst>
              <a:ext uri="{FF2B5EF4-FFF2-40B4-BE49-F238E27FC236}">
                <a16:creationId xmlns:a16="http://schemas.microsoft.com/office/drawing/2014/main" id="{58BACC4F-13D1-003E-8748-D8418C924C03}"/>
              </a:ext>
            </a:extLst>
          </p:cNvPr>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a:extLst>
              <a:ext uri="{FF2B5EF4-FFF2-40B4-BE49-F238E27FC236}">
                <a16:creationId xmlns:a16="http://schemas.microsoft.com/office/drawing/2014/main" id="{32FC2D62-CDC5-9B16-B62F-31DC79528E58}"/>
              </a:ext>
            </a:extLst>
          </p:cNvPr>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a:extLst>
              <a:ext uri="{FF2B5EF4-FFF2-40B4-BE49-F238E27FC236}">
                <a16:creationId xmlns:a16="http://schemas.microsoft.com/office/drawing/2014/main" id="{D9B53D73-062F-8F45-A1AB-C735F73EFDD0}"/>
              </a:ext>
            </a:extLst>
          </p:cNvPr>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7683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600" b="1" dirty="0">
                <a:solidFill>
                  <a:schemeClr val="tx1"/>
                </a:solidFill>
              </a:rPr>
              <a:t>Our research questions</a:t>
            </a:r>
            <a:endParaRPr lang="en-US" sz="36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
        <p:nvSpPr>
          <p:cNvPr id="3" name="RQ1 card"/>
          <p:cNvSpPr/>
          <p:nvPr/>
        </p:nvSpPr>
        <p:spPr>
          <a:xfrm>
            <a:off x="548640" y="1417320"/>
            <a:ext cx="5364328" cy="2240280"/>
          </a:xfrm>
          <a:prstGeom prst="roundRect">
            <a:avLst>
              <a:gd name="adj" fmla="val 4898"/>
            </a:avLst>
          </a:prstGeom>
          <a:solidFill>
            <a:schemeClr val="tx1"/>
          </a:solidFill>
          <a:ln w="12700">
            <a:solidFill>
              <a:schemeClr val="tx1"/>
            </a:solidFill>
            <a:prstDash val="solid"/>
          </a:ln>
        </p:spPr>
        <p:txBody>
          <a:bodyPr/>
          <a:lstStyle/>
          <a:p>
            <a:endParaRPr lang="en-DE"/>
          </a:p>
        </p:txBody>
      </p:sp>
      <p:sp>
        <p:nvSpPr>
          <p:cNvPr id="4" name="RQ1 circle"/>
          <p:cNvSpPr/>
          <p:nvPr/>
        </p:nvSpPr>
        <p:spPr>
          <a:xfrm>
            <a:off x="868680" y="1709928"/>
            <a:ext cx="777240" cy="777240"/>
          </a:xfrm>
          <a:prstGeom prst="ellipse">
            <a:avLst/>
          </a:prstGeom>
          <a:solidFill>
            <a:schemeClr val="accent1"/>
          </a:solidFill>
          <a:ln w="12700">
            <a:solidFill>
              <a:schemeClr val="accent1"/>
            </a:solidFill>
            <a:prstDash val="solid"/>
          </a:ln>
        </p:spPr>
        <p:txBody>
          <a:bodyPr/>
          <a:lstStyle/>
          <a:p>
            <a:endParaRPr lang="en-DE"/>
          </a:p>
        </p:txBody>
      </p:sp>
      <p:pic>
        <p:nvPicPr>
          <p:cNvPr id="5" name="RQ1 icon" descr="preencoded.png"/>
          <p:cNvPicPr>
            <a:picLocks noChangeAspect="1"/>
          </p:cNvPicPr>
          <p:nvPr/>
        </p:nvPicPr>
        <p:blipFill>
          <a:blip r:embed="rId3"/>
          <a:stretch>
            <a:fillRect/>
          </a:stretch>
        </p:blipFill>
        <p:spPr>
          <a:xfrm>
            <a:off x="1055218" y="1896466"/>
            <a:ext cx="404165" cy="404165"/>
          </a:xfrm>
          <a:prstGeom prst="rect">
            <a:avLst/>
          </a:prstGeom>
        </p:spPr>
      </p:pic>
      <p:sp>
        <p:nvSpPr>
          <p:cNvPr id="6" name="RQ1 kicker"/>
          <p:cNvSpPr txBox="1"/>
          <p:nvPr/>
        </p:nvSpPr>
        <p:spPr>
          <a:xfrm>
            <a:off x="1874520" y="1691640"/>
            <a:ext cx="3718408" cy="292608"/>
          </a:xfrm>
          <a:prstGeom prst="rect">
            <a:avLst/>
          </a:prstGeom>
          <a:noFill/>
          <a:ln/>
        </p:spPr>
        <p:txBody>
          <a:bodyPr wrap="square" lIns="0" tIns="0" rIns="0" bIns="0" rtlCol="0" anchor="ctr"/>
          <a:lstStyle/>
          <a:p>
            <a:pPr marL="0" indent="0">
              <a:buNone/>
            </a:pPr>
            <a:r>
              <a:rPr lang="en-US" sz="1200" b="1" kern="0" spc="300" dirty="0">
                <a:solidFill>
                  <a:schemeClr val="accent1"/>
                </a:solidFill>
              </a:rPr>
              <a:t>RQ1  ·  FIRST MAIN QUESTION</a:t>
            </a:r>
            <a:endParaRPr lang="en-US" sz="1200" dirty="0"/>
          </a:p>
        </p:txBody>
      </p:sp>
      <p:sp>
        <p:nvSpPr>
          <p:cNvPr id="7" name="RQ1 headline"/>
          <p:cNvSpPr txBox="1"/>
          <p:nvPr/>
        </p:nvSpPr>
        <p:spPr>
          <a:xfrm>
            <a:off x="1874520" y="1984248"/>
            <a:ext cx="3718408"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Do the 22 differ?</a:t>
            </a:r>
            <a:endParaRPr lang="en-US" sz="2800" dirty="0"/>
          </a:p>
        </p:txBody>
      </p:sp>
      <p:sp>
        <p:nvSpPr>
          <p:cNvPr id="8" name="RQ1 text"/>
          <p:cNvSpPr txBox="1"/>
          <p:nvPr/>
        </p:nvSpPr>
        <p:spPr>
          <a:xfrm>
            <a:off x="868680" y="2679192"/>
            <a:ext cx="4724248" cy="868680"/>
          </a:xfrm>
          <a:prstGeom prst="rect">
            <a:avLst/>
          </a:prstGeom>
          <a:noFill/>
          <a:ln/>
        </p:spPr>
        <p:txBody>
          <a:bodyPr wrap="square" lIns="0" tIns="0" rIns="0" bIns="0" rtlCol="0" anchor="t"/>
          <a:lstStyle/>
          <a:p>
            <a:pPr marL="0" indent="0">
              <a:buNone/>
            </a:pPr>
            <a:r>
              <a:rPr lang="en-US" sz="1500" dirty="0">
                <a:solidFill>
                  <a:schemeClr val="accent5"/>
                </a:solidFill>
              </a:rPr>
              <a:t>Do risk ratings and recommendations differ across the 22 Arab League nationalities when the application is identical and the official rules are the same for all of them?</a:t>
            </a:r>
            <a:endParaRPr lang="en-US" sz="1500" dirty="0"/>
          </a:p>
        </p:txBody>
      </p:sp>
      <p:sp>
        <p:nvSpPr>
          <p:cNvPr id="9" name="RQ2 card"/>
          <p:cNvSpPr/>
          <p:nvPr/>
        </p:nvSpPr>
        <p:spPr>
          <a:xfrm>
            <a:off x="6278728" y="1417320"/>
            <a:ext cx="5364328" cy="2240280"/>
          </a:xfrm>
          <a:prstGeom prst="roundRect">
            <a:avLst>
              <a:gd name="adj" fmla="val 4898"/>
            </a:avLst>
          </a:prstGeom>
          <a:solidFill>
            <a:schemeClr val="tx1"/>
          </a:solidFill>
          <a:ln w="12700">
            <a:solidFill>
              <a:schemeClr val="tx1"/>
            </a:solidFill>
            <a:prstDash val="solid"/>
          </a:ln>
        </p:spPr>
        <p:txBody>
          <a:bodyPr/>
          <a:lstStyle/>
          <a:p>
            <a:endParaRPr lang="en-DE"/>
          </a:p>
        </p:txBody>
      </p:sp>
      <p:sp>
        <p:nvSpPr>
          <p:cNvPr id="10" name="RQ2 circle"/>
          <p:cNvSpPr/>
          <p:nvPr/>
        </p:nvSpPr>
        <p:spPr>
          <a:xfrm>
            <a:off x="6598768" y="1709928"/>
            <a:ext cx="777240" cy="777240"/>
          </a:xfrm>
          <a:prstGeom prst="ellipse">
            <a:avLst/>
          </a:prstGeom>
          <a:solidFill>
            <a:schemeClr val="accent1"/>
          </a:solidFill>
          <a:ln w="12700">
            <a:solidFill>
              <a:schemeClr val="accent1"/>
            </a:solidFill>
            <a:prstDash val="solid"/>
          </a:ln>
        </p:spPr>
        <p:txBody>
          <a:bodyPr/>
          <a:lstStyle/>
          <a:p>
            <a:endParaRPr lang="en-DE"/>
          </a:p>
        </p:txBody>
      </p:sp>
      <p:pic>
        <p:nvPicPr>
          <p:cNvPr id="11" name="RQ2 icon" descr="preencoded.png"/>
          <p:cNvPicPr>
            <a:picLocks noChangeAspect="1"/>
          </p:cNvPicPr>
          <p:nvPr/>
        </p:nvPicPr>
        <p:blipFill>
          <a:blip r:embed="rId4"/>
          <a:stretch>
            <a:fillRect/>
          </a:stretch>
        </p:blipFill>
        <p:spPr>
          <a:xfrm>
            <a:off x="6785305" y="1896466"/>
            <a:ext cx="404165" cy="404165"/>
          </a:xfrm>
          <a:prstGeom prst="rect">
            <a:avLst/>
          </a:prstGeom>
        </p:spPr>
      </p:pic>
      <p:sp>
        <p:nvSpPr>
          <p:cNvPr id="12" name="RQ2 kicker"/>
          <p:cNvSpPr txBox="1"/>
          <p:nvPr/>
        </p:nvSpPr>
        <p:spPr>
          <a:xfrm>
            <a:off x="7604608" y="1691640"/>
            <a:ext cx="3718408" cy="292608"/>
          </a:xfrm>
          <a:prstGeom prst="rect">
            <a:avLst/>
          </a:prstGeom>
          <a:noFill/>
          <a:ln/>
        </p:spPr>
        <p:txBody>
          <a:bodyPr wrap="square" lIns="0" tIns="0" rIns="0" bIns="0" rtlCol="0" anchor="ctr"/>
          <a:lstStyle/>
          <a:p>
            <a:pPr marL="0" indent="0">
              <a:buNone/>
            </a:pPr>
            <a:r>
              <a:rPr lang="en-US" sz="1200" b="1" kern="0" spc="300" dirty="0">
                <a:solidFill>
                  <a:schemeClr val="accent1"/>
                </a:solidFill>
              </a:rPr>
              <a:t>RQ2  ·  SECOND MAIN QUESTION</a:t>
            </a:r>
            <a:endParaRPr lang="en-US" sz="1200" dirty="0"/>
          </a:p>
        </p:txBody>
      </p:sp>
      <p:sp>
        <p:nvSpPr>
          <p:cNvPr id="13" name="RQ2 headline"/>
          <p:cNvSpPr txBox="1"/>
          <p:nvPr/>
        </p:nvSpPr>
        <p:spPr>
          <a:xfrm>
            <a:off x="7604608" y="1984248"/>
            <a:ext cx="3718408"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Rich, normal, poor?</a:t>
            </a:r>
            <a:endParaRPr lang="en-US" sz="2800" dirty="0"/>
          </a:p>
        </p:txBody>
      </p:sp>
      <p:sp>
        <p:nvSpPr>
          <p:cNvPr id="14" name="RQ2 text"/>
          <p:cNvSpPr txBox="1"/>
          <p:nvPr/>
        </p:nvSpPr>
        <p:spPr>
          <a:xfrm>
            <a:off x="6598768" y="2679192"/>
            <a:ext cx="4724248" cy="868680"/>
          </a:xfrm>
          <a:prstGeom prst="rect">
            <a:avLst/>
          </a:prstGeom>
          <a:noFill/>
          <a:ln/>
        </p:spPr>
        <p:txBody>
          <a:bodyPr wrap="square" lIns="0" tIns="0" rIns="0" bIns="0" rtlCol="0" anchor="t"/>
          <a:lstStyle/>
          <a:p>
            <a:pPr marL="0" indent="0">
              <a:buNone/>
            </a:pPr>
            <a:r>
              <a:rPr lang="en-US" sz="1500" dirty="0">
                <a:solidFill>
                  <a:schemeClr val="accent5"/>
                </a:solidFill>
              </a:rPr>
              <a:t>Can the 22 countries be grouped into rich, normal and poor by how the models rate them?</a:t>
            </a:r>
            <a:endParaRPr lang="en-US" sz="1500" dirty="0"/>
          </a:p>
        </p:txBody>
      </p:sp>
      <p:sp>
        <p:nvSpPr>
          <p:cNvPr id="15" name="RQ3 card"/>
          <p:cNvSpPr/>
          <p:nvPr/>
        </p:nvSpPr>
        <p:spPr>
          <a:xfrm>
            <a:off x="548640" y="3886200"/>
            <a:ext cx="5364328" cy="1417320"/>
          </a:xfrm>
          <a:prstGeom prst="roundRect">
            <a:avLst>
              <a:gd name="adj" fmla="val 7742"/>
            </a:avLst>
          </a:prstGeom>
          <a:solidFill>
            <a:schemeClr val="bg2"/>
          </a:solidFill>
          <a:ln w="12700">
            <a:solidFill>
              <a:schemeClr val="bg2"/>
            </a:solidFill>
            <a:prstDash val="solid"/>
          </a:ln>
        </p:spPr>
        <p:txBody>
          <a:bodyPr/>
          <a:lstStyle/>
          <a:p>
            <a:endParaRPr lang="en-DE"/>
          </a:p>
        </p:txBody>
      </p:sp>
      <p:sp>
        <p:nvSpPr>
          <p:cNvPr id="16" name="RQ3 circle"/>
          <p:cNvSpPr/>
          <p:nvPr/>
        </p:nvSpPr>
        <p:spPr>
          <a:xfrm>
            <a:off x="868680" y="427482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RQ3 icon" descr="preencoded.png"/>
          <p:cNvPicPr>
            <a:picLocks noChangeAspect="1"/>
          </p:cNvPicPr>
          <p:nvPr/>
        </p:nvPicPr>
        <p:blipFill>
          <a:blip r:embed="rId5"/>
          <a:stretch>
            <a:fillRect/>
          </a:stretch>
        </p:blipFill>
        <p:spPr>
          <a:xfrm>
            <a:off x="1022299" y="4428439"/>
            <a:ext cx="332842" cy="332842"/>
          </a:xfrm>
          <a:prstGeom prst="rect">
            <a:avLst/>
          </a:prstGeom>
        </p:spPr>
      </p:pic>
      <p:sp>
        <p:nvSpPr>
          <p:cNvPr id="18" name="RQ3 text"/>
          <p:cNvSpPr txBox="1"/>
          <p:nvPr/>
        </p:nvSpPr>
        <p:spPr>
          <a:xfrm>
            <a:off x="1737360" y="3886200"/>
            <a:ext cx="3901288" cy="1417320"/>
          </a:xfrm>
          <a:prstGeom prst="rect">
            <a:avLst/>
          </a:prstGeom>
          <a:noFill/>
          <a:ln/>
        </p:spPr>
        <p:txBody>
          <a:bodyPr wrap="square" lIns="0" tIns="0" rIns="0" bIns="0" rtlCol="0" anchor="ctr"/>
          <a:lstStyle/>
          <a:p>
            <a:pPr marL="0" indent="0">
              <a:buNone/>
            </a:pPr>
            <a:r>
              <a:rPr lang="en-US" sz="1200" b="1" kern="0" spc="300" dirty="0">
                <a:solidFill>
                  <a:schemeClr val="tx2"/>
                </a:solidFill>
              </a:rPr>
              <a:t>RQ3</a:t>
            </a:r>
            <a:endParaRPr lang="en-US" sz="1200" dirty="0"/>
          </a:p>
          <a:p>
            <a:pPr marL="0" indent="0">
              <a:buNone/>
            </a:pPr>
            <a:r>
              <a:rPr lang="en-US" sz="2000" b="1" dirty="0">
                <a:solidFill>
                  <a:schemeClr val="tx1"/>
                </a:solidFill>
                <a:latin typeface="Cambria" pitchFamily="34" charset="0"/>
                <a:ea typeface="Cambria" pitchFamily="34" charset="-122"/>
                <a:cs typeface="Cambria" pitchFamily="34" charset="-120"/>
              </a:rPr>
              <a:t>Does telling the model help?</a:t>
            </a:r>
            <a:endParaRPr lang="en-US" sz="1200" dirty="0"/>
          </a:p>
          <a:p>
            <a:pPr marL="0" indent="0">
              <a:buNone/>
            </a:pPr>
            <a:r>
              <a:rPr lang="en-US" sz="1400" dirty="0">
                <a:solidFill>
                  <a:schemeClr val="tx2"/>
                </a:solidFill>
              </a:rPr>
              <a:t>Do the differences remain when the guidance states that nationality is not a ground for a higher rating?</a:t>
            </a:r>
            <a:endParaRPr lang="en-US" sz="1200" dirty="0"/>
          </a:p>
        </p:txBody>
      </p:sp>
      <p:sp>
        <p:nvSpPr>
          <p:cNvPr id="19" name="RQ4 card"/>
          <p:cNvSpPr/>
          <p:nvPr/>
        </p:nvSpPr>
        <p:spPr>
          <a:xfrm>
            <a:off x="6278728" y="3886200"/>
            <a:ext cx="5364328" cy="1417320"/>
          </a:xfrm>
          <a:prstGeom prst="roundRect">
            <a:avLst>
              <a:gd name="adj" fmla="val 7742"/>
            </a:avLst>
          </a:prstGeom>
          <a:solidFill>
            <a:schemeClr val="bg2"/>
          </a:solidFill>
          <a:ln w="12700">
            <a:solidFill>
              <a:schemeClr val="bg2"/>
            </a:solidFill>
            <a:prstDash val="solid"/>
          </a:ln>
        </p:spPr>
        <p:txBody>
          <a:bodyPr/>
          <a:lstStyle/>
          <a:p>
            <a:endParaRPr lang="en-DE"/>
          </a:p>
        </p:txBody>
      </p:sp>
      <p:sp>
        <p:nvSpPr>
          <p:cNvPr id="20" name="RQ4 circle"/>
          <p:cNvSpPr/>
          <p:nvPr/>
        </p:nvSpPr>
        <p:spPr>
          <a:xfrm>
            <a:off x="6598768" y="4274820"/>
            <a:ext cx="640080" cy="640080"/>
          </a:xfrm>
          <a:prstGeom prst="ellipse">
            <a:avLst/>
          </a:prstGeom>
          <a:solidFill>
            <a:schemeClr val="tx1"/>
          </a:solidFill>
          <a:ln w="12700">
            <a:solidFill>
              <a:schemeClr val="tx1"/>
            </a:solidFill>
            <a:prstDash val="solid"/>
          </a:ln>
        </p:spPr>
        <p:txBody>
          <a:bodyPr/>
          <a:lstStyle/>
          <a:p>
            <a:endParaRPr lang="en-DE"/>
          </a:p>
        </p:txBody>
      </p:sp>
      <p:pic>
        <p:nvPicPr>
          <p:cNvPr id="21" name="RQ4 icon" descr="preencoded.png"/>
          <p:cNvPicPr>
            <a:picLocks noChangeAspect="1"/>
          </p:cNvPicPr>
          <p:nvPr/>
        </p:nvPicPr>
        <p:blipFill>
          <a:blip r:embed="rId6"/>
          <a:stretch>
            <a:fillRect/>
          </a:stretch>
        </p:blipFill>
        <p:spPr>
          <a:xfrm>
            <a:off x="6752387" y="4428439"/>
            <a:ext cx="332842" cy="332842"/>
          </a:xfrm>
          <a:prstGeom prst="rect">
            <a:avLst/>
          </a:prstGeom>
        </p:spPr>
      </p:pic>
      <p:sp>
        <p:nvSpPr>
          <p:cNvPr id="22" name="RQ4 text"/>
          <p:cNvSpPr txBox="1"/>
          <p:nvPr/>
        </p:nvSpPr>
        <p:spPr>
          <a:xfrm>
            <a:off x="7467448" y="3886200"/>
            <a:ext cx="3901288" cy="1417320"/>
          </a:xfrm>
          <a:prstGeom prst="rect">
            <a:avLst/>
          </a:prstGeom>
          <a:noFill/>
          <a:ln/>
        </p:spPr>
        <p:txBody>
          <a:bodyPr wrap="square" lIns="0" tIns="0" rIns="0" bIns="0" rtlCol="0" anchor="ctr"/>
          <a:lstStyle/>
          <a:p>
            <a:pPr marL="0" indent="0">
              <a:buNone/>
            </a:pPr>
            <a:r>
              <a:rPr lang="en-US" sz="1200" b="1" kern="0" spc="300" dirty="0">
                <a:solidFill>
                  <a:schemeClr val="tx2"/>
                </a:solidFill>
              </a:rPr>
              <a:t>RQ4</a:t>
            </a:r>
            <a:endParaRPr lang="en-US" sz="1200" dirty="0"/>
          </a:p>
          <a:p>
            <a:pPr marL="0" indent="0">
              <a:buNone/>
            </a:pPr>
            <a:r>
              <a:rPr lang="en-US" sz="2000" b="1" dirty="0">
                <a:solidFill>
                  <a:schemeClr val="tx1"/>
                </a:solidFill>
                <a:latin typeface="Cambria" pitchFamily="34" charset="0"/>
                <a:ea typeface="Cambria" pitchFamily="34" charset="-122"/>
                <a:cs typeface="Cambria" pitchFamily="34" charset="-120"/>
              </a:rPr>
              <a:t>What does it cost?</a:t>
            </a:r>
            <a:endParaRPr lang="en-US" sz="1200" dirty="0"/>
          </a:p>
          <a:p>
            <a:pPr marL="0" indent="0">
              <a:buNone/>
            </a:pPr>
            <a:r>
              <a:rPr lang="en-US" sz="1400" dirty="0">
                <a:solidFill>
                  <a:schemeClr val="tx2"/>
                </a:solidFill>
              </a:rPr>
              <a:t>What would the differences cost an applicant: in the savings needed to make up for them, in fees and in extra checks?</a:t>
            </a:r>
            <a:endParaRPr lang="en-US" sz="1200" dirty="0"/>
          </a:p>
        </p:txBody>
      </p:sp>
      <p:sp>
        <p:nvSpPr>
          <p:cNvPr id="23"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Each question is answered for four open language models.</a:t>
            </a:r>
            <a:endParaRPr lang="en-US" sz="2000" dirty="0"/>
          </a:p>
        </p:txBody>
      </p:sp>
      <p:sp>
        <p:nvSpPr>
          <p:cNvPr id="24"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Destination: Australian visitor visa (subclass 600). All applicants are invented. No model has been run yet.</a:t>
            </a:r>
            <a:endParaRPr lang="en-US" sz="1000" dirty="0"/>
          </a:p>
        </p:txBody>
      </p:sp>
    </p:spTree>
    <p:extLst>
      <p:ext uri="{BB962C8B-B14F-4D97-AF65-F5344CB8AC3E}">
        <p14:creationId xmlns:p14="http://schemas.microsoft.com/office/powerpoint/2010/main" val="1071560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txBody>
          <a:bodyPr/>
          <a:lstStyle/>
          <a:p>
            <a:endParaRPr lang="en-DE"/>
          </a:p>
        </p:txBody>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marL="0" indent="0" algn="ctr">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txBody>
          <a:bodyPr/>
          <a:lstStyle/>
          <a:p>
            <a:endParaRPr lang="en-DE"/>
          </a:p>
        </p:txBody>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txBody>
          <a:bodyPr/>
          <a:lstStyle/>
          <a:p>
            <a:endParaRPr lang="en-DE"/>
          </a:p>
        </p:txBody>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txBody>
          <a:bodyPr/>
          <a:lstStyle/>
          <a:p>
            <a:endParaRPr lang="en-DE"/>
          </a:p>
        </p:txBody>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marL="0" indent="0" algn="ctr">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txBody>
          <a:bodyPr/>
          <a:lstStyle/>
          <a:p>
            <a:endParaRPr lang="en-DE"/>
          </a:p>
        </p:txBody>
      </p:sp>
      <p:sp>
        <p:nvSpPr>
          <p:cNvPr id="25" name="Date line 1"/>
          <p:cNvSpPr/>
          <p:nvPr/>
        </p:nvSpPr>
        <p:spPr>
          <a:xfrm>
            <a:off x="4133642" y="1892808"/>
            <a:ext cx="0" cy="3429000"/>
          </a:xfrm>
          <a:prstGeom prst="line">
            <a:avLst/>
          </a:prstGeom>
          <a:noFill/>
          <a:ln w="15875">
            <a:solidFill>
              <a:schemeClr val="accent2"/>
            </a:solidFill>
            <a:prstDash val="dash"/>
          </a:ln>
        </p:spPr>
        <p:txBody>
          <a:bodyPr/>
          <a:lstStyle/>
          <a:p>
            <a:endParaRPr lang="en-DE"/>
          </a:p>
        </p:txBody>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Pitch</a:t>
            </a:r>
            <a:endParaRPr lang="en-US" sz="1200" dirty="0"/>
          </a:p>
          <a:p>
            <a:pPr marL="0" indent="0" algn="ctr">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txBody>
          <a:bodyPr/>
          <a:lstStyle/>
          <a:p>
            <a:endParaRPr lang="en-DE"/>
          </a:p>
        </p:txBody>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Midterm</a:t>
            </a:r>
            <a:endParaRPr lang="en-US" sz="1200" dirty="0"/>
          </a:p>
          <a:p>
            <a:pPr marL="0" indent="0" algn="ctr">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txBody>
          <a:bodyPr/>
          <a:lstStyle/>
          <a:p>
            <a:endParaRPr lang="en-DE"/>
          </a:p>
        </p:txBody>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Final</a:t>
            </a:r>
            <a:endParaRPr lang="en-US" sz="1200" dirty="0"/>
          </a:p>
          <a:p>
            <a:pPr marL="0" indent="0" algn="ctr">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txBody>
          <a:bodyPr/>
          <a:lstStyle/>
          <a:p>
            <a:endParaRPr lang="en-DE"/>
          </a:p>
        </p:txBody>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Report</a:t>
            </a:r>
            <a:endParaRPr lang="en-US" sz="1200" dirty="0"/>
          </a:p>
          <a:p>
            <a:pPr marL="0" indent="0" algn="ctr">
              <a:buNone/>
            </a:pPr>
            <a:r>
              <a:rPr lang="en-US" sz="1200" b="1" dirty="0">
                <a:solidFill>
                  <a:schemeClr val="accent2"/>
                </a:solidFill>
              </a:rPr>
              <a:t>08.01</a:t>
            </a:r>
            <a:endParaRPr lang="en-US" sz="12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9918-BCB1-EEEF-DF24-8CDE03C21707}"/>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3D87D3E3-F6E8-1864-5027-6297C1B00BCD}"/>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C24F4DAD-1EC0-0FC6-0F3F-9681328E0309}"/>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1817EEF8-CFFD-F6CA-4CDC-5E44EA4861B2}"/>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4EECFC9-AF48-50CA-DC75-47A0CE7A72B7}"/>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3D3F8894-3614-3383-583F-8E0EDF1DD5E5}"/>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D8A6F6F9-9006-C503-6774-7751428529F6}"/>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5617020-482F-0A8C-5DE0-09AD97AC658C}"/>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1B175A4-786D-57C1-9C43-53F17C0F8F8D}"/>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85CB6338-F152-B741-1B9C-6AF984836A63}"/>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4FBFE9C9-9A0C-0FDD-1B04-D4D5183CAD4E}"/>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DF5FC799-413E-7E54-BABA-2768F2ED8D0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461DC98A-C2D2-57B7-40D0-59966FEA4184}"/>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9B02FE2F-0BED-44B8-E336-A93280F07DBC}"/>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F6142C73-6B60-F89E-0640-FD80E1E098B1}"/>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B58AC9F0-1973-FE06-FD64-9B97F9E0EA7C}"/>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B00958B9-174C-62D6-85A3-E965BFF02389}"/>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6009C9F3-1967-75F7-695B-0EBD9C6911C2}"/>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2B7AF6F3-4BE5-DD41-D497-EE15F1441609}"/>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32011899-9C73-A0C2-0A49-495B43CA5DD2}"/>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95483784-78C6-45E1-7C3D-046A42AED9C1}"/>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F8CD30DC-FB3B-EE78-29E1-7397E8DE9262}"/>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780B4EF2-6764-F90B-3438-D2EF1F5D748E}"/>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A5D462A-86D6-1431-B2C8-6192ABE906C1}"/>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C29AC5E5-E898-3349-E67A-3724689B5240}"/>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EF3C266C-5E7F-614C-1AB5-48C3994B25F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B4FC275B-D2C1-8D65-7589-E2161439FB1D}"/>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0D83169F-41A5-D247-BDF8-E2D715E4B8B3}"/>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EA945BFC-475E-38B5-C81D-662918E8E979}"/>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2C6CEFDE-8FEA-9307-D9E5-4AA0A354A0A9}"/>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0E79F962-7139-0A76-AD52-479CD3805333}"/>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E2F2EE7-1ED8-D127-85B8-5257FAE1694A}"/>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A5A59D13-084E-C878-B570-DA2DF56E9308}"/>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88BDF52C-880D-DFEC-B756-7FF8CEE4B69E}"/>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0E7251D4-3A58-A217-33A8-2B25A3116864}"/>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3857FD2B-8703-6A1C-625E-244FD6E99963}"/>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F415E154-5FED-5A6D-331F-5BFB4437483B}"/>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82CC5AEE-59C2-485E-88F5-47456347EEEC}"/>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D53B90F7-A791-ED69-2F57-3A1992116482}"/>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5FAEA21E-FC29-3C56-16B1-B7FD2D12E86A}"/>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269E984C-AFF5-D428-298F-02EA28EA4F09}"/>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6A462A0A-E697-7CCE-3A6F-B021ECD20F1B}"/>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D9AF9481-5609-0EB0-E89E-865E2AE9EB7C}"/>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6B176052-9262-0FD5-FCC4-E98475D04216}"/>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771C3337-2D30-93FD-C83D-AE046F343888}"/>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3DB49FA2-7690-881B-7BA2-72CCA55F5C3C}"/>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3D70EB37-A7FD-C9F8-1AED-E54EBC5BB832}"/>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DE495DBF-1B25-7CF4-59C3-3F0C2E3F4609}"/>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742762A4-07F3-91A2-511B-1DD78432EDBA}"/>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E166F928-9566-0C8B-FD70-57C380F120A8}"/>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6F4C0D54-0545-E28C-A6DA-25A527EF5D39}"/>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62C96B68-D879-40BE-227B-73F49CA3639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36680556-C8F9-F27C-61A0-CC44C8D38696}"/>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915E7A24-0157-D822-AA4C-B8F54B397CAD}"/>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47AD3AB3-640A-E9E6-3606-4A8192630513}"/>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69554077-F5E4-9829-5724-8F00A3A79D09}"/>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04132020-5F0B-07A8-26AD-7D141B52A145}"/>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A75B009E-8379-A833-5D95-201BBB68E0A9}"/>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10098A3-1C65-95D5-6B99-37CADD0B7ABD}"/>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615EF0AA-1E25-C7BD-66FA-B0E26E3211D9}"/>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80639C44-0623-3C58-6951-E72F25123736}"/>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1CDA1DCA-B547-2161-7AD0-F42B46FD61A2}"/>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90FC9A3C-3F41-AD21-80C8-5E0DA6A6671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B68D0F5F-D0C9-BE7E-FB95-861B9B90100E}"/>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2E24FA8C-9051-946F-7FA8-B542E6B94FD0}"/>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237202E1-4887-C328-307A-67DF534704EB}"/>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ACA231B6-B382-C792-32C7-EE07C864DCE3}"/>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E727BCEF-8ABF-880A-8C3F-771CF75D6D08}"/>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F4EA085B-3D8C-0036-1F30-90550860989F}"/>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2A7BF67D-6EF9-6D9C-64D3-81A5A84018E7}"/>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7C1A721A-6EB3-00D9-D443-D976FA749F87}"/>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BC4114E3-B4B7-5A32-145E-D87D8E288D63}"/>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766048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icPr>
            <a:picLocks noChangeAspect="1"/>
          </p:cNvPicPr>
          <p:nvPr/>
        </p:nvPicPr>
        <p:blipFill>
          <a:blip r:embed="rId3"/>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txBody>
          <a:bodyPr/>
          <a:lstStyle/>
          <a:p>
            <a:endParaRPr lang="en-DE"/>
          </a:p>
        </p:txBody>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txBody>
          <a:bodyPr/>
          <a:lstStyle/>
          <a:p>
            <a:endParaRPr lang="en-DE"/>
          </a:p>
        </p:txBody>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txBody>
          <a:bodyPr/>
          <a:lstStyle/>
          <a:p>
            <a:endParaRPr lang="en-DE"/>
          </a:p>
        </p:txBody>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marL="0" indent="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marL="0" indent="0">
              <a:buNone/>
            </a:pPr>
            <a:r>
              <a:rPr lang="en-US" sz="1500" dirty="0">
                <a:solidFill>
                  <a:schemeClr val="tx1"/>
                </a:solidFill>
              </a:rPr>
              <a:t>Muslim-majority countries, from Senegal to Indonesia</a:t>
            </a:r>
            <a:endParaRPr lang="en-US" sz="1500" dirty="0"/>
          </a:p>
        </p:txBody>
      </p:sp>
      <p:pic>
        <p:nvPicPr>
          <p:cNvPr id="11" name="Arrow 1" descr="preencoded.png"/>
          <p:cNvPicPr>
            <a:picLocks noChangeAspect="1"/>
          </p:cNvPicPr>
          <p:nvPr/>
        </p:nvPicPr>
        <p:blipFill>
          <a:blip r:embed="rId4"/>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txBody>
          <a:bodyPr/>
          <a:lstStyle/>
          <a:p>
            <a:endParaRPr lang="en-DE"/>
          </a:p>
        </p:txBody>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marL="0" indent="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4" name="Stat 1 icon" descr="preencoded.png"/>
          <p:cNvPicPr>
            <a:picLocks noChangeAspect="1"/>
          </p:cNvPicPr>
          <p:nvPr/>
        </p:nvPicPr>
        <p:blipFill>
          <a:blip r:embed="rId3"/>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10" name="Stat 2 icon" descr="preencoded.png"/>
          <p:cNvPicPr>
            <a:picLocks noChangeAspect="1"/>
          </p:cNvPicPr>
          <p:nvPr/>
        </p:nvPicPr>
        <p:blipFill>
          <a:blip r:embed="rId4"/>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blurRad="101600" dist="38100" dir="5400000" algn="bl" rotWithShape="0">
              <a:srgbClr val="000000">
                <a:alpha val="18000"/>
              </a:srgbClr>
            </a:outerShdw>
          </a:effectLst>
        </p:spPr>
        <p:txBody>
          <a:bodyPr/>
          <a:lstStyle/>
          <a:p>
            <a:endParaRPr lang="en-DE"/>
          </a:p>
        </p:txBody>
      </p:sp>
      <p:sp>
        <p:nvSpPr>
          <p:cNvPr id="4" name="Form header"/>
          <p:cNvSpPr txBox="1"/>
          <p:nvPr/>
        </p:nvSpPr>
        <p:spPr>
          <a:xfrm>
            <a:off x="822960" y="1709928"/>
            <a:ext cx="36576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marL="0" indent="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marL="0" indent="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marL="0" indent="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marL="0" indent="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marL="0" indent="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txBody>
          <a:bodyPr/>
          <a:lstStyle/>
          <a:p>
            <a:endParaRPr lang="en-DE"/>
          </a:p>
        </p:txBody>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marL="0" indent="0" algn="ctr">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txBody>
          <a:bodyPr/>
          <a:lstStyle/>
          <a:p>
            <a:endParaRPr lang="en-DE"/>
          </a:p>
        </p:txBody>
      </p:sp>
      <p:pic>
        <p:nvPicPr>
          <p:cNvPr id="18" name="Reason 1 icon" descr="preencoded.png"/>
          <p:cNvPicPr>
            <a:picLocks noChangeAspect="1"/>
          </p:cNvPicPr>
          <p:nvPr/>
        </p:nvPicPr>
        <p:blipFill>
          <a:blip r:embed="rId3"/>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marL="0" indent="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txBody>
          <a:bodyPr/>
          <a:lstStyle/>
          <a:p>
            <a:endParaRPr lang="en-DE"/>
          </a:p>
        </p:txBody>
      </p:sp>
      <p:pic>
        <p:nvPicPr>
          <p:cNvPr id="22" name="Reason 2 icon" descr="preencoded.png"/>
          <p:cNvPicPr>
            <a:picLocks noChangeAspect="1"/>
          </p:cNvPicPr>
          <p:nvPr/>
        </p:nvPicPr>
        <p:blipFill>
          <a:blip r:embed="rId4"/>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marL="0" indent="0">
              <a:buNone/>
            </a:pPr>
            <a:r>
              <a:rPr lang="en-US" sz="1400" dirty="0">
                <a:solidFill>
                  <a:schemeClr val="tx2"/>
                </a:solidFill>
              </a:rPr>
              <a:t>United Kingdom, Netherlands, Canada, Australia: next slides.</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txBody>
          <a:bodyPr/>
          <a:lstStyle/>
          <a:p>
            <a:endParaRPr lang="en-DE"/>
          </a:p>
        </p:txBody>
      </p:sp>
      <p:pic>
        <p:nvPicPr>
          <p:cNvPr id="26" name="Reason 3 icon" descr="preencoded.png"/>
          <p:cNvPicPr>
            <a:picLocks noChangeAspect="1"/>
          </p:cNvPicPr>
          <p:nvPr/>
        </p:nvPicPr>
        <p:blipFill>
          <a:blip r:embed="rId5"/>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marL="0" indent="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icPr>
            <a:picLocks noChangeAspect="1"/>
          </p:cNvPicPr>
          <p:nvPr/>
        </p:nvPicPr>
        <p:blipFill>
          <a:blip r:embed="rId3"/>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a:graphicData uri="http://schemas.openxmlformats.org/drawingml/2006/chart">
            <c:chart xmlns:c="http://schemas.openxmlformats.org/drawingml/2006/chart" xmlns:r="http://schemas.openxmlformats.org/officeDocument/2006/relationships" r:id="rId4"/>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marL="0" indent="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Our experimental setup</a:t>
            </a:r>
            <a:endParaRPr lang="en-US" sz="3600" dirty="0"/>
          </a:p>
        </p:txBody>
      </p:sp>
      <p:sp>
        <p:nvSpPr>
          <p:cNvPr id="3" name="Draft tag"/>
          <p:cNvSpPr/>
          <p:nvPr/>
        </p:nvSpPr>
        <p:spPr>
          <a:xfrm>
            <a:off x="8805672" y="566928"/>
            <a:ext cx="2834640" cy="420624"/>
          </a:xfrm>
          <a:prstGeom prst="roundRect">
            <a:avLst>
              <a:gd name="adj" fmla="val 50000"/>
            </a:avLst>
          </a:prstGeom>
          <a:solidFill>
            <a:schemeClr val="accent1"/>
          </a:solidFill>
          <a:ln w="12700">
            <a:solidFill>
              <a:schemeClr val="accent1"/>
            </a:solidFill>
          </a:ln>
        </p:spPr>
        <p:txBody>
          <a:bodyPr rtlCol="0" anchor="ctr"/>
          <a:lstStyle/>
          <a:p>
            <a:pPr algn="ctr"/>
            <a:endParaRPr/>
          </a:p>
        </p:txBody>
      </p:sp>
      <p:pic>
        <p:nvPicPr>
          <p:cNvPr id="4" name="Draft tag icon" descr="Wrench"/>
          <p:cNvPicPr>
            <a:picLocks noChangeAspect="1"/>
          </p:cNvPicPr>
          <p:nvPr/>
        </p:nvPicPr>
        <p:blipFill>
          <a:blip r:embed="rId3"/>
          <a:stretch>
            <a:fillRect/>
          </a:stretch>
        </p:blipFill>
        <p:spPr>
          <a:xfrm>
            <a:off x="9006840" y="667512"/>
            <a:ext cx="219456" cy="219456"/>
          </a:xfrm>
          <a:prstGeom prst="rect">
            <a:avLst/>
          </a:prstGeom>
        </p:spPr>
      </p:pic>
      <p:sp>
        <p:nvSpPr>
          <p:cNvPr id="5" name="Draft tag text"/>
          <p:cNvSpPr txBox="1"/>
          <p:nvPr/>
        </p:nvSpPr>
        <p:spPr>
          <a:xfrm>
            <a:off x="9326880" y="566928"/>
            <a:ext cx="2240280" cy="420624"/>
          </a:xfrm>
          <a:prstGeom prst="rect">
            <a:avLst/>
          </a:prstGeom>
          <a:noFill/>
        </p:spPr>
        <p:txBody>
          <a:bodyPr wrap="square" lIns="0" tIns="0" rIns="0" bIns="0" anchor="ctr">
            <a:noAutofit/>
          </a:bodyPr>
          <a:lstStyle/>
          <a:p>
            <a:pPr algn="l"/>
            <a:r>
              <a:rPr lang="en-US" sz="1200" b="1" i="0" spc="200">
                <a:solidFill>
                  <a:schemeClr val="tx1"/>
                </a:solidFill>
              </a:rPr>
              <a:t>NEEDS REFINEMENT</a:t>
            </a:r>
          </a:p>
        </p:txBody>
      </p:sp>
      <p:sp>
        <p:nvSpPr>
          <p:cNvPr id="6" name="Step card 1"/>
          <p:cNvSpPr/>
          <p:nvPr/>
        </p:nvSpPr>
        <p:spPr>
          <a:xfrm>
            <a:off x="548640" y="1417320"/>
            <a:ext cx="2464308" cy="1920240"/>
          </a:xfrm>
          <a:prstGeom prst="roundRect">
            <a:avLst>
              <a:gd name="adj" fmla="val 5714"/>
            </a:avLst>
          </a:prstGeom>
          <a:solidFill>
            <a:schemeClr val="bg2"/>
          </a:solidFill>
          <a:ln w="12700">
            <a:solidFill>
              <a:schemeClr val="bg2"/>
            </a:solidFill>
          </a:ln>
        </p:spPr>
        <p:txBody>
          <a:bodyPr rtlCol="0" anchor="ctr"/>
          <a:lstStyle/>
          <a:p>
            <a:pPr algn="ctr"/>
            <a:endParaRPr/>
          </a:p>
        </p:txBody>
      </p:sp>
      <p:sp>
        <p:nvSpPr>
          <p:cNvPr id="7" name="Step 1 circle"/>
          <p:cNvSpPr/>
          <p:nvPr/>
        </p:nvSpPr>
        <p:spPr>
          <a:xfrm>
            <a:off x="804672" y="1673352"/>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8" name="Step 1 icon"/>
          <p:cNvPicPr>
            <a:picLocks noChangeAspect="1"/>
          </p:cNvPicPr>
          <p:nvPr/>
        </p:nvPicPr>
        <p:blipFill>
          <a:blip r:embed="rId4"/>
          <a:stretch>
            <a:fillRect/>
          </a:stretch>
        </p:blipFill>
        <p:spPr>
          <a:xfrm>
            <a:off x="960120" y="1828800"/>
            <a:ext cx="329184" cy="329184"/>
          </a:xfrm>
          <a:prstGeom prst="rect">
            <a:avLst/>
          </a:prstGeom>
        </p:spPr>
      </p:pic>
      <p:sp>
        <p:nvSpPr>
          <p:cNvPr id="9" name="Step number 1"/>
          <p:cNvSpPr txBox="1"/>
          <p:nvPr/>
        </p:nvSpPr>
        <p:spPr>
          <a:xfrm>
            <a:off x="1572768" y="1673352"/>
            <a:ext cx="1325880" cy="640080"/>
          </a:xfrm>
          <a:prstGeom prst="rect">
            <a:avLst/>
          </a:prstGeom>
          <a:noFill/>
        </p:spPr>
        <p:txBody>
          <a:bodyPr wrap="square" lIns="0" tIns="0" rIns="0" bIns="0" anchor="ctr">
            <a:noAutofit/>
          </a:bodyPr>
          <a:lstStyle/>
          <a:p>
            <a:pPr algn="l"/>
            <a:r>
              <a:rPr lang="en-US" sz="2400" b="1" i="0">
                <a:solidFill>
                  <a:schemeClr val="tx1"/>
                </a:solidFill>
                <a:latin typeface="Cambria"/>
              </a:rPr>
              <a:t>20</a:t>
            </a:r>
          </a:p>
        </p:txBody>
      </p:sp>
      <p:sp>
        <p:nvSpPr>
          <p:cNvPr id="10" name="Step label 1"/>
          <p:cNvSpPr txBox="1"/>
          <p:nvPr/>
        </p:nvSpPr>
        <p:spPr>
          <a:xfrm>
            <a:off x="804672" y="2468880"/>
            <a:ext cx="1956816" cy="777240"/>
          </a:xfrm>
          <a:prstGeom prst="rect">
            <a:avLst/>
          </a:prstGeom>
          <a:noFill/>
        </p:spPr>
        <p:txBody>
          <a:bodyPr wrap="square" lIns="0" tIns="0" rIns="0" bIns="0" anchor="t">
            <a:noAutofit/>
          </a:bodyPr>
          <a:lstStyle/>
          <a:p>
            <a:pPr algn="l"/>
            <a:r>
              <a:rPr lang="en-US" sz="1500" b="0" i="0">
                <a:solidFill>
                  <a:schemeClr val="tx1"/>
                </a:solidFill>
              </a:rPr>
              <a:t>invented applicants, all born, raised and employed in the UAE</a:t>
            </a:r>
          </a:p>
        </p:txBody>
      </p:sp>
      <p:pic>
        <p:nvPicPr>
          <p:cNvPr id="11" name="Step arrow 1" descr="Arrow"/>
          <p:cNvPicPr>
            <a:picLocks noChangeAspect="1"/>
          </p:cNvPicPr>
          <p:nvPr/>
        </p:nvPicPr>
        <p:blipFill>
          <a:blip r:embed="rId5"/>
          <a:stretch>
            <a:fillRect/>
          </a:stretch>
        </p:blipFill>
        <p:spPr>
          <a:xfrm>
            <a:off x="3104388" y="2263140"/>
            <a:ext cx="228600" cy="228600"/>
          </a:xfrm>
          <a:prstGeom prst="rect">
            <a:avLst/>
          </a:prstGeom>
        </p:spPr>
      </p:pic>
      <p:sp>
        <p:nvSpPr>
          <p:cNvPr id="12" name="Step card 2"/>
          <p:cNvSpPr/>
          <p:nvPr/>
        </p:nvSpPr>
        <p:spPr>
          <a:xfrm>
            <a:off x="3424428" y="1417320"/>
            <a:ext cx="2464308" cy="1920240"/>
          </a:xfrm>
          <a:prstGeom prst="roundRect">
            <a:avLst>
              <a:gd name="adj" fmla="val 5714"/>
            </a:avLst>
          </a:prstGeom>
          <a:solidFill>
            <a:schemeClr val="bg2"/>
          </a:solidFill>
          <a:ln w="12700">
            <a:solidFill>
              <a:schemeClr val="bg2"/>
            </a:solidFill>
          </a:ln>
        </p:spPr>
        <p:txBody>
          <a:bodyPr rtlCol="0" anchor="ctr"/>
          <a:lstStyle/>
          <a:p>
            <a:pPr algn="ctr"/>
            <a:endParaRPr/>
          </a:p>
        </p:txBody>
      </p:sp>
      <p:sp>
        <p:nvSpPr>
          <p:cNvPr id="13" name="Step 2 circle"/>
          <p:cNvSpPr/>
          <p:nvPr/>
        </p:nvSpPr>
        <p:spPr>
          <a:xfrm>
            <a:off x="3680460" y="1673352"/>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14" name="Step 2 icon"/>
          <p:cNvPicPr>
            <a:picLocks noChangeAspect="1"/>
          </p:cNvPicPr>
          <p:nvPr/>
        </p:nvPicPr>
        <p:blipFill>
          <a:blip r:embed="rId6"/>
          <a:stretch>
            <a:fillRect/>
          </a:stretch>
        </p:blipFill>
        <p:spPr>
          <a:xfrm>
            <a:off x="3835908" y="1828800"/>
            <a:ext cx="329184" cy="329184"/>
          </a:xfrm>
          <a:prstGeom prst="rect">
            <a:avLst/>
          </a:prstGeom>
        </p:spPr>
      </p:pic>
      <p:sp>
        <p:nvSpPr>
          <p:cNvPr id="15" name="Step number 2"/>
          <p:cNvSpPr txBox="1"/>
          <p:nvPr/>
        </p:nvSpPr>
        <p:spPr>
          <a:xfrm>
            <a:off x="4448556" y="1673352"/>
            <a:ext cx="1325880" cy="640080"/>
          </a:xfrm>
          <a:prstGeom prst="rect">
            <a:avLst/>
          </a:prstGeom>
          <a:noFill/>
        </p:spPr>
        <p:txBody>
          <a:bodyPr wrap="square" lIns="0" tIns="0" rIns="0" bIns="0" anchor="ctr">
            <a:noAutofit/>
          </a:bodyPr>
          <a:lstStyle/>
          <a:p>
            <a:pPr algn="l"/>
            <a:r>
              <a:rPr lang="en-US" sz="2400" b="1" i="0">
                <a:solidFill>
                  <a:schemeClr val="tx1"/>
                </a:solidFill>
                <a:latin typeface="Cambria"/>
              </a:rPr>
              <a:t>22</a:t>
            </a:r>
          </a:p>
        </p:txBody>
      </p:sp>
      <p:sp>
        <p:nvSpPr>
          <p:cNvPr id="16" name="Step label 2"/>
          <p:cNvSpPr txBox="1"/>
          <p:nvPr/>
        </p:nvSpPr>
        <p:spPr>
          <a:xfrm>
            <a:off x="3680460" y="2468880"/>
            <a:ext cx="1956816" cy="777240"/>
          </a:xfrm>
          <a:prstGeom prst="rect">
            <a:avLst/>
          </a:prstGeom>
          <a:noFill/>
        </p:spPr>
        <p:txBody>
          <a:bodyPr wrap="square" lIns="0" tIns="0" rIns="0" bIns="0" anchor="t">
            <a:noAutofit/>
          </a:bodyPr>
          <a:lstStyle/>
          <a:p>
            <a:pPr algn="l"/>
            <a:r>
              <a:rPr lang="en-US" sz="1500" b="0" i="0">
                <a:solidFill>
                  <a:schemeClr val="tx1"/>
                </a:solidFill>
              </a:rPr>
              <a:t>Arab League passports. Only this line changes.</a:t>
            </a:r>
          </a:p>
        </p:txBody>
      </p:sp>
      <p:pic>
        <p:nvPicPr>
          <p:cNvPr id="17" name="Step arrow 2" descr="Arrow"/>
          <p:cNvPicPr>
            <a:picLocks noChangeAspect="1"/>
          </p:cNvPicPr>
          <p:nvPr/>
        </p:nvPicPr>
        <p:blipFill>
          <a:blip r:embed="rId5"/>
          <a:stretch>
            <a:fillRect/>
          </a:stretch>
        </p:blipFill>
        <p:spPr>
          <a:xfrm>
            <a:off x="5980175" y="2263140"/>
            <a:ext cx="228600" cy="228600"/>
          </a:xfrm>
          <a:prstGeom prst="rect">
            <a:avLst/>
          </a:prstGeom>
        </p:spPr>
      </p:pic>
      <p:sp>
        <p:nvSpPr>
          <p:cNvPr id="18" name="Step card 3"/>
          <p:cNvSpPr/>
          <p:nvPr/>
        </p:nvSpPr>
        <p:spPr>
          <a:xfrm>
            <a:off x="6300216" y="1417320"/>
            <a:ext cx="2464308" cy="1920240"/>
          </a:xfrm>
          <a:prstGeom prst="roundRect">
            <a:avLst>
              <a:gd name="adj" fmla="val 5714"/>
            </a:avLst>
          </a:prstGeom>
          <a:solidFill>
            <a:schemeClr val="bg2"/>
          </a:solidFill>
          <a:ln w="12700">
            <a:solidFill>
              <a:schemeClr val="bg2"/>
            </a:solidFill>
          </a:ln>
        </p:spPr>
        <p:txBody>
          <a:bodyPr rtlCol="0" anchor="ctr"/>
          <a:lstStyle/>
          <a:p>
            <a:pPr algn="ctr"/>
            <a:endParaRPr/>
          </a:p>
        </p:txBody>
      </p:sp>
      <p:sp>
        <p:nvSpPr>
          <p:cNvPr id="19" name="Step 3 circle"/>
          <p:cNvSpPr/>
          <p:nvPr/>
        </p:nvSpPr>
        <p:spPr>
          <a:xfrm>
            <a:off x="6556248" y="1673352"/>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20" name="Step 3 icon"/>
          <p:cNvPicPr>
            <a:picLocks noChangeAspect="1"/>
          </p:cNvPicPr>
          <p:nvPr/>
        </p:nvPicPr>
        <p:blipFill>
          <a:blip r:embed="rId7"/>
          <a:stretch>
            <a:fillRect/>
          </a:stretch>
        </p:blipFill>
        <p:spPr>
          <a:xfrm>
            <a:off x="6711696" y="1828800"/>
            <a:ext cx="329184" cy="329184"/>
          </a:xfrm>
          <a:prstGeom prst="rect">
            <a:avLst/>
          </a:prstGeom>
        </p:spPr>
      </p:pic>
      <p:sp>
        <p:nvSpPr>
          <p:cNvPr id="21" name="Step number 3"/>
          <p:cNvSpPr txBox="1"/>
          <p:nvPr/>
        </p:nvSpPr>
        <p:spPr>
          <a:xfrm>
            <a:off x="7324344" y="1673352"/>
            <a:ext cx="1325880" cy="640080"/>
          </a:xfrm>
          <a:prstGeom prst="rect">
            <a:avLst/>
          </a:prstGeom>
          <a:noFill/>
        </p:spPr>
        <p:txBody>
          <a:bodyPr wrap="square" lIns="0" tIns="0" rIns="0" bIns="0" anchor="ctr">
            <a:noAutofit/>
          </a:bodyPr>
          <a:lstStyle/>
          <a:p>
            <a:pPr algn="l"/>
            <a:r>
              <a:rPr lang="en-US" sz="2400" b="1" i="0">
                <a:solidFill>
                  <a:schemeClr val="tx1"/>
                </a:solidFill>
                <a:latin typeface="Cambria"/>
              </a:rPr>
              <a:t>4</a:t>
            </a:r>
          </a:p>
        </p:txBody>
      </p:sp>
      <p:sp>
        <p:nvSpPr>
          <p:cNvPr id="22" name="Step label 3"/>
          <p:cNvSpPr txBox="1"/>
          <p:nvPr/>
        </p:nvSpPr>
        <p:spPr>
          <a:xfrm>
            <a:off x="6556248" y="2468880"/>
            <a:ext cx="1956816" cy="777240"/>
          </a:xfrm>
          <a:prstGeom prst="rect">
            <a:avLst/>
          </a:prstGeom>
          <a:noFill/>
        </p:spPr>
        <p:txBody>
          <a:bodyPr wrap="square" lIns="0" tIns="0" rIns="0" bIns="0" anchor="t">
            <a:noAutofit/>
          </a:bodyPr>
          <a:lstStyle/>
          <a:p>
            <a:pPr algn="l"/>
            <a:r>
              <a:rPr lang="en-US" sz="1500" b="0" i="0">
                <a:solidFill>
                  <a:schemeClr val="tx1"/>
                </a:solidFill>
              </a:rPr>
              <a:t>open language models as visa case assistants</a:t>
            </a:r>
          </a:p>
        </p:txBody>
      </p:sp>
      <p:pic>
        <p:nvPicPr>
          <p:cNvPr id="23" name="Step arrow 3" descr="Arrow"/>
          <p:cNvPicPr>
            <a:picLocks noChangeAspect="1"/>
          </p:cNvPicPr>
          <p:nvPr/>
        </p:nvPicPr>
        <p:blipFill>
          <a:blip r:embed="rId5"/>
          <a:stretch>
            <a:fillRect/>
          </a:stretch>
        </p:blipFill>
        <p:spPr>
          <a:xfrm>
            <a:off x="8855963" y="2263140"/>
            <a:ext cx="228600" cy="228600"/>
          </a:xfrm>
          <a:prstGeom prst="rect">
            <a:avLst/>
          </a:prstGeom>
        </p:spPr>
      </p:pic>
      <p:sp>
        <p:nvSpPr>
          <p:cNvPr id="24" name="Step card 4"/>
          <p:cNvSpPr/>
          <p:nvPr/>
        </p:nvSpPr>
        <p:spPr>
          <a:xfrm>
            <a:off x="9176004" y="1417320"/>
            <a:ext cx="2464308" cy="1920240"/>
          </a:xfrm>
          <a:prstGeom prst="roundRect">
            <a:avLst>
              <a:gd name="adj" fmla="val 5714"/>
            </a:avLst>
          </a:prstGeom>
          <a:solidFill>
            <a:schemeClr val="bg2"/>
          </a:solidFill>
          <a:ln w="12700">
            <a:solidFill>
              <a:schemeClr val="bg2"/>
            </a:solidFill>
          </a:ln>
        </p:spPr>
        <p:txBody>
          <a:bodyPr rtlCol="0" anchor="ctr"/>
          <a:lstStyle/>
          <a:p>
            <a:pPr algn="ctr"/>
            <a:endParaRPr/>
          </a:p>
        </p:txBody>
      </p:sp>
      <p:sp>
        <p:nvSpPr>
          <p:cNvPr id="25" name="Step 4 circle"/>
          <p:cNvSpPr/>
          <p:nvPr/>
        </p:nvSpPr>
        <p:spPr>
          <a:xfrm>
            <a:off x="9432036" y="1673352"/>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26" name="Step 4 icon"/>
          <p:cNvPicPr>
            <a:picLocks noChangeAspect="1"/>
          </p:cNvPicPr>
          <p:nvPr/>
        </p:nvPicPr>
        <p:blipFill>
          <a:blip r:embed="rId8"/>
          <a:stretch>
            <a:fillRect/>
          </a:stretch>
        </p:blipFill>
        <p:spPr>
          <a:xfrm>
            <a:off x="9587484" y="1828800"/>
            <a:ext cx="329184" cy="329184"/>
          </a:xfrm>
          <a:prstGeom prst="rect">
            <a:avLst/>
          </a:prstGeom>
        </p:spPr>
      </p:pic>
      <p:sp>
        <p:nvSpPr>
          <p:cNvPr id="27" name="Step number 4"/>
          <p:cNvSpPr txBox="1"/>
          <p:nvPr/>
        </p:nvSpPr>
        <p:spPr>
          <a:xfrm>
            <a:off x="10200132" y="1673352"/>
            <a:ext cx="1325880" cy="640080"/>
          </a:xfrm>
          <a:prstGeom prst="rect">
            <a:avLst/>
          </a:prstGeom>
          <a:noFill/>
        </p:spPr>
        <p:txBody>
          <a:bodyPr wrap="square" lIns="0" tIns="0" rIns="0" bIns="0" anchor="ctr">
            <a:noAutofit/>
          </a:bodyPr>
          <a:lstStyle/>
          <a:p>
            <a:pPr algn="l"/>
            <a:r>
              <a:rPr lang="en-US" sz="2400" b="1" i="0">
                <a:solidFill>
                  <a:schemeClr val="tx1"/>
                </a:solidFill>
                <a:latin typeface="Cambria"/>
              </a:rPr>
              <a:t>0 – 100</a:t>
            </a:r>
          </a:p>
        </p:txBody>
      </p:sp>
      <p:sp>
        <p:nvSpPr>
          <p:cNvPr id="28" name="Step label 4"/>
          <p:cNvSpPr txBox="1"/>
          <p:nvPr/>
        </p:nvSpPr>
        <p:spPr>
          <a:xfrm>
            <a:off x="9432036" y="2468880"/>
            <a:ext cx="1956816" cy="777240"/>
          </a:xfrm>
          <a:prstGeom prst="rect">
            <a:avLst/>
          </a:prstGeom>
          <a:noFill/>
        </p:spPr>
        <p:txBody>
          <a:bodyPr wrap="square" lIns="0" tIns="0" rIns="0" bIns="0" anchor="t">
            <a:noAutofit/>
          </a:bodyPr>
          <a:lstStyle/>
          <a:p>
            <a:pPr algn="l"/>
            <a:r>
              <a:rPr lang="en-US" sz="1500" b="0" i="0">
                <a:solidFill>
                  <a:schemeClr val="tx1"/>
                </a:solidFill>
              </a:rPr>
              <a:t>risk score, plus grant, refer or refuse</a:t>
            </a:r>
          </a:p>
        </p:txBody>
      </p:sp>
      <p:sp>
        <p:nvSpPr>
          <p:cNvPr id="29" name="Open kicker"/>
          <p:cNvSpPr txBox="1"/>
          <p:nvPr/>
        </p:nvSpPr>
        <p:spPr>
          <a:xfrm>
            <a:off x="548640" y="3538728"/>
            <a:ext cx="5486400" cy="320040"/>
          </a:xfrm>
          <a:prstGeom prst="rect">
            <a:avLst/>
          </a:prstGeom>
          <a:noFill/>
        </p:spPr>
        <p:txBody>
          <a:bodyPr wrap="square" lIns="0" tIns="0" rIns="0" bIns="0" anchor="ctr">
            <a:noAutofit/>
          </a:bodyPr>
          <a:lstStyle/>
          <a:p>
            <a:pPr algn="l"/>
            <a:r>
              <a:rPr lang="en-US" sz="1200" b="1" i="0" spc="200">
                <a:solidFill>
                  <a:schemeClr val="accent2"/>
                </a:solidFill>
              </a:rPr>
              <a:t>STILL OPEN</a:t>
            </a:r>
          </a:p>
        </p:txBody>
      </p:sp>
      <p:sp>
        <p:nvSpPr>
          <p:cNvPr id="30" name="Open card 1"/>
          <p:cNvSpPr/>
          <p:nvPr/>
        </p:nvSpPr>
        <p:spPr>
          <a:xfrm>
            <a:off x="548640" y="3931920"/>
            <a:ext cx="3508552" cy="1280160"/>
          </a:xfrm>
          <a:prstGeom prst="roundRect">
            <a:avLst>
              <a:gd name="adj" fmla="val 8571"/>
            </a:avLst>
          </a:prstGeom>
          <a:solidFill>
            <a:schemeClr val="bg1"/>
          </a:solidFill>
          <a:ln w="19050">
            <a:solidFill>
              <a:schemeClr val="accent1"/>
            </a:solidFill>
            <a:prstDash val="dash"/>
          </a:ln>
        </p:spPr>
        <p:txBody>
          <a:bodyPr rtlCol="0" anchor="ctr"/>
          <a:lstStyle/>
          <a:p>
            <a:pPr algn="ctr"/>
            <a:endParaRPr/>
          </a:p>
        </p:txBody>
      </p:sp>
      <p:sp>
        <p:nvSpPr>
          <p:cNvPr id="31" name="Open 1 circle"/>
          <p:cNvSpPr/>
          <p:nvPr/>
        </p:nvSpPr>
        <p:spPr>
          <a:xfrm>
            <a:off x="804672" y="425196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32" name="Open 1 icon"/>
          <p:cNvPicPr>
            <a:picLocks noChangeAspect="1"/>
          </p:cNvPicPr>
          <p:nvPr/>
        </p:nvPicPr>
        <p:blipFill>
          <a:blip r:embed="rId9"/>
          <a:stretch>
            <a:fillRect/>
          </a:stretch>
        </p:blipFill>
        <p:spPr>
          <a:xfrm>
            <a:off x="960120" y="4407408"/>
            <a:ext cx="329184" cy="329184"/>
          </a:xfrm>
          <a:prstGeom prst="rect">
            <a:avLst/>
          </a:prstGeom>
        </p:spPr>
      </p:pic>
      <p:sp>
        <p:nvSpPr>
          <p:cNvPr id="33" name="Open text 1"/>
          <p:cNvSpPr txBox="1"/>
          <p:nvPr/>
        </p:nvSpPr>
        <p:spPr>
          <a:xfrm>
            <a:off x="1627631" y="3931920"/>
            <a:ext cx="2240280" cy="1280160"/>
          </a:xfrm>
          <a:prstGeom prst="rect">
            <a:avLst/>
          </a:prstGeom>
          <a:noFill/>
        </p:spPr>
        <p:txBody>
          <a:bodyPr wrap="square" lIns="0" tIns="0" rIns="0" bIns="0" anchor="ctr">
            <a:noAutofit/>
          </a:bodyPr>
          <a:lstStyle/>
          <a:p>
            <a:pPr algn="l"/>
            <a:r>
              <a:rPr lang="en-US" sz="1800" b="1" i="0">
                <a:solidFill>
                  <a:schemeClr val="tx1"/>
                </a:solidFill>
                <a:latin typeface="Cambria"/>
              </a:rPr>
              <a:t>Hypotheses</a:t>
            </a:r>
          </a:p>
          <a:p>
            <a:pPr algn="l"/>
            <a:r>
              <a:rPr lang="en-US" sz="1400" b="0" i="0">
                <a:solidFill>
                  <a:schemeClr val="tx2"/>
                </a:solidFill>
              </a:rPr>
              <a:t>and the analysis plan, written before the first run</a:t>
            </a:r>
          </a:p>
        </p:txBody>
      </p:sp>
      <p:sp>
        <p:nvSpPr>
          <p:cNvPr id="34" name="Open card 2"/>
          <p:cNvSpPr/>
          <p:nvPr/>
        </p:nvSpPr>
        <p:spPr>
          <a:xfrm>
            <a:off x="4340656" y="3931920"/>
            <a:ext cx="3508552" cy="1280160"/>
          </a:xfrm>
          <a:prstGeom prst="roundRect">
            <a:avLst>
              <a:gd name="adj" fmla="val 8571"/>
            </a:avLst>
          </a:prstGeom>
          <a:solidFill>
            <a:schemeClr val="bg1"/>
          </a:solidFill>
          <a:ln w="19050">
            <a:solidFill>
              <a:schemeClr val="accent1"/>
            </a:solidFill>
            <a:prstDash val="dash"/>
          </a:ln>
        </p:spPr>
        <p:txBody>
          <a:bodyPr rtlCol="0" anchor="ctr"/>
          <a:lstStyle/>
          <a:p>
            <a:pPr algn="ctr"/>
            <a:endParaRPr/>
          </a:p>
        </p:txBody>
      </p:sp>
      <p:sp>
        <p:nvSpPr>
          <p:cNvPr id="35" name="Open 2 circle"/>
          <p:cNvSpPr/>
          <p:nvPr/>
        </p:nvSpPr>
        <p:spPr>
          <a:xfrm>
            <a:off x="4596688" y="425196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36" name="Open 2 icon"/>
          <p:cNvPicPr>
            <a:picLocks noChangeAspect="1"/>
          </p:cNvPicPr>
          <p:nvPr/>
        </p:nvPicPr>
        <p:blipFill>
          <a:blip r:embed="rId10"/>
          <a:stretch>
            <a:fillRect/>
          </a:stretch>
        </p:blipFill>
        <p:spPr>
          <a:xfrm>
            <a:off x="4752136" y="4407408"/>
            <a:ext cx="329184" cy="329184"/>
          </a:xfrm>
          <a:prstGeom prst="rect">
            <a:avLst/>
          </a:prstGeom>
        </p:spPr>
      </p:pic>
      <p:sp>
        <p:nvSpPr>
          <p:cNvPr id="37" name="Open text 2"/>
          <p:cNvSpPr txBox="1"/>
          <p:nvPr/>
        </p:nvSpPr>
        <p:spPr>
          <a:xfrm>
            <a:off x="5419648" y="3931920"/>
            <a:ext cx="2240280" cy="1280160"/>
          </a:xfrm>
          <a:prstGeom prst="rect">
            <a:avLst/>
          </a:prstGeom>
          <a:noFill/>
        </p:spPr>
        <p:txBody>
          <a:bodyPr wrap="square" lIns="0" tIns="0" rIns="0" bIns="0" anchor="ctr">
            <a:noAutofit/>
          </a:bodyPr>
          <a:lstStyle/>
          <a:p>
            <a:pPr algn="l"/>
            <a:r>
              <a:rPr lang="en-US" sz="1800" b="1" i="0">
                <a:solidFill>
                  <a:schemeClr val="tx1"/>
                </a:solidFill>
                <a:latin typeface="Cambria"/>
              </a:rPr>
              <a:t>Pilot</a:t>
            </a:r>
          </a:p>
          <a:p>
            <a:pPr algn="l"/>
            <a:r>
              <a:rPr lang="en-US" sz="1400" b="0" i="0">
                <a:solidFill>
                  <a:schemeClr val="tx2"/>
                </a:solidFill>
              </a:rPr>
              <a:t>Do the answers vary at all?</a:t>
            </a:r>
          </a:p>
        </p:txBody>
      </p:sp>
      <p:sp>
        <p:nvSpPr>
          <p:cNvPr id="38" name="Open card 3"/>
          <p:cNvSpPr/>
          <p:nvPr/>
        </p:nvSpPr>
        <p:spPr>
          <a:xfrm>
            <a:off x="8132673" y="3931920"/>
            <a:ext cx="3508552" cy="1280160"/>
          </a:xfrm>
          <a:prstGeom prst="roundRect">
            <a:avLst>
              <a:gd name="adj" fmla="val 8571"/>
            </a:avLst>
          </a:prstGeom>
          <a:solidFill>
            <a:schemeClr val="bg1"/>
          </a:solidFill>
          <a:ln w="19050">
            <a:solidFill>
              <a:schemeClr val="accent1"/>
            </a:solidFill>
            <a:prstDash val="dash"/>
          </a:ln>
        </p:spPr>
        <p:txBody>
          <a:bodyPr rtlCol="0" anchor="ctr"/>
          <a:lstStyle/>
          <a:p>
            <a:pPr algn="ctr"/>
            <a:endParaRPr/>
          </a:p>
        </p:txBody>
      </p:sp>
      <p:sp>
        <p:nvSpPr>
          <p:cNvPr id="39" name="Open 3 circle"/>
          <p:cNvSpPr/>
          <p:nvPr/>
        </p:nvSpPr>
        <p:spPr>
          <a:xfrm>
            <a:off x="8388705" y="4251960"/>
            <a:ext cx="640080" cy="640080"/>
          </a:xfrm>
          <a:prstGeom prst="ellipse">
            <a:avLst/>
          </a:prstGeom>
          <a:solidFill>
            <a:schemeClr val="tx1"/>
          </a:solidFill>
          <a:ln w="12700">
            <a:solidFill>
              <a:schemeClr val="tx1"/>
            </a:solidFill>
          </a:ln>
        </p:spPr>
        <p:txBody>
          <a:bodyPr rtlCol="0" anchor="ctr"/>
          <a:lstStyle/>
          <a:p>
            <a:pPr algn="ctr"/>
            <a:endParaRPr/>
          </a:p>
        </p:txBody>
      </p:sp>
      <p:pic>
        <p:nvPicPr>
          <p:cNvPr id="40" name="Open 3 icon"/>
          <p:cNvPicPr>
            <a:picLocks noChangeAspect="1"/>
          </p:cNvPicPr>
          <p:nvPr/>
        </p:nvPicPr>
        <p:blipFill>
          <a:blip r:embed="rId11"/>
          <a:stretch>
            <a:fillRect/>
          </a:stretch>
        </p:blipFill>
        <p:spPr>
          <a:xfrm>
            <a:off x="8544153" y="4407408"/>
            <a:ext cx="329184" cy="329184"/>
          </a:xfrm>
          <a:prstGeom prst="rect">
            <a:avLst/>
          </a:prstGeom>
        </p:spPr>
      </p:pic>
      <p:sp>
        <p:nvSpPr>
          <p:cNvPr id="41" name="Open text 3"/>
          <p:cNvSpPr txBox="1"/>
          <p:nvPr/>
        </p:nvSpPr>
        <p:spPr>
          <a:xfrm>
            <a:off x="9211665" y="3931920"/>
            <a:ext cx="2240280" cy="1280160"/>
          </a:xfrm>
          <a:prstGeom prst="rect">
            <a:avLst/>
          </a:prstGeom>
          <a:noFill/>
        </p:spPr>
        <p:txBody>
          <a:bodyPr wrap="square" lIns="0" tIns="0" rIns="0" bIns="0" anchor="ctr">
            <a:noAutofit/>
          </a:bodyPr>
          <a:lstStyle/>
          <a:p>
            <a:pPr algn="l"/>
            <a:r>
              <a:rPr lang="en-US" sz="1800" b="1" i="0">
                <a:solidFill>
                  <a:schemeClr val="tx1"/>
                </a:solidFill>
                <a:latin typeface="Cambria"/>
              </a:rPr>
              <a:t>Model settings</a:t>
            </a:r>
          </a:p>
          <a:p>
            <a:pPr algn="l"/>
            <a:r>
              <a:rPr lang="en-US" sz="1400" b="0" i="0">
                <a:solidFill>
                  <a:schemeClr val="tx2"/>
                </a:solidFill>
              </a:rPr>
              <a:t>temperature, repetitions, answer format</a:t>
            </a:r>
          </a:p>
        </p:txBody>
      </p:sp>
      <p:sp>
        <p:nvSpPr>
          <p:cNvPr id="42" name="Question"/>
          <p:cNvSpPr txBox="1"/>
          <p:nvPr/>
        </p:nvSpPr>
        <p:spPr>
          <a:xfrm>
            <a:off x="548640" y="5440680"/>
            <a:ext cx="11091672" cy="457200"/>
          </a:xfrm>
          <a:prstGeom prst="rect">
            <a:avLst/>
          </a:prstGeom>
          <a:noFill/>
        </p:spPr>
        <p:txBody>
          <a:bodyPr wrap="square" lIns="0" tIns="0" rIns="0" bIns="0" anchor="ctr">
            <a:noAutofit/>
          </a:bodyPr>
          <a:lstStyle/>
          <a:p>
            <a:pPr algn="l"/>
            <a:r>
              <a:rPr lang="en-US" sz="2000" b="0" i="1">
                <a:solidFill>
                  <a:schemeClr val="accent3"/>
                </a:solidFill>
              </a:rPr>
              <a:t>A first draft. What would you change?</a:t>
            </a:r>
          </a:p>
        </p:txBody>
      </p:sp>
      <p:sp>
        <p:nvSpPr>
          <p:cNvPr id="43" name="Source"/>
          <p:cNvSpPr txBox="1"/>
          <p:nvPr/>
        </p:nvSpPr>
        <p:spPr>
          <a:xfrm>
            <a:off x="548640" y="5989320"/>
            <a:ext cx="11091672" cy="320040"/>
          </a:xfrm>
          <a:prstGeom prst="rect">
            <a:avLst/>
          </a:prstGeom>
          <a:noFill/>
        </p:spPr>
        <p:txBody>
          <a:bodyPr wrap="square" lIns="0" tIns="0" rIns="0" bIns="0" anchor="ctr">
            <a:noAutofit/>
          </a:bodyPr>
          <a:lstStyle/>
          <a:p>
            <a:pPr algn="l"/>
            <a:r>
              <a:rPr lang="en-US" sz="1000" b="0" i="0">
                <a:solidFill>
                  <a:schemeClr val="tx2"/>
                </a:solidFill>
              </a:rPr>
              <a:t>Destination: Australian visitor visa (subclass 600). All applicants are invented. No model has been run yet.</a:t>
            </a:r>
          </a:p>
        </p:txBody>
      </p:sp>
      <p:sp>
        <p:nvSpPr>
          <p:cNvPr id="4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4" name="Limit big 1"/>
          <p:cNvSpPr txBox="1"/>
          <p:nvPr/>
        </p:nvSpPr>
        <p:spPr>
          <a:xfrm>
            <a:off x="777240"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Abid, A., Farooqi, M., &amp; Zou, J. (2021). Persistent anti-Muslim bias in large language models. AIES ’21, 298–306.</a:t>
            </a:r>
            <a:endParaRPr lang="en-US" sz="1000" dirty="0"/>
          </a:p>
          <a:p>
            <a:pPr marL="0" indent="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marL="0" indent="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marL="0" indent="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marL="0" indent="0">
              <a:spcAft>
                <a:spcPts val="500"/>
              </a:spcAft>
              <a:buNone/>
            </a:pPr>
            <a:r>
              <a:rPr lang="en-US" sz="1000" dirty="0">
                <a:solidFill>
                  <a:schemeClr val="tx1"/>
                </a:solidFill>
              </a:rPr>
              <a:t>European Union Agency for Fundamental Rights (2024). Being Muslim in the EU.</a:t>
            </a:r>
            <a:endParaRPr lang="en-US" sz="1000" dirty="0"/>
          </a:p>
          <a:p>
            <a:pPr marL="0" indent="0">
              <a:spcAft>
                <a:spcPts val="500"/>
              </a:spcAft>
              <a:buNone/>
            </a:pPr>
            <a:r>
              <a:rPr lang="en-US" sz="1000" dirty="0">
                <a:solidFill>
                  <a:schemeClr val="tx1"/>
                </a:solidFill>
              </a:rPr>
              <a:t>Foresti, M. (2026). The cost of visa rejections. LAGO Collective, 9 June 2026.</a:t>
            </a:r>
            <a:endParaRPr lang="en-US" sz="1000" dirty="0"/>
          </a:p>
          <a:p>
            <a:pPr marL="0" indent="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marL="0" indent="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marL="0" indent="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marL="0" indent="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marL="0" indent="0">
              <a:spcAft>
                <a:spcPts val="500"/>
              </a:spcAft>
              <a:buNone/>
            </a:pPr>
            <a:r>
              <a:rPr lang="en-US" sz="1000" dirty="0">
                <a:solidFill>
                  <a:schemeClr val="tx1"/>
                </a:solidFill>
              </a:rPr>
              <a:t>Lighthouse Reports (2023). Ethnic Profiling. 24 April 2023.</a:t>
            </a:r>
            <a:endParaRPr lang="en-US" sz="1000" dirty="0"/>
          </a:p>
          <a:p>
            <a:pPr marL="0" indent="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marL="0" indent="0">
              <a:spcAft>
                <a:spcPts val="500"/>
              </a:spcAft>
              <a:buNone/>
            </a:pPr>
            <a:r>
              <a:rPr lang="en-US" sz="1000" dirty="0">
                <a:solidFill>
                  <a:schemeClr val="tx1"/>
                </a:solidFill>
              </a:rPr>
              <a:t>Natural Earth (2026). 1:50m cultural vectors, admin 0 – countries. Public domain.</a:t>
            </a:r>
            <a:endParaRPr lang="en-US" sz="1000" dirty="0"/>
          </a:p>
          <a:p>
            <a:pPr marL="0" indent="0">
              <a:spcAft>
                <a:spcPts val="500"/>
              </a:spcAft>
              <a:buNone/>
            </a:pPr>
            <a:r>
              <a:rPr lang="en-US" sz="1000" dirty="0">
                <a:solidFill>
                  <a:schemeClr val="tx1"/>
                </a:solidFill>
              </a:rPr>
              <a:t>Pew Research Center (2025). Religious Composition by Country, 2010–2020. Dataset.</a:t>
            </a:r>
            <a:endParaRPr lang="en-US" sz="1000" dirty="0"/>
          </a:p>
          <a:p>
            <a:pPr marL="0" indent="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marL="0" indent="0">
              <a:spcAft>
                <a:spcPts val="500"/>
              </a:spcAft>
              <a:buNone/>
            </a:pPr>
            <a:r>
              <a:rPr lang="en-US" sz="1000" dirty="0">
                <a:solidFill>
                  <a:schemeClr val="tx1"/>
                </a:solidFill>
              </a:rPr>
              <a:t>U.S. Department of State (2025). Adjusted Refusal Rate – B-Visas Only by Nationality, Fiscal Year 2025.</a:t>
            </a:r>
            <a:endParaRPr lang="en-US" sz="1000" dirty="0"/>
          </a:p>
          <a:p>
            <a:pPr marL="0" indent="0">
              <a:spcAft>
                <a:spcPts val="500"/>
              </a:spcAft>
              <a:buNone/>
            </a:pPr>
            <a:r>
              <a:rPr lang="en-US" sz="1000" dirty="0">
                <a:solidFill>
                  <a:schemeClr val="tx1"/>
                </a:solidFill>
              </a:rPr>
              <a:t>Australian Government, Department of Home Affairs. Freedom of information releases FA 24/05/01409 (2024), FA 20/10/00106 (2020) and FA 18/04/00125 (2018); pages for the Visitor visa (subclass 600), the Electronic Travel Authority (601) and the eVisitor (651), read 10 October 2026.</a:t>
            </a:r>
            <a:endParaRPr lang="en-US" sz="1000" dirty="0"/>
          </a:p>
          <a:p>
            <a:pPr marL="0" indent="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a:p>
            <a:pPr marL="0" indent="0">
              <a:spcAft>
                <a:spcPts val="500"/>
              </a:spcAft>
              <a:buNone/>
            </a:pPr>
            <a:r>
              <a:rPr lang="en-US" sz="1000" dirty="0">
                <a:solidFill>
                  <a:schemeClr val="tx1"/>
                </a:solidFill>
              </a:rPr>
              <a:t>European Parliament and Council (2018). Regulation (EU) 2018/1240 establishing a European Travel Information and Authorisation System (ETIAS), Article 33.</a:t>
            </a:r>
            <a:endParaRPr lang="en-US" sz="1000" dirty="0"/>
          </a:p>
          <a:p>
            <a:pPr marL="0" indent="0">
              <a:spcAft>
                <a:spcPts val="500"/>
              </a:spcAft>
              <a:buNone/>
            </a:pPr>
            <a:r>
              <a:rPr lang="en-US" sz="1000" dirty="0">
                <a:solidFill>
                  <a:schemeClr val="tx1"/>
                </a:solidFill>
              </a:rPr>
              <a:t>Deutscher Bundestag (2026). Einsatz künstlicher Intelligenz in der Migrationsverwaltung. First reading of bill 21/8275, 8 October 2026.</a:t>
            </a:r>
            <a:endParaRPr lang="en-US" sz="1000" dirty="0"/>
          </a:p>
          <a:p>
            <a:pPr marL="0" indent="0">
              <a:spcAft>
                <a:spcPts val="500"/>
              </a:spcAft>
              <a:buNone/>
            </a:pPr>
            <a:r>
              <a:rPr lang="en-US" sz="1000" dirty="0">
                <a:solidFill>
                  <a:schemeClr val="tx1"/>
                </a:solidFill>
              </a:rPr>
              <a:t>Mawson, N. (2026). Machine learning gets first say on who gets into SA.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8557</Words>
  <Application>Microsoft Office PowerPoint</Application>
  <PresentationFormat>Breitbild</PresentationFormat>
  <Paragraphs>376</Paragraphs>
  <Slides>18</Slides>
  <Notes>18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18</vt:i4>
      </vt:variant>
    </vt:vector>
  </HeadingPairs>
  <TitlesOfParts>
    <vt:vector size="22" baseType="lpstr">
      <vt:lpstr>Arial</vt:lpstr>
      <vt:lpstr>Calibri</vt:lpstr>
      <vt:lpstr>Cambria</vt:lpstr>
      <vt:lpstr>Passport</vt:lpstr>
      <vt:lpstr>PowerPoint-Präsentation</vt:lpstr>
      <vt:lpstr>August 2026: two searches on Google</vt:lpstr>
      <vt:lpstr>And in language models? What research found</vt:lpstr>
      <vt:lpstr>The papers we found compare one big group</vt:lpstr>
      <vt:lpstr>Why Arabs? Two reasons</vt:lpstr>
      <vt:lpstr>What scenario is best?</vt:lpstr>
      <vt:lpstr>Spot the difference</vt:lpstr>
      <vt:lpstr>And Australia, our destination?</vt:lpstr>
      <vt:lpstr>Our research questions</vt:lpstr>
      <vt:lpstr>Timeline: first results by the midterm</vt:lpstr>
      <vt:lpstr>PowerPoint-Präsentation</vt:lpstr>
      <vt:lpstr>53 Muslim-majority countries are not one group</vt:lpstr>
      <vt:lpstr>Islamophobia in society</vt:lpstr>
      <vt:lpstr>A visa form asks for the passport, not the religion</vt:lpstr>
      <vt:lpstr>Same rules for all 22, very different outcomes</vt:lpstr>
      <vt:lpstr>Our experimental setup</vt:lpstr>
      <vt:lpstr>Scope and limits</vt:lpstr>
      <vt:lpstr>Sources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cp:lastModifiedBy>
  <cp:revision>5</cp:revision>
  <dcterms:created xsi:type="dcterms:W3CDTF">2026-10-12T09:00:16Z</dcterms:created>
  <dcterms:modified xsi:type="dcterms:W3CDTF">2026-10-12T17:58:02Z</dcterms:modified>
</cp:coreProperties>
</file>