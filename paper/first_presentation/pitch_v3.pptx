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9f188b04-9e8d-7c0a-1488-48a6d3ae2dfa}">
          <p14:sldIdLst>
            <p14:sldId id="256"/>
            <p14:sldId id="257"/>
            <p14:sldId id="258"/>
            <p14:sldId id="259"/>
            <p14:sldId id="260"/>
            <p14:sldId id="261"/>
            <p14:sldId id="262"/>
            <p14:sldId id="263"/>
          </p14:sldIdLst>
        </p14:section>
        <p14:section name="Backup" id="{8c179033-878a-f80a-7fd2-e6a201037531}">
          <p14:sldIdLst>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Egypt</c:v>
                  </c:pt>
                  <c:pt idx="1">
                    <c:v>Yemen</c:v>
                  </c:pt>
                  <c:pt idx="2">
                    <c:v>Sudan</c:v>
                  </c:pt>
                  <c:pt idx="3">
                    <c:v>Syria</c:v>
                  </c:pt>
                  <c:pt idx="4">
                    <c:v>Jordan</c:v>
                  </c:pt>
                  <c:pt idx="5">
                    <c:v>Palestine</c:v>
                  </c:pt>
                  <c:pt idx="6">
                    <c:v>Lebanon</c:v>
                  </c:pt>
                </c:lvl>
              </c:multiLvlStrCache>
            </c:multiLvlStrRef>
          </c:cat>
          <c:val>
            <c:numRef>
              <c:f>Sheet1!$B$2:$B$8</c:f>
              <c:numCache>
                <c:formatCode>General</c:formatCode>
                <c:ptCount val="7"/>
                <c:pt idx="0">
                  <c:v>23</c:v>
                </c:pt>
                <c:pt idx="1">
                  <c:v>22</c:v>
                </c:pt>
                <c:pt idx="2">
                  <c:v>10</c:v>
                </c:pt>
                <c:pt idx="3">
                  <c:v>5</c:v>
                </c:pt>
                <c:pt idx="4">
                  <c:v>4</c:v>
                </c:pt>
                <c:pt idx="5">
                  <c:v>2</c:v>
                </c:pt>
                <c:pt idx="6">
                  <c:v>1</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28.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Sheet1!$A$2:$A$20</c:f>
              <c:multiLvlStrCache>
                <c:ptCount val="19"/>
                <c:lvl>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lvl>
              </c:multiLvlStrCache>
            </c:multiLvl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ser>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2026-10-12): the team searched the literature on language models and found the same problem there. Three published studies, all read in the full text.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visa applicants is in use (next slide);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 says it does not permit generative AI to support decisions. EU AI Act, Annex III: systems that assist in examining visa applications are high-risk.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algn="r" indent="0" marL="0">
              <a:buNone/>
            </a:pPr>
            <a:r>
              <a:rPr lang="en-US" sz="1000" b="1" spc="300" kern="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4" name="Text 2"/>
          <p:cNvSpPr/>
          <p:nvPr>
            <p:ph idx="102" type="title" hasCustomPrompt="1"/>
          </p:nvPr>
        </p:nvSpPr>
        <p:spPr>
          <a:xfrm>
            <a:off x="548640" y="365760"/>
            <a:ext cx="9448495"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image" Target="../media/image-4-10.png"/><Relationship Id="rId12" Type="http://schemas.openxmlformats.org/officeDocument/2006/relationships/image" Target="../media/image-4-11.png"/><Relationship Id="rId13" Type="http://schemas.openxmlformats.org/officeDocument/2006/relationships/slideLayout" Target="../slideLayouts/slideLayout3.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slideLayout" Target="../slideLayouts/slideLayout2.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slideLayout" Target="../slideLayouts/slideLayout3.xml"/><Relationship Id="rId2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5.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sp>
      <p:pic>
        <p:nvPicPr>
          <p:cNvPr id="4" name="Stat 1 icon" descr="preencoded.png">    </p:cNvPr>
          <p:cNvPicPr>
            <a:picLocks noChangeAspect="1"/>
          </p:cNvPicPr>
          <p:nvPr/>
        </p:nvPicPr>
        <p:blipFill>
          <a:blip r:embed="rId1"/>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indent="0" marL="0">
              <a:buNone/>
            </a:pPr>
            <a:r>
              <a:rPr lang="en-US" sz="1400" b="1" spc="300" kern="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indent="0" marL="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indent="0" marL="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indent="0" marL="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sp>
      <p:pic>
        <p:nvPicPr>
          <p:cNvPr id="10" name="Stat 2 icon" descr="preencoded.png">    </p:cNvPr>
          <p:cNvPicPr>
            <a:picLocks noChangeAspect="1"/>
          </p:cNvPicPr>
          <p:nvPr/>
        </p:nvPicPr>
        <p:blipFill>
          <a:blip r:embed="rId2"/>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indent="0" marL="0">
              <a:buNone/>
            </a:pPr>
            <a:r>
              <a:rPr lang="en-US" sz="1400" b="1" spc="300" kern="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indent="0" marL="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indent="0" marL="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indent="0" marL="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And in language models? What research found</a:t>
            </a:r>
            <a:endParaRPr lang="en-US" sz="3600" dirty="0"/>
          </a:p>
        </p:txBody>
      </p:sp>
      <p:sp>
        <p:nvSpPr>
          <p:cNvPr id="3" name="Model card 1"/>
          <p:cNvSpPr/>
          <p:nvPr/>
        </p:nvSpPr>
        <p:spPr>
          <a:xfrm>
            <a:off x="548640" y="1463040"/>
            <a:ext cx="3454298" cy="3749040"/>
          </a:xfrm>
          <a:prstGeom prst="roundRect">
            <a:avLst>
              <a:gd name="adj" fmla="val 3177"/>
            </a:avLst>
          </a:prstGeom>
          <a:solidFill>
            <a:schemeClr val="bg2"/>
          </a:solidFill>
          <a:ln w="12700">
            <a:solidFill>
              <a:schemeClr val="bg2"/>
            </a:solidFill>
            <a:prstDash val="solid"/>
          </a:ln>
        </p:spPr>
      </p:sp>
      <p:sp>
        <p:nvSpPr>
          <p:cNvPr id="4" name="Model 1 circle"/>
          <p:cNvSpPr/>
          <p:nvPr/>
        </p:nvSpPr>
        <p:spPr>
          <a:xfrm>
            <a:off x="868680" y="1783080"/>
            <a:ext cx="640080" cy="640080"/>
          </a:xfrm>
          <a:prstGeom prst="ellipse">
            <a:avLst/>
          </a:prstGeom>
          <a:solidFill>
            <a:schemeClr val="tx1"/>
          </a:solidFill>
          <a:ln w="12700">
            <a:solidFill>
              <a:schemeClr val="tx1"/>
            </a:solidFill>
            <a:prstDash val="solid"/>
          </a:ln>
        </p:spPr>
      </p:sp>
      <p:pic>
        <p:nvPicPr>
          <p:cNvPr id="5" name="Model 1 icon" descr="preencoded.png">    </p:cNvPr>
          <p:cNvPicPr>
            <a:picLocks noChangeAspect="1"/>
          </p:cNvPicPr>
          <p:nvPr/>
        </p:nvPicPr>
        <p:blipFill>
          <a:blip r:embed="rId1"/>
          <a:stretch>
            <a:fillRect/>
          </a:stretch>
        </p:blipFill>
        <p:spPr>
          <a:xfrm>
            <a:off x="1022299" y="1936699"/>
            <a:ext cx="332842" cy="332842"/>
          </a:xfrm>
          <a:prstGeom prst="rect">
            <a:avLst/>
          </a:prstGeom>
        </p:spPr>
      </p:pic>
      <p:sp>
        <p:nvSpPr>
          <p:cNvPr id="6" name="Model kicker 1"/>
          <p:cNvSpPr txBox="1"/>
          <p:nvPr/>
        </p:nvSpPr>
        <p:spPr>
          <a:xfrm>
            <a:off x="1645920"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GPT-3</a:t>
            </a:r>
            <a:endParaRPr lang="en-US" sz="1200" dirty="0"/>
          </a:p>
        </p:txBody>
      </p:sp>
      <p:sp>
        <p:nvSpPr>
          <p:cNvPr id="7" name="Model number 1"/>
          <p:cNvSpPr txBox="1"/>
          <p:nvPr/>
        </p:nvSpPr>
        <p:spPr>
          <a:xfrm>
            <a:off x="868680"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66%</a:t>
            </a:r>
            <a:endParaRPr lang="en-US" sz="6600" dirty="0"/>
          </a:p>
        </p:txBody>
      </p:sp>
      <p:sp>
        <p:nvSpPr>
          <p:cNvPr id="8" name="Model label 1"/>
          <p:cNvSpPr txBox="1"/>
          <p:nvPr/>
        </p:nvSpPr>
        <p:spPr>
          <a:xfrm>
            <a:off x="868680"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of its endings for “Two Muslims walked into a …” were violent.</a:t>
            </a:r>
            <a:endParaRPr lang="en-US" sz="1600" dirty="0"/>
          </a:p>
        </p:txBody>
      </p:sp>
      <p:sp>
        <p:nvSpPr>
          <p:cNvPr id="9" name="Model card 2"/>
          <p:cNvSpPr/>
          <p:nvPr/>
        </p:nvSpPr>
        <p:spPr>
          <a:xfrm>
            <a:off x="4368698" y="1463040"/>
            <a:ext cx="3454298" cy="3749040"/>
          </a:xfrm>
          <a:prstGeom prst="roundRect">
            <a:avLst>
              <a:gd name="adj" fmla="val 3177"/>
            </a:avLst>
          </a:prstGeom>
          <a:solidFill>
            <a:schemeClr val="bg2"/>
          </a:solidFill>
          <a:ln w="12700">
            <a:solidFill>
              <a:schemeClr val="bg2"/>
            </a:solidFill>
            <a:prstDash val="solid"/>
          </a:ln>
        </p:spPr>
      </p:sp>
      <p:sp>
        <p:nvSpPr>
          <p:cNvPr id="10" name="Model 2 circle"/>
          <p:cNvSpPr/>
          <p:nvPr/>
        </p:nvSpPr>
        <p:spPr>
          <a:xfrm>
            <a:off x="4688738" y="1783080"/>
            <a:ext cx="640080" cy="640080"/>
          </a:xfrm>
          <a:prstGeom prst="ellipse">
            <a:avLst/>
          </a:prstGeom>
          <a:solidFill>
            <a:schemeClr val="tx1"/>
          </a:solidFill>
          <a:ln w="12700">
            <a:solidFill>
              <a:schemeClr val="tx1"/>
            </a:solidFill>
            <a:prstDash val="solid"/>
          </a:ln>
        </p:spPr>
      </p:sp>
      <p:pic>
        <p:nvPicPr>
          <p:cNvPr id="11" name="Model 2 icon" descr="preencoded.png">    </p:cNvPr>
          <p:cNvPicPr>
            <a:picLocks noChangeAspect="1"/>
          </p:cNvPicPr>
          <p:nvPr/>
        </p:nvPicPr>
        <p:blipFill>
          <a:blip r:embed="rId2"/>
          <a:stretch>
            <a:fillRect/>
          </a:stretch>
        </p:blipFill>
        <p:spPr>
          <a:xfrm>
            <a:off x="4842358" y="1936699"/>
            <a:ext cx="332842" cy="332842"/>
          </a:xfrm>
          <a:prstGeom prst="rect">
            <a:avLst/>
          </a:prstGeom>
        </p:spPr>
      </p:pic>
      <p:sp>
        <p:nvSpPr>
          <p:cNvPr id="12" name="Model kicker 2"/>
          <p:cNvSpPr txBox="1"/>
          <p:nvPr/>
        </p:nvSpPr>
        <p:spPr>
          <a:xfrm>
            <a:off x="5465978"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FIVE CHAT MODELS</a:t>
            </a:r>
            <a:endParaRPr lang="en-US" sz="1200" dirty="0"/>
          </a:p>
        </p:txBody>
      </p:sp>
      <p:sp>
        <p:nvSpPr>
          <p:cNvPr id="13" name="Model number 2"/>
          <p:cNvSpPr txBox="1"/>
          <p:nvPr/>
        </p:nvSpPr>
        <p:spPr>
          <a:xfrm>
            <a:off x="4688738"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78%</a:t>
            </a:r>
            <a:endParaRPr lang="en-US" sz="6600" dirty="0"/>
          </a:p>
        </p:txBody>
      </p:sp>
      <p:sp>
        <p:nvSpPr>
          <p:cNvPr id="14" name="Model label 2"/>
          <p:cNvSpPr txBox="1"/>
          <p:nvPr/>
        </p:nvSpPr>
        <p:spPr>
          <a:xfrm>
            <a:off x="4688738"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fewer Middle Eastern names in their stories about work than in the US population.</a:t>
            </a:r>
            <a:endParaRPr lang="en-US" sz="1600" dirty="0"/>
          </a:p>
        </p:txBody>
      </p:sp>
      <p:sp>
        <p:nvSpPr>
          <p:cNvPr id="15" name="Model card 3"/>
          <p:cNvSpPr/>
          <p:nvPr/>
        </p:nvSpPr>
        <p:spPr>
          <a:xfrm>
            <a:off x="8188757" y="1463040"/>
            <a:ext cx="3454298" cy="3749040"/>
          </a:xfrm>
          <a:prstGeom prst="roundRect">
            <a:avLst>
              <a:gd name="adj" fmla="val 3177"/>
            </a:avLst>
          </a:prstGeom>
          <a:solidFill>
            <a:schemeClr val="bg2"/>
          </a:solidFill>
          <a:ln w="12700">
            <a:solidFill>
              <a:schemeClr val="bg2"/>
            </a:solidFill>
            <a:prstDash val="solid"/>
          </a:ln>
        </p:spPr>
      </p:sp>
      <p:sp>
        <p:nvSpPr>
          <p:cNvPr id="16" name="Model 3 circle"/>
          <p:cNvSpPr/>
          <p:nvPr/>
        </p:nvSpPr>
        <p:spPr>
          <a:xfrm>
            <a:off x="8508797" y="1783080"/>
            <a:ext cx="640080" cy="640080"/>
          </a:xfrm>
          <a:prstGeom prst="ellipse">
            <a:avLst/>
          </a:prstGeom>
          <a:solidFill>
            <a:schemeClr val="tx1"/>
          </a:solidFill>
          <a:ln w="12700">
            <a:solidFill>
              <a:schemeClr val="tx1"/>
            </a:solidFill>
            <a:prstDash val="solid"/>
          </a:ln>
        </p:spPr>
      </p:sp>
      <p:pic>
        <p:nvPicPr>
          <p:cNvPr id="17" name="Model 3 icon" descr="preencoded.png">    </p:cNvPr>
          <p:cNvPicPr>
            <a:picLocks noChangeAspect="1"/>
          </p:cNvPicPr>
          <p:nvPr/>
        </p:nvPicPr>
        <p:blipFill>
          <a:blip r:embed="rId3"/>
          <a:stretch>
            <a:fillRect/>
          </a:stretch>
        </p:blipFill>
        <p:spPr>
          <a:xfrm>
            <a:off x="8662416" y="1936699"/>
            <a:ext cx="332842" cy="332842"/>
          </a:xfrm>
          <a:prstGeom prst="rect">
            <a:avLst/>
          </a:prstGeom>
        </p:spPr>
      </p:pic>
      <p:sp>
        <p:nvSpPr>
          <p:cNvPr id="18" name="Model kicker 3"/>
          <p:cNvSpPr txBox="1"/>
          <p:nvPr/>
        </p:nvSpPr>
        <p:spPr>
          <a:xfrm>
            <a:off x="9286037" y="1783080"/>
            <a:ext cx="2082698" cy="640080"/>
          </a:xfrm>
          <a:prstGeom prst="rect">
            <a:avLst/>
          </a:prstGeom>
          <a:noFill/>
          <a:ln/>
        </p:spPr>
        <p:txBody>
          <a:bodyPr wrap="square" lIns="0" tIns="0" rIns="0" bIns="0" rtlCol="0" anchor="ctr"/>
          <a:lstStyle/>
          <a:p>
            <a:pPr indent="0" marL="0">
              <a:buNone/>
            </a:pPr>
            <a:r>
              <a:rPr lang="en-US" sz="1200" b="1" spc="200" kern="0" dirty="0">
                <a:solidFill>
                  <a:schemeClr val="tx2"/>
                </a:solidFill>
              </a:rPr>
              <a:t>GPT-3.5 RATES CVS</a:t>
            </a:r>
            <a:endParaRPr lang="en-US" sz="1200" dirty="0"/>
          </a:p>
        </p:txBody>
      </p:sp>
      <p:sp>
        <p:nvSpPr>
          <p:cNvPr id="19" name="Model number 3"/>
          <p:cNvSpPr txBox="1"/>
          <p:nvPr/>
        </p:nvSpPr>
        <p:spPr>
          <a:xfrm>
            <a:off x="8508797" y="2560320"/>
            <a:ext cx="2814218" cy="109728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−15%</a:t>
            </a:r>
            <a:endParaRPr lang="en-US" sz="6600" dirty="0"/>
          </a:p>
        </p:txBody>
      </p:sp>
      <p:sp>
        <p:nvSpPr>
          <p:cNvPr id="20" name="Model label 3"/>
          <p:cNvSpPr txBox="1"/>
          <p:nvPr/>
        </p:nvSpPr>
        <p:spPr>
          <a:xfrm>
            <a:off x="8508797" y="3749040"/>
            <a:ext cx="2814218" cy="1280160"/>
          </a:xfrm>
          <a:prstGeom prst="rect">
            <a:avLst/>
          </a:prstGeom>
          <a:noFill/>
          <a:ln/>
        </p:spPr>
        <p:txBody>
          <a:bodyPr wrap="square" lIns="0" tIns="0" rIns="0" bIns="0" rtlCol="0" anchor="t"/>
          <a:lstStyle/>
          <a:p>
            <a:pPr indent="0" marL="0">
              <a:buNone/>
            </a:pPr>
            <a:r>
              <a:rPr lang="en-US" sz="1600" dirty="0">
                <a:solidFill>
                  <a:schemeClr val="tx1"/>
                </a:solidFill>
              </a:rPr>
              <a:t>The same CV passes the bar less often with an Arab name than with a Dutch name.</a:t>
            </a:r>
            <a:endParaRPr lang="en-US" sz="1600" dirty="0"/>
          </a:p>
        </p:txBody>
      </p:sp>
      <p:sp>
        <p:nvSpPr>
          <p:cNvPr id="21"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These models are built into more and more software. Who checks them?</a:t>
            </a:r>
            <a:endParaRPr lang="en-US" sz="20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r>
          <p:cNvPicPr>
            <a:picLocks noChangeAspect="1"/>
          </p:cNvPicPr>
          <p:nvPr/>
        </p:nvPicPr>
        <p:blipFill>
          <a:blip r:embed="rId1"/>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indent="0" marL="0">
              <a:buNone/>
            </a:pPr>
            <a:r>
              <a:rPr lang="en-US" sz="1500" dirty="0">
                <a:solidFill>
                  <a:schemeClr val="tx1"/>
                </a:solidFill>
              </a:rPr>
              <a:t>Muslim-majority countries, from Senegal to Indonesia</a:t>
            </a:r>
            <a:endParaRPr lang="en-US" sz="1500" dirty="0"/>
          </a:p>
        </p:txBody>
      </p:sp>
      <p:pic>
        <p:nvPicPr>
          <p:cNvPr id="11" name="Arrow 1" descr="preencoded.png">    </p:cNvPr>
          <p:cNvPicPr>
            <a:picLocks noChangeAspect="1"/>
          </p:cNvPicPr>
          <p:nvPr/>
        </p:nvPicPr>
        <p:blipFill>
          <a:blip r:embed="rId2"/>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indent="0" marL="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indent="0" marL="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xmlns:a="http://schemas.openxmlformats.org/drawingml/2006/main">
          <a:graphicData uri="http://schemas.openxmlformats.org/drawingml/2006/chart">
            <c:chart xmlns:c="http://schemas.openxmlformats.org/drawingml/2006/chart" r:id="rId1"/>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sp>
      <p:pic>
        <p:nvPicPr>
          <p:cNvPr id="8" name="Reason 1 icon" descr="preencoded.png">    </p:cNvPr>
          <p:cNvPicPr>
            <a:picLocks noChangeAspect="1"/>
          </p:cNvPicPr>
          <p:nvPr/>
        </p:nvPicPr>
        <p:blipFill>
          <a:blip r:embed="rId2"/>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indent="0" marL="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r>
          <p:cNvPicPr>
            <a:picLocks noChangeAspect="1"/>
          </p:cNvPicPr>
          <p:nvPr/>
        </p:nvPicPr>
        <p:blipFill>
          <a:blip r:embed="rId3"/>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sp>
      <p:pic>
        <p:nvPicPr>
          <p:cNvPr id="14" name="Reason 2 icon" descr="preencoded.png">    </p:cNvPr>
          <p:cNvPicPr>
            <a:picLocks noChangeAspect="1"/>
          </p:cNvPicPr>
          <p:nvPr/>
        </p:nvPicPr>
        <p:blipFill>
          <a:blip r:embed="rId4"/>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indent="0" marL="0">
              <a:buNone/>
            </a:pPr>
            <a:r>
              <a:rPr lang="en-US" sz="1400" dirty="0">
                <a:solidFill>
                  <a:schemeClr val="tx2"/>
                </a:solidFill>
              </a:rPr>
              <a:t>Take a second citizenship and the first is gone.</a:t>
            </a:r>
            <a:endParaRPr lang="en-US" sz="2000" dirty="0"/>
          </a:p>
        </p:txBody>
      </p:sp>
      <p:pic>
        <p:nvPicPr>
          <p:cNvPr id="16" name="Reason 2 flag Kuwait" descr="Flag of Kuwait">    </p:cNvPr>
          <p:cNvPicPr>
            <a:picLocks noChangeAspect="1"/>
          </p:cNvPicPr>
          <p:nvPr/>
        </p:nvPicPr>
        <p:blipFill>
          <a:blip r:embed="rId5"/>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sp>
      <p:pic>
        <p:nvPicPr>
          <p:cNvPr id="18" name="Reason 2 flag Libya" descr="Flag of Libya">    </p:cNvPr>
          <p:cNvPicPr>
            <a:picLocks noChangeAspect="1"/>
          </p:cNvPicPr>
          <p:nvPr/>
        </p:nvPicPr>
        <p:blipFill>
          <a:blip r:embed="rId6"/>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sp>
      <p:pic>
        <p:nvPicPr>
          <p:cNvPr id="20" name="Reason 2 flag United Arab Emirates" descr="Flag of United Arab Emirates">    </p:cNvPr>
          <p:cNvPicPr>
            <a:picLocks noChangeAspect="1"/>
          </p:cNvPicPr>
          <p:nvPr/>
        </p:nvPicPr>
        <p:blipFill>
          <a:blip r:embed="rId7"/>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sp>
      <p:pic>
        <p:nvPicPr>
          <p:cNvPr id="24" name="Reason 3 icon" descr="preencoded.png">    </p:cNvPr>
          <p:cNvPicPr>
            <a:picLocks noChangeAspect="1"/>
          </p:cNvPicPr>
          <p:nvPr/>
        </p:nvPicPr>
        <p:blipFill>
          <a:blip r:embed="rId8"/>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indent="0" marL="0">
              <a:buNone/>
            </a:pPr>
            <a:r>
              <a:rPr lang="en-US" sz="1400" dirty="0">
                <a:solidFill>
                  <a:schemeClr val="tx2"/>
                </a:solidFill>
              </a:rPr>
              <a:t>The citizenship cannot be given up.</a:t>
            </a:r>
            <a:endParaRPr lang="en-US" sz="2000" dirty="0"/>
          </a:p>
        </p:txBody>
      </p:sp>
      <p:pic>
        <p:nvPicPr>
          <p:cNvPr id="26" name="Reason 3 flag Morocco" descr="Flag of Morocco">    </p:cNvPr>
          <p:cNvPicPr>
            <a:picLocks noChangeAspect="1"/>
          </p:cNvPicPr>
          <p:nvPr/>
        </p:nvPicPr>
        <p:blipFill>
          <a:blip r:embed="rId9"/>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sp>
      <p:pic>
        <p:nvPicPr>
          <p:cNvPr id="28" name="Reason 3 flag Qatar" descr="Flag of Qatar">    </p:cNvPr>
          <p:cNvPicPr>
            <a:picLocks noChangeAspect="1"/>
          </p:cNvPicPr>
          <p:nvPr/>
        </p:nvPicPr>
        <p:blipFill>
          <a:blip r:embed="rId10"/>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sp>
      <p:pic>
        <p:nvPicPr>
          <p:cNvPr id="30" name="Reason 3 flag Tunisia" descr="Flag of Tunisia">    </p:cNvPr>
          <p:cNvPicPr>
            <a:picLocks noChangeAspect="1"/>
          </p:cNvPicPr>
          <p:nvPr/>
        </p:nvPicPr>
        <p:blipFill>
          <a:blip r:embed="rId11"/>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sp>
      <p:pic>
        <p:nvPicPr>
          <p:cNvPr id="32" name="Reason 3 flag Yemen" descr="Flag of Yemen">    </p:cNvPr>
          <p:cNvPicPr>
            <a:picLocks noChangeAspect="1"/>
          </p:cNvPicPr>
          <p:nvPr/>
        </p:nvPicPr>
        <p:blipFill>
          <a:blip r:embed="rId12"/>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sp>
      <p:sp>
        <p:nvSpPr>
          <p:cNvPr id="3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indent="0" marL="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indent="0" marL="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indent="0" marL="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r>
          <p:cNvPicPr>
            <a:picLocks noChangeAspect="1"/>
          </p:cNvPicPr>
          <p:nvPr/>
        </p:nvPicPr>
        <p:blipFill>
          <a:blip r:embed="rId1"/>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Algerian</a:t>
            </a:r>
            <a:endParaRPr lang="en-US" sz="1000" dirty="0"/>
          </a:p>
        </p:txBody>
      </p:sp>
      <p:pic>
        <p:nvPicPr>
          <p:cNvPr id="10" name="Flag Bahrain" descr="Flag of Bahrain">    </p:cNvPr>
          <p:cNvPicPr>
            <a:picLocks noChangeAspect="1"/>
          </p:cNvPicPr>
          <p:nvPr/>
        </p:nvPicPr>
        <p:blipFill>
          <a:blip r:embed="rId2"/>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Bahraini</a:t>
            </a:r>
            <a:endParaRPr lang="en-US" sz="1000" dirty="0"/>
          </a:p>
        </p:txBody>
      </p:sp>
      <p:pic>
        <p:nvPicPr>
          <p:cNvPr id="13" name="Flag Comoros" descr="Flag of Comoros">    </p:cNvPr>
          <p:cNvPicPr>
            <a:picLocks noChangeAspect="1"/>
          </p:cNvPicPr>
          <p:nvPr/>
        </p:nvPicPr>
        <p:blipFill>
          <a:blip r:embed="rId3"/>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Comorian</a:t>
            </a:r>
            <a:endParaRPr lang="en-US" sz="1000" dirty="0"/>
          </a:p>
        </p:txBody>
      </p:sp>
      <p:pic>
        <p:nvPicPr>
          <p:cNvPr id="16" name="Flag Djibouti" descr="Flag of Djibouti">    </p:cNvPr>
          <p:cNvPicPr>
            <a:picLocks noChangeAspect="1"/>
          </p:cNvPicPr>
          <p:nvPr/>
        </p:nvPicPr>
        <p:blipFill>
          <a:blip r:embed="rId4"/>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Djiboutian</a:t>
            </a:r>
            <a:endParaRPr lang="en-US" sz="1000" dirty="0"/>
          </a:p>
        </p:txBody>
      </p:sp>
      <p:pic>
        <p:nvPicPr>
          <p:cNvPr id="19" name="Flag Egypt" descr="Flag of Egypt">    </p:cNvPr>
          <p:cNvPicPr>
            <a:picLocks noChangeAspect="1"/>
          </p:cNvPicPr>
          <p:nvPr/>
        </p:nvPicPr>
        <p:blipFill>
          <a:blip r:embed="rId5"/>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Egyptian</a:t>
            </a:r>
            <a:endParaRPr lang="en-US" sz="1000" dirty="0"/>
          </a:p>
        </p:txBody>
      </p:sp>
      <p:pic>
        <p:nvPicPr>
          <p:cNvPr id="22" name="Flag United Arab Emirates" descr="Flag of United Arab Emirates">    </p:cNvPr>
          <p:cNvPicPr>
            <a:picLocks noChangeAspect="1"/>
          </p:cNvPicPr>
          <p:nvPr/>
        </p:nvPicPr>
        <p:blipFill>
          <a:blip r:embed="rId6"/>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Emirati</a:t>
            </a:r>
            <a:endParaRPr lang="en-US" sz="1000" dirty="0"/>
          </a:p>
        </p:txBody>
      </p:sp>
      <p:pic>
        <p:nvPicPr>
          <p:cNvPr id="25" name="Flag Iraq" descr="Flag of Iraq">    </p:cNvPr>
          <p:cNvPicPr>
            <a:picLocks noChangeAspect="1"/>
          </p:cNvPicPr>
          <p:nvPr/>
        </p:nvPicPr>
        <p:blipFill>
          <a:blip r:embed="rId7"/>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Iraqi</a:t>
            </a:r>
            <a:endParaRPr lang="en-US" sz="1000" dirty="0"/>
          </a:p>
        </p:txBody>
      </p:sp>
      <p:pic>
        <p:nvPicPr>
          <p:cNvPr id="28" name="Flag Jordan" descr="Flag of Jordan">    </p:cNvPr>
          <p:cNvPicPr>
            <a:picLocks noChangeAspect="1"/>
          </p:cNvPicPr>
          <p:nvPr/>
        </p:nvPicPr>
        <p:blipFill>
          <a:blip r:embed="rId8"/>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Jordanian</a:t>
            </a:r>
            <a:endParaRPr lang="en-US" sz="1000" dirty="0"/>
          </a:p>
        </p:txBody>
      </p:sp>
      <p:pic>
        <p:nvPicPr>
          <p:cNvPr id="31" name="Flag Kuwait" descr="Flag of Kuwait">    </p:cNvPr>
          <p:cNvPicPr>
            <a:picLocks noChangeAspect="1"/>
          </p:cNvPicPr>
          <p:nvPr/>
        </p:nvPicPr>
        <p:blipFill>
          <a:blip r:embed="rId9"/>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Kuwaiti</a:t>
            </a:r>
            <a:endParaRPr lang="en-US" sz="1000" dirty="0"/>
          </a:p>
        </p:txBody>
      </p:sp>
      <p:pic>
        <p:nvPicPr>
          <p:cNvPr id="34" name="Flag Lebanon" descr="Flag of Lebanon">    </p:cNvPr>
          <p:cNvPicPr>
            <a:picLocks noChangeAspect="1"/>
          </p:cNvPicPr>
          <p:nvPr/>
        </p:nvPicPr>
        <p:blipFill>
          <a:blip r:embed="rId10"/>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Lebanese</a:t>
            </a:r>
            <a:endParaRPr lang="en-US" sz="1000" dirty="0"/>
          </a:p>
        </p:txBody>
      </p:sp>
      <p:pic>
        <p:nvPicPr>
          <p:cNvPr id="37" name="Flag Libya" descr="Flag of Libya">    </p:cNvPr>
          <p:cNvPicPr>
            <a:picLocks noChangeAspect="1"/>
          </p:cNvPicPr>
          <p:nvPr/>
        </p:nvPicPr>
        <p:blipFill>
          <a:blip r:embed="rId11"/>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Libyan</a:t>
            </a:r>
            <a:endParaRPr lang="en-US" sz="1000" dirty="0"/>
          </a:p>
        </p:txBody>
      </p:sp>
      <p:pic>
        <p:nvPicPr>
          <p:cNvPr id="40" name="Flag Mauritania" descr="Flag of Mauritania">    </p:cNvPr>
          <p:cNvPicPr>
            <a:picLocks noChangeAspect="1"/>
          </p:cNvPicPr>
          <p:nvPr/>
        </p:nvPicPr>
        <p:blipFill>
          <a:blip r:embed="rId12"/>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Mauritanian</a:t>
            </a:r>
            <a:endParaRPr lang="en-US" sz="1000" dirty="0"/>
          </a:p>
        </p:txBody>
      </p:sp>
      <p:pic>
        <p:nvPicPr>
          <p:cNvPr id="43" name="Flag Morocco" descr="Flag of Morocco">    </p:cNvPr>
          <p:cNvPicPr>
            <a:picLocks noChangeAspect="1"/>
          </p:cNvPicPr>
          <p:nvPr/>
        </p:nvPicPr>
        <p:blipFill>
          <a:blip r:embed="rId13"/>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Moroccan</a:t>
            </a:r>
            <a:endParaRPr lang="en-US" sz="1000" dirty="0"/>
          </a:p>
        </p:txBody>
      </p:sp>
      <p:pic>
        <p:nvPicPr>
          <p:cNvPr id="46" name="Flag Oman" descr="Flag of Oman">    </p:cNvPr>
          <p:cNvPicPr>
            <a:picLocks noChangeAspect="1"/>
          </p:cNvPicPr>
          <p:nvPr/>
        </p:nvPicPr>
        <p:blipFill>
          <a:blip r:embed="rId14"/>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Omani</a:t>
            </a:r>
            <a:endParaRPr lang="en-US" sz="1000" dirty="0"/>
          </a:p>
        </p:txBody>
      </p:sp>
      <p:pic>
        <p:nvPicPr>
          <p:cNvPr id="49" name="Flag Palestine" descr="Flag of Palestine">    </p:cNvPr>
          <p:cNvPicPr>
            <a:picLocks noChangeAspect="1"/>
          </p:cNvPicPr>
          <p:nvPr/>
        </p:nvPicPr>
        <p:blipFill>
          <a:blip r:embed="rId15"/>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Palestinian</a:t>
            </a:r>
            <a:endParaRPr lang="en-US" sz="1000" dirty="0"/>
          </a:p>
        </p:txBody>
      </p:sp>
      <p:pic>
        <p:nvPicPr>
          <p:cNvPr id="52" name="Flag Qatar" descr="Flag of Qatar">    </p:cNvPr>
          <p:cNvPicPr>
            <a:picLocks noChangeAspect="1"/>
          </p:cNvPicPr>
          <p:nvPr/>
        </p:nvPicPr>
        <p:blipFill>
          <a:blip r:embed="rId16"/>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Qatari</a:t>
            </a:r>
            <a:endParaRPr lang="en-US" sz="1000" dirty="0"/>
          </a:p>
        </p:txBody>
      </p:sp>
      <p:pic>
        <p:nvPicPr>
          <p:cNvPr id="55" name="Flag Saudi Arabia" descr="Flag of Saudi Arabia">    </p:cNvPr>
          <p:cNvPicPr>
            <a:picLocks noChangeAspect="1"/>
          </p:cNvPicPr>
          <p:nvPr/>
        </p:nvPicPr>
        <p:blipFill>
          <a:blip r:embed="rId17"/>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Saudi</a:t>
            </a:r>
            <a:endParaRPr lang="en-US" sz="1000" dirty="0"/>
          </a:p>
        </p:txBody>
      </p:sp>
      <p:pic>
        <p:nvPicPr>
          <p:cNvPr id="58" name="Flag Somalia" descr="Flag of Somalia">    </p:cNvPr>
          <p:cNvPicPr>
            <a:picLocks noChangeAspect="1"/>
          </p:cNvPicPr>
          <p:nvPr/>
        </p:nvPicPr>
        <p:blipFill>
          <a:blip r:embed="rId18"/>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Somali</a:t>
            </a:r>
            <a:endParaRPr lang="en-US" sz="1000" dirty="0"/>
          </a:p>
        </p:txBody>
      </p:sp>
      <p:pic>
        <p:nvPicPr>
          <p:cNvPr id="61" name="Flag Sudan" descr="Flag of Sudan">    </p:cNvPr>
          <p:cNvPicPr>
            <a:picLocks noChangeAspect="1"/>
          </p:cNvPicPr>
          <p:nvPr/>
        </p:nvPicPr>
        <p:blipFill>
          <a:blip r:embed="rId19"/>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Sudanese</a:t>
            </a:r>
            <a:endParaRPr lang="en-US" sz="1000" dirty="0"/>
          </a:p>
        </p:txBody>
      </p:sp>
      <p:pic>
        <p:nvPicPr>
          <p:cNvPr id="64" name="Flag Syria" descr="Flag of Syria">    </p:cNvPr>
          <p:cNvPicPr>
            <a:picLocks noChangeAspect="1"/>
          </p:cNvPicPr>
          <p:nvPr/>
        </p:nvPicPr>
        <p:blipFill>
          <a:blip r:embed="rId20"/>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Syrian</a:t>
            </a:r>
            <a:endParaRPr lang="en-US" sz="1000" dirty="0"/>
          </a:p>
        </p:txBody>
      </p:sp>
      <p:pic>
        <p:nvPicPr>
          <p:cNvPr id="67" name="Flag Tunisia" descr="Flag of Tunisia">    </p:cNvPr>
          <p:cNvPicPr>
            <a:picLocks noChangeAspect="1"/>
          </p:cNvPicPr>
          <p:nvPr/>
        </p:nvPicPr>
        <p:blipFill>
          <a:blip r:embed="rId21"/>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Tunisian</a:t>
            </a:r>
            <a:endParaRPr lang="en-US" sz="1000" dirty="0"/>
          </a:p>
        </p:txBody>
      </p:sp>
      <p:pic>
        <p:nvPicPr>
          <p:cNvPr id="70" name="Flag Yemen" descr="Flag of Yemen">    </p:cNvPr>
          <p:cNvPicPr>
            <a:picLocks noChangeAspect="1"/>
          </p:cNvPicPr>
          <p:nvPr/>
        </p:nvPicPr>
        <p:blipFill>
          <a:blip r:embed="rId22"/>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Yemeni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algn="r" indent="0" marL="0">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indent="0" marL="0">
              <a:buNone/>
            </a:pPr>
            <a:r>
              <a:rPr lang="en-US" sz="1200" b="1" spc="300" kern="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algn="ctr" indent="0" marL="0">
              <a:buNone/>
            </a:pPr>
            <a:r>
              <a:rPr lang="en-US" sz="2400" i="1" dirty="0">
                <a:solidFill>
                  <a:schemeClr val="accent1"/>
                </a:solidFill>
              </a:rPr>
              <a:t>Same person on paper, same rules. Why should the answer differ?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sp>
      <p:pic>
        <p:nvPicPr>
          <p:cNvPr id="5" name="Question 1 icon" descr="preencoded.png">    </p:cNvPr>
          <p:cNvPicPr>
            <a:picLocks noChangeAspect="1"/>
          </p:cNvPicPr>
          <p:nvPr/>
        </p:nvPicPr>
        <p:blipFill>
          <a:blip r:embed="rId1"/>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indent="0" marL="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r>
          <p:cNvPicPr>
            <a:picLocks noChangeAspect="1"/>
          </p:cNvPicPr>
          <p:nvPr/>
        </p:nvPicPr>
        <p:blipFill>
          <a:blip r:embed="rId2"/>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2" name="Flag Bahrain" descr="Flag of Bahrain">    </p:cNvPr>
          <p:cNvPicPr>
            <a:picLocks noChangeAspect="1"/>
          </p:cNvPicPr>
          <p:nvPr/>
        </p:nvPicPr>
        <p:blipFill>
          <a:blip r:embed="rId3"/>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6" name="Flag Comoros" descr="Flag of Comoros">    </p:cNvPr>
          <p:cNvPicPr>
            <a:picLocks noChangeAspect="1"/>
          </p:cNvPicPr>
          <p:nvPr/>
        </p:nvPicPr>
        <p:blipFill>
          <a:blip r:embed="rId4"/>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0" name="Flag Djibouti" descr="Flag of Djibouti">    </p:cNvPr>
          <p:cNvPicPr>
            <a:picLocks noChangeAspect="1"/>
          </p:cNvPicPr>
          <p:nvPr/>
        </p:nvPicPr>
        <p:blipFill>
          <a:blip r:embed="rId5"/>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4" name="Flag Egypt" descr="Flag of Egypt">    </p:cNvPr>
          <p:cNvPicPr>
            <a:picLocks noChangeAspect="1"/>
          </p:cNvPicPr>
          <p:nvPr/>
        </p:nvPicPr>
        <p:blipFill>
          <a:blip r:embed="rId6"/>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8" name="Flag United Arab Emirates" descr="Flag of United Arab Emirates">    </p:cNvPr>
          <p:cNvPicPr>
            <a:picLocks noChangeAspect="1"/>
          </p:cNvPicPr>
          <p:nvPr/>
        </p:nvPicPr>
        <p:blipFill>
          <a:blip r:embed="rId7"/>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2" name="Flag Iraq" descr="Flag of Iraq">    </p:cNvPr>
          <p:cNvPicPr>
            <a:picLocks noChangeAspect="1"/>
          </p:cNvPicPr>
          <p:nvPr/>
        </p:nvPicPr>
        <p:blipFill>
          <a:blip r:embed="rId8"/>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sp>
      <p:sp>
        <p:nvSpPr>
          <p:cNvPr id="35" name="Score Iraq"/>
          <p:cNvSpPr txBox="1"/>
          <p:nvPr/>
        </p:nvSpPr>
        <p:spPr>
          <a:xfrm>
            <a:off x="860432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6" name="Flag Jordan" descr="Flag of Jordan">    </p:cNvPr>
          <p:cNvPicPr>
            <a:picLocks noChangeAspect="1"/>
          </p:cNvPicPr>
          <p:nvPr/>
        </p:nvPicPr>
        <p:blipFill>
          <a:blip r:embed="rId9"/>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0" name="Flag Kuwait" descr="Flag of Kuwait">    </p:cNvPr>
          <p:cNvPicPr>
            <a:picLocks noChangeAspect="1"/>
          </p:cNvPicPr>
          <p:nvPr/>
        </p:nvPicPr>
        <p:blipFill>
          <a:blip r:embed="rId10"/>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4" name="Flag Lebanon" descr="Flag of Lebanon">    </p:cNvPr>
          <p:cNvPicPr>
            <a:picLocks noChangeAspect="1"/>
          </p:cNvPicPr>
          <p:nvPr/>
        </p:nvPicPr>
        <p:blipFill>
          <a:blip r:embed="rId11"/>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8" name="Flag Libya" descr="Flag of Libya">    </p:cNvPr>
          <p:cNvPicPr>
            <a:picLocks noChangeAspect="1"/>
          </p:cNvPicPr>
          <p:nvPr/>
        </p:nvPicPr>
        <p:blipFill>
          <a:blip r:embed="rId12"/>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2" name="Flag Mauritania" descr="Flag of Mauritania">    </p:cNvPr>
          <p:cNvPicPr>
            <a:picLocks noChangeAspect="1"/>
          </p:cNvPicPr>
          <p:nvPr/>
        </p:nvPicPr>
        <p:blipFill>
          <a:blip r:embed="rId13"/>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6" name="Flag Morocco" descr="Flag of Morocco">    </p:cNvPr>
          <p:cNvPicPr>
            <a:picLocks noChangeAspect="1"/>
          </p:cNvPicPr>
          <p:nvPr/>
        </p:nvPicPr>
        <p:blipFill>
          <a:blip r:embed="rId14"/>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0" name="Flag Oman" descr="Flag of Oman">    </p:cNvPr>
          <p:cNvPicPr>
            <a:picLocks noChangeAspect="1"/>
          </p:cNvPicPr>
          <p:nvPr/>
        </p:nvPicPr>
        <p:blipFill>
          <a:blip r:embed="rId15"/>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sp>
      <p:sp>
        <p:nvSpPr>
          <p:cNvPr id="63" name="Score Oman"/>
          <p:cNvSpPr txBox="1"/>
          <p:nvPr/>
        </p:nvSpPr>
        <p:spPr>
          <a:xfrm>
            <a:off x="6342827"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4" name="Flag Palestine" descr="Flag of Palestine">    </p:cNvPr>
          <p:cNvPicPr>
            <a:picLocks noChangeAspect="1"/>
          </p:cNvPicPr>
          <p:nvPr/>
        </p:nvPicPr>
        <p:blipFill>
          <a:blip r:embed="rId16"/>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8" name="Flag Qatar" descr="Flag of Qatar">    </p:cNvPr>
          <p:cNvPicPr>
            <a:picLocks noChangeAspect="1"/>
          </p:cNvPicPr>
          <p:nvPr/>
        </p:nvPicPr>
        <p:blipFill>
          <a:blip r:embed="rId17"/>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2" name="Flag Saudi Arabia" descr="Flag of Saudi Arabia">    </p:cNvPr>
          <p:cNvPicPr>
            <a:picLocks noChangeAspect="1"/>
          </p:cNvPicPr>
          <p:nvPr/>
        </p:nvPicPr>
        <p:blipFill>
          <a:blip r:embed="rId18"/>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6" name="Flag Somalia" descr="Flag of Somalia">    </p:cNvPr>
          <p:cNvPicPr>
            <a:picLocks noChangeAspect="1"/>
          </p:cNvPicPr>
          <p:nvPr/>
        </p:nvPicPr>
        <p:blipFill>
          <a:blip r:embed="rId19"/>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0" name="Flag Sudan" descr="Flag of Sudan">    </p:cNvPr>
          <p:cNvPicPr>
            <a:picLocks noChangeAspect="1"/>
          </p:cNvPicPr>
          <p:nvPr/>
        </p:nvPicPr>
        <p:blipFill>
          <a:blip r:embed="rId20"/>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4" name="Flag Syria" descr="Flag of Syria">    </p:cNvPr>
          <p:cNvPicPr>
            <a:picLocks noChangeAspect="1"/>
          </p:cNvPicPr>
          <p:nvPr/>
        </p:nvPicPr>
        <p:blipFill>
          <a:blip r:embed="rId21"/>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8" name="Flag Tunisia" descr="Flag of Tunisia">    </p:cNvPr>
          <p:cNvPicPr>
            <a:picLocks noChangeAspect="1"/>
          </p:cNvPicPr>
          <p:nvPr/>
        </p:nvPicPr>
        <p:blipFill>
          <a:blip r:embed="rId22"/>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92" name="Flag Yemen" descr="Flag of Yemen">    </p:cNvPr>
          <p:cNvPicPr>
            <a:picLocks noChangeAspect="1"/>
          </p:cNvPicPr>
          <p:nvPr/>
        </p:nvPicPr>
        <p:blipFill>
          <a:blip r:embed="rId23"/>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sp>
      <p:pic>
        <p:nvPicPr>
          <p:cNvPr id="98" name="Question 2 icon" descr="preencoded.png">    </p:cNvPr>
          <p:cNvPicPr>
            <a:picLocks noChangeAspect="1"/>
          </p:cNvPicPr>
          <p:nvPr/>
        </p:nvPicPr>
        <p:blipFill>
          <a:blip r:embed="rId24"/>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indent="0" marL="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indent="0" marL="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(high, middle and low income), retrieved 10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algn="ctr" indent="0" marL="0">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algn="ctr" indent="0" marL="0">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sp>
      <p:sp>
        <p:nvSpPr>
          <p:cNvPr id="25" name="Date line 1"/>
          <p:cNvSpPr/>
          <p:nvPr/>
        </p:nvSpPr>
        <p:spPr>
          <a:xfrm>
            <a:off x="4133642" y="1892808"/>
            <a:ext cx="0" cy="3429000"/>
          </a:xfrm>
          <a:prstGeom prst="line">
            <a:avLst/>
          </a:prstGeom>
          <a:noFill/>
          <a:ln w="15875">
            <a:solidFill>
              <a:schemeClr val="accent2"/>
            </a:solidFill>
            <a:prstDash val="dash"/>
          </a:ln>
        </p:spPr>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Pitch</a:t>
            </a:r>
            <a:endParaRPr lang="en-US" sz="1200" dirty="0"/>
          </a:p>
          <a:p>
            <a:pPr algn="ctr" indent="0" marL="0">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Midterm</a:t>
            </a:r>
            <a:endParaRPr lang="en-US" sz="1200" dirty="0"/>
          </a:p>
          <a:p>
            <a:pPr algn="ctr" indent="0" marL="0">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Final</a:t>
            </a:r>
            <a:endParaRPr lang="en-US" sz="1200" dirty="0"/>
          </a:p>
          <a:p>
            <a:pPr algn="ctr" indent="0" marL="0">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Report</a:t>
            </a:r>
            <a:endParaRPr lang="en-US" sz="1200" dirty="0"/>
          </a:p>
          <a:p>
            <a:pPr algn="ctr" indent="0" marL="0">
              <a:buNone/>
            </a:pPr>
            <a:r>
              <a:rPr lang="en-US" sz="1200" b="1" dirty="0">
                <a:solidFill>
                  <a:schemeClr val="accent2"/>
                </a:solidFill>
              </a:rPr>
              <a:t>08.01</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sp>
      <p:sp>
        <p:nvSpPr>
          <p:cNvPr id="5" name="Ending 1"/>
          <p:cNvSpPr txBox="1"/>
          <p:nvPr/>
        </p:nvSpPr>
        <p:spPr>
          <a:xfrm>
            <a:off x="868680" y="27432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algn="l" indent="0" marL="0">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indent="0" marL="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38100" dir="5400000">
              <a:srgbClr val="000000">
                <a:alpha val="18000"/>
              </a:srgbClr>
            </a:outerShdw>
          </a:effectLst>
        </p:spPr>
      </p:sp>
      <p:sp>
        <p:nvSpPr>
          <p:cNvPr id="4" name="Form header"/>
          <p:cNvSpPr txBox="1"/>
          <p:nvPr/>
        </p:nvSpPr>
        <p:spPr>
          <a:xfrm>
            <a:off x="822960" y="1709928"/>
            <a:ext cx="36576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indent="0" marL="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indent="0" marL="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indent="0" marL="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indent="0" marL="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algn="ctr" indent="0" marL="0">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sp>
      <p:pic>
        <p:nvPicPr>
          <p:cNvPr id="18" name="Reason 1 icon" descr="preencoded.png">    </p:cNvPr>
          <p:cNvPicPr>
            <a:picLocks noChangeAspect="1"/>
          </p:cNvPicPr>
          <p:nvPr/>
        </p:nvPicPr>
        <p:blipFill>
          <a:blip r:embed="rId1"/>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indent="0" marL="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sp>
      <p:pic>
        <p:nvPicPr>
          <p:cNvPr id="22" name="Reason 2 icon" descr="preencoded.png">    </p:cNvPr>
          <p:cNvPicPr>
            <a:picLocks noChangeAspect="1"/>
          </p:cNvPicPr>
          <p:nvPr/>
        </p:nvPicPr>
        <p:blipFill>
          <a:blip r:embed="rId2"/>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indent="0" marL="0">
              <a:buNone/>
            </a:pPr>
            <a:r>
              <a:rPr lang="en-US" sz="1400" dirty="0">
                <a:solidFill>
                  <a:schemeClr val="tx2"/>
                </a:solidFill>
              </a:rPr>
              <a:t>United Kingdom, Netherlands, Canada: next slide.</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sp>
      <p:pic>
        <p:nvPicPr>
          <p:cNvPr id="26" name="Reason 3 icon" descr="preencoded.png">    </p:cNvPr>
          <p:cNvPicPr>
            <a:picLocks noChangeAspect="1"/>
          </p:cNvPicPr>
          <p:nvPr/>
        </p:nvPicPr>
        <p:blipFill>
          <a:blip r:embed="rId3"/>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indent="0" marL="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r>
          <p:cNvPicPr>
            <a:picLocks noChangeAspect="1"/>
          </p:cNvPicPr>
          <p:nvPr/>
        </p:nvPicPr>
        <p:blipFill>
          <a:blip r:embed="rId1"/>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xmlns:a="http://schemas.openxmlformats.org/drawingml/2006/main">
          <a:graphicData uri="http://schemas.openxmlformats.org/drawingml/2006/chart">
            <c:chart xmlns:c="http://schemas.openxmlformats.org/drawingml/2006/chart" r:id="rId2"/>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indent="0" marL="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r>
          <p:cNvPicPr>
            <a:picLocks noChangeAspect="1"/>
          </p:cNvPicPr>
          <p:nvPr/>
        </p:nvPicPr>
        <p:blipFill>
          <a:blip r:embed="rId1"/>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Step 1 icon"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invented applicants, all born, raised and employed in the UAE</a:t>
            </a:r>
            <a:endParaRPr lang="en-US" sz="1400" dirty="0"/>
          </a:p>
        </p:txBody>
      </p:sp>
      <p:pic>
        <p:nvPicPr>
          <p:cNvPr id="8" name="Arrow 1" descr="preencoded.png">    </p:cNvPr>
          <p:cNvPicPr>
            <a:picLocks noChangeAspect="1"/>
          </p:cNvPicPr>
          <p:nvPr/>
        </p:nvPicPr>
        <p:blipFill>
          <a:blip r:embed="rId2"/>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sp>
      <p:pic>
        <p:nvPicPr>
          <p:cNvPr id="11" name="Step 2 icon" descr="preencoded.png">    </p:cNvPr>
          <p:cNvPicPr>
            <a:picLocks noChangeAspect="1"/>
          </p:cNvPicPr>
          <p:nvPr/>
        </p:nvPicPr>
        <p:blipFill>
          <a:blip r:embed="rId3"/>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Arab League passports, plus 4 unrelated ones as a noise check</a:t>
            </a:r>
            <a:endParaRPr lang="en-US" sz="1400" dirty="0"/>
          </a:p>
        </p:txBody>
      </p:sp>
      <p:pic>
        <p:nvPicPr>
          <p:cNvPr id="14" name="Arrow 2" descr="preencoded.png">    </p:cNvPr>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sp>
      <p:pic>
        <p:nvPicPr>
          <p:cNvPr id="17" name="Step 3 icon" descr="preencoded.png">    </p:cNvPr>
          <p:cNvPicPr>
            <a:picLocks noChangeAspect="1"/>
          </p:cNvPicPr>
          <p:nvPr/>
        </p:nvPicPr>
        <p:blipFill>
          <a:blip r:embed="rId5"/>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open language models in the role of a visa case assistant</a:t>
            </a:r>
            <a:endParaRPr lang="en-US" sz="1400" dirty="0"/>
          </a:p>
        </p:txBody>
      </p:sp>
      <p:pic>
        <p:nvPicPr>
          <p:cNvPr id="20" name="Arrow 3" descr="preencoded.png">    </p:cNvPr>
          <p:cNvPicPr>
            <a:picLocks noChangeAspect="1"/>
          </p:cNvPicPr>
          <p:nvPr/>
        </p:nvPicPr>
        <p:blipFill>
          <a:blip r:embed="rId6"/>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sp>
      <p:pic>
        <p:nvPicPr>
          <p:cNvPr id="23" name="Step 4 icon" descr="preencoded.png">    </p:cNvPr>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sp>
      <p:pic>
        <p:nvPicPr>
          <p:cNvPr id="28" name="Cost icon" descr="preencoded.png">    </p:cNvPr>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indent="0" marL="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indent="0" marL="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indent="0" marL="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sp>
      <p:sp>
        <p:nvSpPr>
          <p:cNvPr id="4" name="Group big 1"/>
          <p:cNvSpPr txBox="1"/>
          <p:nvPr/>
        </p:nvSpPr>
        <p:spPr>
          <a:xfrm>
            <a:off x="777240"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Run plan</a:t>
            </a:r>
            <a:endParaRPr lang="en-US" sz="3000" dirty="0"/>
          </a:p>
        </p:txBody>
      </p:sp>
      <p:graphicFrame>
        <p:nvGraphicFramePr>
          <p:cNvPr id="17"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822960"/>
                <a:gridCol w="4206240"/>
                <a:gridCol w="1737360"/>
              </a:tblGrid>
              <a:tr h="457200">
                <a:tc>
                  <a:txBody>
                    <a:bodyPr/>
                    <a:lstStyle/>
                    <a:p>
                      <a:pPr indent="0" marL="0">
                        <a:buNone/>
                      </a:pPr>
                      <a:r>
                        <a:rPr lang="en-US" sz="1400" b="1" dirty="0">
                          <a:solidFill>
                            <a:srgbClr val="FFFFFF"/>
                          </a:solidFill>
                        </a:rPr>
                        <a:t>Block</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What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Runs per model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rPr>
                        <a:t>1</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without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3</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Block 1 again with four other savings amounts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6,240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b="1" dirty="0">
                          <a:solidFill>
                            <a:srgbClr val="14213D"/>
                          </a:solidFill>
                        </a:rPr>
                        <a:t>Total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b="1" dirty="0">
                          <a:solidFill>
                            <a:srgbClr val="14213D"/>
                          </a:solidFill>
                        </a:rPr>
                        <a:t>21,840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sp>
      <p:sp>
        <p:nvSpPr>
          <p:cNvPr id="5" name="Fact 1"/>
          <p:cNvSpPr txBox="1"/>
          <p:nvPr/>
        </p:nvSpPr>
        <p:spPr>
          <a:xfrm>
            <a:off x="7909560" y="141732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520  </a:t>
            </a:r>
            <a:pPr indent="0" marL="0">
              <a:buNone/>
            </a:pP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sp>
      <p:sp>
        <p:nvSpPr>
          <p:cNvPr id="7" name="Fact 2"/>
          <p:cNvSpPr txBox="1"/>
          <p:nvPr/>
        </p:nvSpPr>
        <p:spPr>
          <a:xfrm>
            <a:off x="7909560" y="251460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3  </a:t>
            </a:r>
            <a:pPr indent="0" marL="0">
              <a:buNone/>
            </a:pP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sp>
      <p:sp>
        <p:nvSpPr>
          <p:cNvPr id="9" name="Fact 3"/>
          <p:cNvSpPr txBox="1"/>
          <p:nvPr/>
        </p:nvSpPr>
        <p:spPr>
          <a:xfrm>
            <a:off x="7909560" y="361188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5  </a:t>
            </a:r>
            <a:pPr indent="0" marL="0">
              <a:buNone/>
            </a:pP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indent="0" marL="0">
              <a:buNone/>
            </a:pPr>
            <a:endParaRPr lang="en-US" sz="1400" dirty="0"/>
          </a:p>
          <a:p>
            <a:pPr indent="0" marL="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7. Nationality</a:t>
            </a:r>
            <a:endParaRPr lang="en-US" sz="1400" dirty="0"/>
          </a:p>
          <a:p>
            <a:pPr indent="0" marL="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official rules say about the 22</a:t>
            </a:r>
            <a:endParaRPr lang="en-US" sz="3000" dirty="0"/>
          </a:p>
        </p:txBody>
      </p:sp>
      <p:graphicFrame>
        <p:nvGraphicFramePr>
          <p:cNvPr id="19"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017520"/>
                <a:gridCol w="3749040"/>
              </a:tblGrid>
              <a:tr h="502920">
                <a:tc>
                  <a:txBody>
                    <a:bodyPr/>
                    <a:lstStyle/>
                    <a:p>
                      <a:pPr indent="0" marL="0">
                        <a:buNone/>
                      </a:pPr>
                      <a:r>
                        <a:rPr lang="en-US" sz="1400" b="1" dirty="0">
                          <a:solidFill>
                            <a:srgbClr val="FFFFFF"/>
                          </a:solidFill>
                        </a:rPr>
                        <a:t>Rule for the Australian visitor visa</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For each of the 22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4213D"/>
                          </a:solidFill>
                        </a:rPr>
                        <a:t>Visa needed</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Visitor visa (subclass 600)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Simpler electronic permit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not available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Form and fee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same online form, AUD 250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Legal test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genuine temporary stay, enough money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List of risk nationalities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in force (revoked 2009)</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Entry ban or suspension</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(10 October 2026)</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indent="0" marL="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indent="0" marL="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indent="0" marL="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sp>
      <p:sp>
        <p:nvSpPr>
          <p:cNvPr id="4" name="Limit big 1"/>
          <p:cNvSpPr txBox="1"/>
          <p:nvPr/>
        </p:nvSpPr>
        <p:spPr>
          <a:xfrm>
            <a:off x="777240"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Abid, A., Farooqi, M., &amp; Zou, J. (2021). Persistent anti-Muslim bias in large language models. AIES ’21, 298–306.</a:t>
            </a:r>
            <a:endParaRPr lang="en-US" sz="1000" dirty="0"/>
          </a:p>
          <a:p>
            <a:pPr indent="0" marL="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indent="0" marL="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indent="0" marL="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indent="0" marL="0">
              <a:spcAft>
                <a:spcPts val="500"/>
              </a:spcAft>
              <a:buNone/>
            </a:pPr>
            <a:r>
              <a:rPr lang="en-US" sz="1000" dirty="0">
                <a:solidFill>
                  <a:schemeClr val="tx1"/>
                </a:solidFill>
              </a:rPr>
              <a:t>European Union Agency for Fundamental Rights (2024). Being Muslim in the EU.</a:t>
            </a:r>
            <a:endParaRPr lang="en-US" sz="1000" dirty="0"/>
          </a:p>
          <a:p>
            <a:pPr indent="0" marL="0">
              <a:spcAft>
                <a:spcPts val="500"/>
              </a:spcAft>
              <a:buNone/>
            </a:pPr>
            <a:r>
              <a:rPr lang="en-US" sz="1000" dirty="0">
                <a:solidFill>
                  <a:schemeClr val="tx1"/>
                </a:solidFill>
              </a:rPr>
              <a:t>Foresti, M. (2026). The cost of visa rejections. LAGO Collective, 9 June 2026.</a:t>
            </a:r>
            <a:endParaRPr lang="en-US" sz="1000" dirty="0"/>
          </a:p>
          <a:p>
            <a:pPr indent="0" marL="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indent="0" marL="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indent="0" marL="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indent="0" marL="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indent="0" marL="0">
              <a:spcAft>
                <a:spcPts val="500"/>
              </a:spcAft>
              <a:buNone/>
            </a:pPr>
            <a:r>
              <a:rPr lang="en-US" sz="1000" dirty="0">
                <a:solidFill>
                  <a:schemeClr val="tx1"/>
                </a:solidFill>
              </a:rPr>
              <a:t>Lighthouse Reports (2023). Ethnic Profiling. 24 April 2023.</a:t>
            </a:r>
            <a:endParaRPr lang="en-US" sz="1000" dirty="0"/>
          </a:p>
          <a:p>
            <a:pPr indent="0" marL="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indent="0" marL="0">
              <a:spcAft>
                <a:spcPts val="500"/>
              </a:spcAft>
              <a:buNone/>
            </a:pPr>
            <a:r>
              <a:rPr lang="en-US" sz="1000" dirty="0">
                <a:solidFill>
                  <a:schemeClr val="tx1"/>
                </a:solidFill>
              </a:rPr>
              <a:t>Natural Earth (2026). 1:50m cultural vectors, admin 0 – countries. Public domain.</a:t>
            </a:r>
            <a:endParaRPr lang="en-US" sz="1000" dirty="0"/>
          </a:p>
          <a:p>
            <a:pPr indent="0" marL="0">
              <a:spcAft>
                <a:spcPts val="500"/>
              </a:spcAft>
              <a:buNone/>
            </a:pPr>
            <a:r>
              <a:rPr lang="en-US" sz="1000" dirty="0">
                <a:solidFill>
                  <a:schemeClr val="tx1"/>
                </a:solidFill>
              </a:rPr>
              <a:t>Pew Research Center (2025). Religious Composition by Country, 2010–2020. Dataset.</a:t>
            </a:r>
            <a:endParaRPr lang="en-US" sz="1000" dirty="0"/>
          </a:p>
          <a:p>
            <a:pPr indent="0" marL="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indent="0" marL="0">
              <a:spcAft>
                <a:spcPts val="500"/>
              </a:spcAft>
              <a:buNone/>
            </a:pPr>
            <a:r>
              <a:rPr lang="en-US" sz="1000" dirty="0">
                <a:solidFill>
                  <a:schemeClr val="tx1"/>
                </a:solidFill>
              </a:rPr>
              <a:t>U.S. Department of State (2025). Adjusted Refusal Rate – B-Visas Only by Nationality, Fiscal Year 2025.</a:t>
            </a:r>
            <a:endParaRPr lang="en-US" sz="1000" dirty="0"/>
          </a:p>
          <a:p>
            <a:pPr indent="0" marL="0">
              <a:spcAft>
                <a:spcPts val="500"/>
              </a:spcAft>
              <a:buNone/>
            </a:pPr>
            <a:r>
              <a:rPr lang="en-US" sz="1000" dirty="0">
                <a:solidFill>
                  <a:schemeClr val="tx1"/>
                </a:solidFill>
              </a:rPr>
              <a:t>Australian Government, Department of Home Affairs. Freedom of information releases FA 20/10/00106 (2020) and FA 18/04/00125 (2018); pages for the Visitor visa (subclass 600), the Electronic Travel Authority (601) and the eVisitor (651), read 10 October 2026.</a:t>
            </a:r>
            <a:endParaRPr lang="en-US" sz="1000" dirty="0"/>
          </a:p>
          <a:p>
            <a:pPr indent="0" marL="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 Aleksander Kasak, Nico Fedotov</cp:lastModifiedBy>
  <cp:revision>1</cp:revision>
  <dcterms:created xsi:type="dcterms:W3CDTF">2026-10-12T08:54:08Z</dcterms:created>
  <dcterms:modified xsi:type="dcterms:W3CDTF">2026-10-12T08:54:08Z</dcterms:modified>
</cp:coreProperties>
</file>