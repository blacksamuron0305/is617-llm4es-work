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b042ca17-4ef6-b419-4c47-5a4d59e27f1e}">
          <p14:sldIdLst>
            <p14:sldId id="256"/>
            <p14:sldId id="257"/>
            <p14:sldId id="258"/>
            <p14:sldId id="259"/>
            <p14:sldId id="260"/>
            <p14:sldId id="261"/>
            <p14:sldId id="262"/>
            <p14:sldId id="263"/>
            <p14:sldId id="264"/>
          </p14:sldIdLst>
        </p14:section>
        <p14:section name="Backup" id="{ff3389b2-8e69-eada-8496-d7abb2a7dc89}">
          <p14:sldIdLst>
            <p14:sldId id="265"/>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Sheet1!$A$2:$A$8</c:f>
              <c:multiLvlStrCache>
                <c:ptCount val="7"/>
                <c:lvl>
                  <c:pt idx="0">
                    <c:v>Egypt</c:v>
                  </c:pt>
                  <c:pt idx="1">
                    <c:v>Yemen</c:v>
                  </c:pt>
                  <c:pt idx="2">
                    <c:v>Sudan</c:v>
                  </c:pt>
                  <c:pt idx="3">
                    <c:v>Syria</c:v>
                  </c:pt>
                  <c:pt idx="4">
                    <c:v>Jordan</c:v>
                  </c:pt>
                  <c:pt idx="5">
                    <c:v>Palestine</c:v>
                  </c:pt>
                  <c:pt idx="6">
                    <c:v>Lebanon</c:v>
                  </c:pt>
                </c:lvl>
              </c:multiLvlStrCache>
            </c:multiLvlStrRef>
          </c:cat>
          <c:val>
            <c:numRef>
              <c:f>Sheet1!$B$2:$B$8</c:f>
              <c:numCache>
                <c:formatCode>General</c:formatCode>
                <c:ptCount val="7"/>
                <c:pt idx="0">
                  <c:v>23</c:v>
                </c:pt>
                <c:pt idx="1">
                  <c:v>22</c:v>
                </c:pt>
                <c:pt idx="2">
                  <c:v>10</c:v>
                </c:pt>
                <c:pt idx="3">
                  <c:v>5</c:v>
                </c:pt>
                <c:pt idx="4">
                  <c:v>4</c:v>
                </c:pt>
                <c:pt idx="5">
                  <c:v>2</c:v>
                </c:pt>
                <c:pt idx="6">
                  <c:v>1</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28.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Sheet1!$A$2:$A$20</c:f>
              <c:multiLvlStrCache>
                <c:ptCount val="19"/>
                <c:lvl>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lvl>
              </c:multiLvlStrCache>
            </c:multiLvl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ser>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 real case, checked on 12 October 2026 (Laith asked whether it is real). WHAT IT WAS: the AI Overview, the AI answer on top of Google's search results. Several reports call it 'Gemini'; the screenshots are of the AI Overview in Google Search, not of the Gemini chat app. Say 'Google's AI Overview'. THE MUSLIM SEARCH: on 20 August 2026 the imam Omar Suleiman and others posted screenshots on X: for the search 'am alone with a Muslim' the answer advised to leave the area or call 911 if 'feeling unsafe or facing an emergency'; for the same search with 'an Israeli' the answer was 'an Israeli person is an individual, just like anyone else' (Islam Channel, 27 August 2026; also IslamicFinder, TimelineDaily, The Current). The full sentence on the slide is the wording posted by TRT World on X; that post could not be opened here, so compare it with the original screenshot before the pitch. REPRODUCED: Bhaskar Mitra, a researcher in information retrieval, wrote on 23 August 2026: 'I was able to reproduce it myself'; with 'christian' or 'hindu' in place of 'muslim' he did not get it; the answers 'almost certainly differ by location / time / user'. NOT ONLY MUSLIMS, say this if asked: Futurism (20 August 2026, 'In our testing, the phenomenon is very real') got the same kind of warning for 'an African' ('please lock your door, move to safe space'), 'an indian' and 'an pakistani' ('leave the area or call emergency services'), and harmless answers for a Brit ('Offer them a cup of tea immediately', the second search on the slide), an American and a Haitian. Google told Futurism that the word 'alone' had flagged the searches as a 'safety concern'. GOOGLE: 'We agree that the results for these types of searches aren't what they should be, and we're working on improvements'; 'these inconsistent warnings aren't unique to any one group' (post of the account News from Google on X, as quoted by Islam Channel and Futurism). The answer was changed afterwards; one later version read 'Being alone with a Muslim person is completely normal, safe, and no different than being alone with anyone else'. HOW FAR THIS WAS CHECKED: all articles were read through a summarising tool; only the headline and the date of the Islam Channel article were seen directly, in the screenshot (taken from the live page on 12 October 2026). Islam Channel is a British Muslim television channel, not a neutral technology outlet; Futurism is a technology magazine. The screenshot is somebody else's page: keep the source line. WHY IT FITS THE PROJECT: the same sentence, one word changed, a different answer. That is the design of the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(Laith, 2026-10-12): start with society, then say that the team looked at what research found for language models (next slide). Say the names and the course first; this slide does not show them. 47%: EU Agency for Fundamental Rights, Being Muslim in the EU (2024), survey Oct 2021 to Oct 2022, 13 countries, 9,604 respondents, experience in the past five years; the term is 'racial discrimination' and covers skin colour, origin and religion together; 39% in the survey of 2016; Germany 68%. The figures were read on the agency's pages through a summarising tool: check them in the report before the pitch. 3,080: CLAIM, Lagebild 2025 (incidents of 2024), an advocacy organisation; +60% on 2023 (1,926); the number of reporting centres rose from 17 to 26, so part of the rise is more counting; the police counted 1,848 offences in 2024. 'More than eight a day' is 3,080 divided by 366.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2026-10-12): the team searched the literature on language models and found the same problem there. Three published studies, all read in the full text. 66%: Abid, Farooqi and Zou 2021 gave GPT-3 the neutral beginning 'Two Muslims walked into a' and let it write 100 endings; 66 of the 100 were violent (the full example with three quoted endings is the first backup slide); with other religious groups the share was far lower; the same study: 'Muslim' is analogized to 'terrorist' in 23% of test cases; GPT-3 is a model of 2020 and later GPT models show a weaker form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limits: the second and third figure are about Middle Eastern or Arab names, not about religion; three studies are examples, not a survey of the field, and the team's literature search was limited. 'More and more software' is the team's framing; no figure for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Question 1 is the main one and it is about the single countries (Laith, 2026-10-12): every one of the 22 Arab League nationalities gets its own rating, and the 22 are compared with one another, country by country. By the official rules the difference should be zero. The question marks under the flags are placeholders: nothing has been run and there are no results. Question 2 is a different research question, not the way the countries are compared: do the ratings follow the three groups rich, normal and poor?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Honest limits of question 2: the rich group is exactly the six Gulf states; the four poor countries are all at war or just out of one; 6, 12 and 4 countries are small groups. How: 20 synthetic applications, all born, raised and employed in the United Arab Emirates; only the lines 'Nationality' and 'Travel document' change; four open-weight models in the role of a case assistant who pre-assesses, an officer decides; answer: risk score 0 to 100 (not a probability), level, further checks, recommendation. Four unrelated nationalities are added as a noise check only. Two further questions: the guidance with a paragraph that says nationality is not a ground for a higher rating, and what a difference costs (main measure: the extra savings an applicant would need for the same rating; fee AUD 250 lost with a refusal). Details on the backup slide 'How we measure it'. No hypotheses exist yet; they are written down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visa applicants is in use (next slide);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 says it does not permit generative AI to support decisions. EU AI Act, Annex III: systems that assist in examining visa applications are high-risk.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algn="r" indent="0" marL="0">
              <a:buNone/>
            </a:pPr>
            <a:r>
              <a:rPr lang="en-US" sz="1000" b="1" spc="300" kern="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4" name="Text 2"/>
          <p:cNvSpPr/>
          <p:nvPr>
            <p:ph idx="102" type="title" hasCustomPrompt="1"/>
          </p:nvPr>
        </p:nvSpPr>
        <p:spPr>
          <a:xfrm>
            <a:off x="548640" y="365760"/>
            <a:ext cx="9448495"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10.png"/><Relationship Id="rId12" Type="http://schemas.openxmlformats.org/officeDocument/2006/relationships/image" Target="../media/image-5-11.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slideLayout" Target="../slideLayouts/slideLayout2.xml"/><Relationship Id="rId2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slideLayout" Target="../slideLayouts/slideLayout3.xml"/><Relationship Id="rId2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5.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3-1.png"/><Relationship Id="rId3" Type="http://schemas.openxmlformats.org/officeDocument/2006/relationships/slideLayout" Target="../slideLayouts/slideLayou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5.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August 2026: two searches on Google</a:t>
            </a:r>
            <a:endParaRPr lang="en-US" sz="3600" dirty="0"/>
          </a:p>
        </p:txBody>
      </p:sp>
      <p:sp>
        <p:nvSpPr>
          <p:cNvPr id="3" name="Article frame"/>
          <p:cNvSpPr/>
          <p:nvPr/>
        </p:nvSpPr>
        <p:spPr>
          <a:xfrm>
            <a:off x="493776" y="1316736"/>
            <a:ext cx="4218070" cy="4270248"/>
          </a:xfrm>
          <a:prstGeom prst="rect">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pic>
        <p:nvPicPr>
          <p:cNvPr id="4" name="Article screenshot" descr="Screenshot of a news article of Islam Channel, 27 August 2026, with the headline: I am alone with a Muslim: Google AI overview faces accusations of Islamophobic bias">    </p:cNvPr>
          <p:cNvPicPr>
            <a:picLocks noChangeAspect="1"/>
          </p:cNvPicPr>
          <p:nvPr/>
        </p:nvPicPr>
        <p:blipFill>
          <a:blip r:embed="rId1"/>
          <a:stretch>
            <a:fillRect/>
          </a:stretch>
        </p:blipFill>
        <p:spPr>
          <a:xfrm>
            <a:off x="548640" y="1371600"/>
            <a:ext cx="4108342" cy="4160520"/>
          </a:xfrm>
          <a:prstGeom prst="rect">
            <a:avLst/>
          </a:prstGeom>
        </p:spPr>
      </p:pic>
      <p:sp>
        <p:nvSpPr>
          <p:cNvPr id="5" name="Kicker"/>
          <p:cNvSpPr txBox="1"/>
          <p:nvPr/>
        </p:nvSpPr>
        <p:spPr>
          <a:xfrm>
            <a:off x="5205622" y="1353312"/>
            <a:ext cx="6437433"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 GOOGLE’S AI OVERVIEW ANSWERED</a:t>
            </a:r>
            <a:endParaRPr lang="en-US" sz="1200" dirty="0"/>
          </a:p>
        </p:txBody>
      </p:sp>
      <p:sp>
        <p:nvSpPr>
          <p:cNvPr id="6" name="Search box 1"/>
          <p:cNvSpPr/>
          <p:nvPr/>
        </p:nvSpPr>
        <p:spPr>
          <a:xfrm>
            <a:off x="5205622" y="1783080"/>
            <a:ext cx="4206240" cy="457200"/>
          </a:xfrm>
          <a:prstGeom prst="roundRect">
            <a:avLst>
              <a:gd name="adj" fmla="val 50000"/>
            </a:avLst>
          </a:prstGeom>
          <a:solidFill>
            <a:schemeClr val="bg1"/>
          </a:solidFill>
          <a:ln w="12700">
            <a:solidFill>
              <a:schemeClr val="bg1"/>
            </a:solidFill>
            <a:prstDash val="solid"/>
          </a:ln>
        </p:spPr>
      </p:sp>
      <p:pic>
        <p:nvPicPr>
          <p:cNvPr id="7" name="Search icon 1" descr="preencoded.png">    </p:cNvPr>
          <p:cNvPicPr>
            <a:picLocks noChangeAspect="1"/>
          </p:cNvPicPr>
          <p:nvPr/>
        </p:nvPicPr>
        <p:blipFill>
          <a:blip r:embed="rId2"/>
          <a:stretch>
            <a:fillRect/>
          </a:stretch>
        </p:blipFill>
        <p:spPr>
          <a:xfrm>
            <a:off x="5388502" y="1911096"/>
            <a:ext cx="201168" cy="201168"/>
          </a:xfrm>
          <a:prstGeom prst="rect">
            <a:avLst/>
          </a:prstGeom>
        </p:spPr>
      </p:pic>
      <p:sp>
        <p:nvSpPr>
          <p:cNvPr id="8" name="Search text 1"/>
          <p:cNvSpPr txBox="1"/>
          <p:nvPr/>
        </p:nvSpPr>
        <p:spPr>
          <a:xfrm>
            <a:off x="5708542" y="1783080"/>
            <a:ext cx="3566160" cy="457200"/>
          </a:xfrm>
          <a:prstGeom prst="rect">
            <a:avLst/>
          </a:prstGeom>
          <a:noFill/>
          <a:ln/>
        </p:spPr>
        <p:txBody>
          <a:bodyPr wrap="square" lIns="0" tIns="0" rIns="0" bIns="0" rtlCol="0" anchor="ctr"/>
          <a:lstStyle/>
          <a:p>
            <a:pPr indent="0" marL="0">
              <a:buNone/>
            </a:pPr>
            <a:r>
              <a:rPr lang="en-US" sz="1600" dirty="0">
                <a:solidFill>
                  <a:schemeClr val="tx1"/>
                </a:solidFill>
              </a:rPr>
              <a:t>am alone with a Muslim</a:t>
            </a:r>
            <a:endParaRPr lang="en-US" sz="1600" dirty="0"/>
          </a:p>
        </p:txBody>
      </p:sp>
      <p:sp>
        <p:nvSpPr>
          <p:cNvPr id="9" name="Answer mark 1"/>
          <p:cNvSpPr/>
          <p:nvPr/>
        </p:nvSpPr>
        <p:spPr>
          <a:xfrm>
            <a:off x="5251342" y="2404872"/>
            <a:ext cx="64008" cy="1152144"/>
          </a:xfrm>
          <a:prstGeom prst="rect">
            <a:avLst/>
          </a:prstGeom>
          <a:solidFill>
            <a:schemeClr val="accent2"/>
          </a:solidFill>
          <a:ln w="12700">
            <a:solidFill>
              <a:schemeClr val="accent2"/>
            </a:solidFill>
            <a:prstDash val="solid"/>
          </a:ln>
        </p:spPr>
      </p:sp>
      <p:sp>
        <p:nvSpPr>
          <p:cNvPr id="10" name="Answer 1"/>
          <p:cNvSpPr txBox="1"/>
          <p:nvPr/>
        </p:nvSpPr>
        <p:spPr>
          <a:xfrm>
            <a:off x="5525662" y="2350008"/>
            <a:ext cx="6117393" cy="1243584"/>
          </a:xfrm>
          <a:prstGeom prst="rect">
            <a:avLst/>
          </a:prstGeom>
          <a:noFill/>
          <a:ln/>
        </p:spPr>
        <p:txBody>
          <a:bodyPr wrap="square" lIns="0" tIns="0" rIns="0" bIns="0" rtlCol="0" anchor="ctr"/>
          <a:lstStyle/>
          <a:p>
            <a:pPr indent="0" marL="0">
              <a:buNone/>
            </a:pPr>
            <a:r>
              <a:rPr lang="en-US" sz="2200" dirty="0">
                <a:solidFill>
                  <a:schemeClr val="bg1"/>
                </a:solidFill>
                <a:latin typeface="Cambria" pitchFamily="34" charset="0"/>
                <a:ea typeface="Cambria" pitchFamily="34" charset="-122"/>
                <a:cs typeface="Cambria" pitchFamily="34" charset="-120"/>
              </a:rPr>
              <a:t>“If you’re feeling unsafe or facing an emergency, please leave the area or call 911 immediately.”</a:t>
            </a:r>
            <a:endParaRPr lang="en-US" sz="2200" dirty="0"/>
          </a:p>
        </p:txBody>
      </p:sp>
      <p:sp>
        <p:nvSpPr>
          <p:cNvPr id="11" name="Search box 2"/>
          <p:cNvSpPr/>
          <p:nvPr/>
        </p:nvSpPr>
        <p:spPr>
          <a:xfrm>
            <a:off x="5205622" y="3867912"/>
            <a:ext cx="4206240" cy="457200"/>
          </a:xfrm>
          <a:prstGeom prst="roundRect">
            <a:avLst>
              <a:gd name="adj" fmla="val 50000"/>
            </a:avLst>
          </a:prstGeom>
          <a:solidFill>
            <a:schemeClr val="bg1"/>
          </a:solidFill>
          <a:ln w="12700">
            <a:solidFill>
              <a:schemeClr val="bg1"/>
            </a:solidFill>
            <a:prstDash val="solid"/>
          </a:ln>
        </p:spPr>
      </p:sp>
      <p:pic>
        <p:nvPicPr>
          <p:cNvPr id="12" name="Search icon 2" descr="preencoded.png">    </p:cNvPr>
          <p:cNvPicPr>
            <a:picLocks noChangeAspect="1"/>
          </p:cNvPicPr>
          <p:nvPr/>
        </p:nvPicPr>
        <p:blipFill>
          <a:blip r:embed="rId3"/>
          <a:stretch>
            <a:fillRect/>
          </a:stretch>
        </p:blipFill>
        <p:spPr>
          <a:xfrm>
            <a:off x="5388502" y="3995928"/>
            <a:ext cx="201168" cy="201168"/>
          </a:xfrm>
          <a:prstGeom prst="rect">
            <a:avLst/>
          </a:prstGeom>
        </p:spPr>
      </p:pic>
      <p:sp>
        <p:nvSpPr>
          <p:cNvPr id="13" name="Search text 2"/>
          <p:cNvSpPr txBox="1"/>
          <p:nvPr/>
        </p:nvSpPr>
        <p:spPr>
          <a:xfrm>
            <a:off x="5708542" y="3867912"/>
            <a:ext cx="3566160" cy="457200"/>
          </a:xfrm>
          <a:prstGeom prst="rect">
            <a:avLst/>
          </a:prstGeom>
          <a:noFill/>
          <a:ln/>
        </p:spPr>
        <p:txBody>
          <a:bodyPr wrap="square" lIns="0" tIns="0" rIns="0" bIns="0" rtlCol="0" anchor="ctr"/>
          <a:lstStyle/>
          <a:p>
            <a:pPr indent="0" marL="0">
              <a:buNone/>
            </a:pPr>
            <a:r>
              <a:rPr lang="en-US" sz="1600" dirty="0">
                <a:solidFill>
                  <a:schemeClr val="tx1"/>
                </a:solidFill>
              </a:rPr>
              <a:t>I am alone with a Brit</a:t>
            </a:r>
            <a:endParaRPr lang="en-US" sz="1600" dirty="0"/>
          </a:p>
        </p:txBody>
      </p:sp>
      <p:sp>
        <p:nvSpPr>
          <p:cNvPr id="14" name="Answer mark 2"/>
          <p:cNvSpPr/>
          <p:nvPr/>
        </p:nvSpPr>
        <p:spPr>
          <a:xfrm>
            <a:off x="5251342" y="4489704"/>
            <a:ext cx="64008" cy="384048"/>
          </a:xfrm>
          <a:prstGeom prst="rect">
            <a:avLst/>
          </a:prstGeom>
          <a:solidFill>
            <a:schemeClr val="accent6"/>
          </a:solidFill>
          <a:ln w="12700">
            <a:solidFill>
              <a:schemeClr val="accent6"/>
            </a:solidFill>
            <a:prstDash val="solid"/>
          </a:ln>
        </p:spPr>
      </p:sp>
      <p:sp>
        <p:nvSpPr>
          <p:cNvPr id="15" name="Answer 2"/>
          <p:cNvSpPr txBox="1"/>
          <p:nvPr/>
        </p:nvSpPr>
        <p:spPr>
          <a:xfrm>
            <a:off x="5525662" y="4434840"/>
            <a:ext cx="6117393" cy="475488"/>
          </a:xfrm>
          <a:prstGeom prst="rect">
            <a:avLst/>
          </a:prstGeom>
          <a:noFill/>
          <a:ln/>
        </p:spPr>
        <p:txBody>
          <a:bodyPr wrap="square" lIns="0" tIns="0" rIns="0" bIns="0" rtlCol="0" anchor="ctr"/>
          <a:lstStyle/>
          <a:p>
            <a:pPr indent="0" marL="0">
              <a:buNone/>
            </a:pPr>
            <a:r>
              <a:rPr lang="en-US" sz="2200" dirty="0">
                <a:solidFill>
                  <a:schemeClr val="bg1"/>
                </a:solidFill>
                <a:latin typeface="Cambria" pitchFamily="34" charset="0"/>
                <a:ea typeface="Cambria" pitchFamily="34" charset="-122"/>
                <a:cs typeface="Cambria" pitchFamily="34" charset="-120"/>
              </a:rPr>
              <a:t>“Offer them a cup of tea immediately.”</a:t>
            </a:r>
            <a:endParaRPr lang="en-US" sz="2200" dirty="0"/>
          </a:p>
        </p:txBody>
      </p:sp>
      <p:sp>
        <p:nvSpPr>
          <p:cNvPr id="16" name="Google statement"/>
          <p:cNvSpPr txBox="1"/>
          <p:nvPr/>
        </p:nvSpPr>
        <p:spPr>
          <a:xfrm>
            <a:off x="5205622" y="4846320"/>
            <a:ext cx="6437433" cy="685800"/>
          </a:xfrm>
          <a:prstGeom prst="rect">
            <a:avLst/>
          </a:prstGeom>
          <a:noFill/>
          <a:ln/>
        </p:spPr>
        <p:txBody>
          <a:bodyPr wrap="square" lIns="0" tIns="0" rIns="0" bIns="0" rtlCol="0" anchor="b"/>
          <a:lstStyle/>
          <a:p>
            <a:pPr indent="0" marL="0">
              <a:buNone/>
            </a:pPr>
            <a:r>
              <a:rPr lang="en-US" sz="1500" b="1" dirty="0">
                <a:solidFill>
                  <a:schemeClr val="accent1"/>
                </a:solidFill>
              </a:rPr>
              <a:t>Google:  </a:t>
            </a:r>
            <a:pPr indent="0" marL="0">
              <a:buNone/>
            </a:pPr>
            <a:r>
              <a:rPr lang="en-US" sz="1500" dirty="0">
                <a:solidFill>
                  <a:schemeClr val="accent5"/>
                </a:solidFill>
              </a:rPr>
              <a:t>“the results for these types of searches aren’t what they should be”</a:t>
            </a:r>
            <a:endParaRPr lang="en-US" sz="1500" dirty="0"/>
          </a:p>
        </p:txBody>
      </p:sp>
      <p:sp>
        <p:nvSpPr>
          <p:cNvPr id="17"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Screenshot: Islam Channel, 27 August 2026. Answers as reported by Islam Channel, TRT World and Futurism (20 August 2026). Google’s statement: News from Google on X.</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Islamophobia in society</a:t>
            </a:r>
            <a:endParaRPr lang="en-US" sz="3600" dirty="0"/>
          </a:p>
        </p:txBody>
      </p:sp>
      <p:sp>
        <p:nvSpPr>
          <p:cNvPr id="3" name="Stat 1 circle"/>
          <p:cNvSpPr/>
          <p:nvPr/>
        </p:nvSpPr>
        <p:spPr>
          <a:xfrm>
            <a:off x="548640" y="1600200"/>
            <a:ext cx="640080" cy="640080"/>
          </a:xfrm>
          <a:prstGeom prst="ellipse">
            <a:avLst/>
          </a:prstGeom>
          <a:solidFill>
            <a:schemeClr val="accent1"/>
          </a:solidFill>
          <a:ln w="12700">
            <a:solidFill>
              <a:schemeClr val="accent1"/>
            </a:solidFill>
            <a:prstDash val="solid"/>
          </a:ln>
        </p:spPr>
      </p:sp>
      <p:pic>
        <p:nvPicPr>
          <p:cNvPr id="4" name="Stat 1 icon" descr="preencoded.png">    </p:cNvPr>
          <p:cNvPicPr>
            <a:picLocks noChangeAspect="1"/>
          </p:cNvPicPr>
          <p:nvPr/>
        </p:nvPicPr>
        <p:blipFill>
          <a:blip r:embed="rId1"/>
          <a:stretch>
            <a:fillRect/>
          </a:stretch>
        </p:blipFill>
        <p:spPr>
          <a:xfrm>
            <a:off x="702259" y="1753819"/>
            <a:ext cx="332842" cy="332842"/>
          </a:xfrm>
          <a:prstGeom prst="rect">
            <a:avLst/>
          </a:prstGeom>
        </p:spPr>
      </p:pic>
      <p:sp>
        <p:nvSpPr>
          <p:cNvPr id="5" name="Stat kicker 1"/>
          <p:cNvSpPr txBox="1"/>
          <p:nvPr/>
        </p:nvSpPr>
        <p:spPr>
          <a:xfrm>
            <a:off x="1371600" y="1600200"/>
            <a:ext cx="4312768" cy="640080"/>
          </a:xfrm>
          <a:prstGeom prst="rect">
            <a:avLst/>
          </a:prstGeom>
          <a:noFill/>
          <a:ln/>
        </p:spPr>
        <p:txBody>
          <a:bodyPr wrap="square" lIns="0" tIns="0" rIns="0" bIns="0" rtlCol="0" anchor="ctr"/>
          <a:lstStyle/>
          <a:p>
            <a:pPr indent="0" marL="0">
              <a:buNone/>
            </a:pPr>
            <a:r>
              <a:rPr lang="en-US" sz="1400" b="1" spc="300" kern="0" dirty="0">
                <a:solidFill>
                  <a:schemeClr val="accent1"/>
                </a:solidFill>
              </a:rPr>
              <a:t>EUROPEAN UNION</a:t>
            </a:r>
            <a:endParaRPr lang="en-US" sz="1400" dirty="0"/>
          </a:p>
        </p:txBody>
      </p:sp>
      <p:sp>
        <p:nvSpPr>
          <p:cNvPr id="6" name="Stat number 1"/>
          <p:cNvSpPr txBox="1"/>
          <p:nvPr/>
        </p:nvSpPr>
        <p:spPr>
          <a:xfrm>
            <a:off x="548640" y="2331720"/>
            <a:ext cx="5135728" cy="1600200"/>
          </a:xfrm>
          <a:prstGeom prst="rect">
            <a:avLst/>
          </a:prstGeom>
          <a:noFill/>
          <a:ln/>
        </p:spPr>
        <p:txBody>
          <a:bodyPr wrap="square" lIns="0" tIns="0" rIns="0" bIns="0" rtlCol="0" anchor="ctr"/>
          <a:lstStyle/>
          <a:p>
            <a:pPr indent="0" marL="0">
              <a:buNone/>
            </a:pPr>
            <a:r>
              <a:rPr lang="en-US" sz="12000" b="1" dirty="0">
                <a:solidFill>
                  <a:schemeClr val="bg1"/>
                </a:solidFill>
                <a:latin typeface="Cambria" pitchFamily="34" charset="0"/>
                <a:ea typeface="Cambria" pitchFamily="34" charset="-122"/>
                <a:cs typeface="Cambria" pitchFamily="34" charset="-120"/>
              </a:rPr>
              <a:t>47%</a:t>
            </a:r>
            <a:endParaRPr lang="en-US" sz="12000" dirty="0"/>
          </a:p>
        </p:txBody>
      </p:sp>
      <p:sp>
        <p:nvSpPr>
          <p:cNvPr id="7" name="Stat label 1"/>
          <p:cNvSpPr txBox="1"/>
          <p:nvPr/>
        </p:nvSpPr>
        <p:spPr>
          <a:xfrm>
            <a:off x="548640" y="4023360"/>
            <a:ext cx="4861408" cy="822960"/>
          </a:xfrm>
          <a:prstGeom prst="rect">
            <a:avLst/>
          </a:prstGeom>
          <a:noFill/>
          <a:ln/>
        </p:spPr>
        <p:txBody>
          <a:bodyPr wrap="square" lIns="0" tIns="0" rIns="0" bIns="0" rtlCol="0" anchor="t"/>
          <a:lstStyle/>
          <a:p>
            <a:pPr indent="0" marL="0">
              <a:buNone/>
            </a:pPr>
            <a:r>
              <a:rPr lang="en-US" sz="2400" dirty="0">
                <a:solidFill>
                  <a:schemeClr val="accent5"/>
                </a:solidFill>
              </a:rPr>
              <a:t>of Muslims in the EU report racial discrimination.</a:t>
            </a:r>
            <a:endParaRPr lang="en-US" sz="2400" dirty="0"/>
          </a:p>
        </p:txBody>
      </p:sp>
      <p:sp>
        <p:nvSpPr>
          <p:cNvPr id="8" name="Stat extra 1"/>
          <p:cNvSpPr txBox="1"/>
          <p:nvPr/>
        </p:nvSpPr>
        <p:spPr>
          <a:xfrm>
            <a:off x="548640" y="4892040"/>
            <a:ext cx="4861408" cy="411480"/>
          </a:xfrm>
          <a:prstGeom prst="rect">
            <a:avLst/>
          </a:prstGeom>
          <a:noFill/>
          <a:ln/>
        </p:spPr>
        <p:txBody>
          <a:bodyPr wrap="square" lIns="0" tIns="0" rIns="0" bIns="0" rtlCol="0" anchor="ctr"/>
          <a:lstStyle/>
          <a:p>
            <a:pPr indent="0" marL="0">
              <a:buNone/>
            </a:pPr>
            <a:r>
              <a:rPr lang="en-US" sz="1800" b="1" dirty="0">
                <a:solidFill>
                  <a:schemeClr val="accent1"/>
                </a:solidFill>
              </a:rPr>
              <a:t>In 2016 it was 39%.</a:t>
            </a:r>
            <a:endParaRPr lang="en-US" sz="1800" dirty="0"/>
          </a:p>
        </p:txBody>
      </p:sp>
      <p:sp>
        <p:nvSpPr>
          <p:cNvPr id="9" name="Stat 2 circle"/>
          <p:cNvSpPr/>
          <p:nvPr/>
        </p:nvSpPr>
        <p:spPr>
          <a:xfrm>
            <a:off x="6507328" y="1600200"/>
            <a:ext cx="640080" cy="640080"/>
          </a:xfrm>
          <a:prstGeom prst="ellipse">
            <a:avLst/>
          </a:prstGeom>
          <a:solidFill>
            <a:schemeClr val="accent1"/>
          </a:solidFill>
          <a:ln w="12700">
            <a:solidFill>
              <a:schemeClr val="accent1"/>
            </a:solidFill>
            <a:prstDash val="solid"/>
          </a:ln>
        </p:spPr>
      </p:sp>
      <p:pic>
        <p:nvPicPr>
          <p:cNvPr id="10" name="Stat 2 icon" descr="preencoded.png">    </p:cNvPr>
          <p:cNvPicPr>
            <a:picLocks noChangeAspect="1"/>
          </p:cNvPicPr>
          <p:nvPr/>
        </p:nvPicPr>
        <p:blipFill>
          <a:blip r:embed="rId2"/>
          <a:stretch>
            <a:fillRect/>
          </a:stretch>
        </p:blipFill>
        <p:spPr>
          <a:xfrm>
            <a:off x="6660947" y="1753819"/>
            <a:ext cx="332842" cy="332842"/>
          </a:xfrm>
          <a:prstGeom prst="rect">
            <a:avLst/>
          </a:prstGeom>
        </p:spPr>
      </p:pic>
      <p:sp>
        <p:nvSpPr>
          <p:cNvPr id="11" name="Stat kicker 2"/>
          <p:cNvSpPr txBox="1"/>
          <p:nvPr/>
        </p:nvSpPr>
        <p:spPr>
          <a:xfrm>
            <a:off x="7330288" y="1600200"/>
            <a:ext cx="4312768" cy="640080"/>
          </a:xfrm>
          <a:prstGeom prst="rect">
            <a:avLst/>
          </a:prstGeom>
          <a:noFill/>
          <a:ln/>
        </p:spPr>
        <p:txBody>
          <a:bodyPr wrap="square" lIns="0" tIns="0" rIns="0" bIns="0" rtlCol="0" anchor="ctr"/>
          <a:lstStyle/>
          <a:p>
            <a:pPr indent="0" marL="0">
              <a:buNone/>
            </a:pPr>
            <a:r>
              <a:rPr lang="en-US" sz="1400" b="1" spc="300" kern="0" dirty="0">
                <a:solidFill>
                  <a:schemeClr val="accent1"/>
                </a:solidFill>
              </a:rPr>
              <a:t>GERMANY</a:t>
            </a:r>
            <a:endParaRPr lang="en-US" sz="1400" dirty="0"/>
          </a:p>
        </p:txBody>
      </p:sp>
      <p:sp>
        <p:nvSpPr>
          <p:cNvPr id="12" name="Stat number 2"/>
          <p:cNvSpPr txBox="1"/>
          <p:nvPr/>
        </p:nvSpPr>
        <p:spPr>
          <a:xfrm>
            <a:off x="6507328" y="2331720"/>
            <a:ext cx="5135728" cy="1600200"/>
          </a:xfrm>
          <a:prstGeom prst="rect">
            <a:avLst/>
          </a:prstGeom>
          <a:noFill/>
          <a:ln/>
        </p:spPr>
        <p:txBody>
          <a:bodyPr wrap="square" lIns="0" tIns="0" rIns="0" bIns="0" rtlCol="0" anchor="ctr"/>
          <a:lstStyle/>
          <a:p>
            <a:pPr indent="0" marL="0">
              <a:buNone/>
            </a:pPr>
            <a:r>
              <a:rPr lang="en-US" sz="12000" b="1" dirty="0">
                <a:solidFill>
                  <a:schemeClr val="bg1"/>
                </a:solidFill>
                <a:latin typeface="Cambria" pitchFamily="34" charset="0"/>
                <a:ea typeface="Cambria" pitchFamily="34" charset="-122"/>
                <a:cs typeface="Cambria" pitchFamily="34" charset="-120"/>
              </a:rPr>
              <a:t>3,080</a:t>
            </a:r>
            <a:endParaRPr lang="en-US" sz="12000" dirty="0"/>
          </a:p>
        </p:txBody>
      </p:sp>
      <p:sp>
        <p:nvSpPr>
          <p:cNvPr id="13" name="Stat label 2"/>
          <p:cNvSpPr txBox="1"/>
          <p:nvPr/>
        </p:nvSpPr>
        <p:spPr>
          <a:xfrm>
            <a:off x="6507328" y="4023360"/>
            <a:ext cx="4861408" cy="822960"/>
          </a:xfrm>
          <a:prstGeom prst="rect">
            <a:avLst/>
          </a:prstGeom>
          <a:noFill/>
          <a:ln/>
        </p:spPr>
        <p:txBody>
          <a:bodyPr wrap="square" lIns="0" tIns="0" rIns="0" bIns="0" rtlCol="0" anchor="t"/>
          <a:lstStyle/>
          <a:p>
            <a:pPr indent="0" marL="0">
              <a:buNone/>
            </a:pPr>
            <a:r>
              <a:rPr lang="en-US" sz="2400" dirty="0">
                <a:solidFill>
                  <a:schemeClr val="accent5"/>
                </a:solidFill>
              </a:rPr>
              <a:t>anti-Muslim incidents in Germany in 2024.</a:t>
            </a:r>
            <a:endParaRPr lang="en-US" sz="2400" dirty="0"/>
          </a:p>
        </p:txBody>
      </p:sp>
      <p:sp>
        <p:nvSpPr>
          <p:cNvPr id="14" name="Stat extra 2"/>
          <p:cNvSpPr txBox="1"/>
          <p:nvPr/>
        </p:nvSpPr>
        <p:spPr>
          <a:xfrm>
            <a:off x="6507328" y="4892040"/>
            <a:ext cx="4861408" cy="411480"/>
          </a:xfrm>
          <a:prstGeom prst="rect">
            <a:avLst/>
          </a:prstGeom>
          <a:noFill/>
          <a:ln/>
        </p:spPr>
        <p:txBody>
          <a:bodyPr wrap="square" lIns="0" tIns="0" rIns="0" bIns="0" rtlCol="0" anchor="ctr"/>
          <a:lstStyle/>
          <a:p>
            <a:pPr indent="0" marL="0">
              <a:buNone/>
            </a:pPr>
            <a:r>
              <a:rPr lang="en-US" sz="1800" b="1" dirty="0">
                <a:solidFill>
                  <a:schemeClr val="accent1"/>
                </a:solidFill>
              </a:rPr>
              <a:t>More than eight a day.</a:t>
            </a:r>
            <a:endParaRPr lang="en-US" sz="1800" dirty="0"/>
          </a:p>
        </p:txBody>
      </p:sp>
      <p:sp>
        <p:nvSpPr>
          <p:cNvPr id="1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Sources: EU Agency for Fundamental Rights, Being Muslim in the EU (2024); CLAIM, Lagebild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And in language models? What research found</a:t>
            </a:r>
            <a:endParaRPr lang="en-US" sz="3600" dirty="0"/>
          </a:p>
        </p:txBody>
      </p:sp>
      <p:sp>
        <p:nvSpPr>
          <p:cNvPr id="3" name="Model card 1"/>
          <p:cNvSpPr/>
          <p:nvPr/>
        </p:nvSpPr>
        <p:spPr>
          <a:xfrm>
            <a:off x="548640" y="1463040"/>
            <a:ext cx="3454298" cy="3749040"/>
          </a:xfrm>
          <a:prstGeom prst="roundRect">
            <a:avLst>
              <a:gd name="adj" fmla="val 3177"/>
            </a:avLst>
          </a:prstGeom>
          <a:solidFill>
            <a:schemeClr val="bg2"/>
          </a:solidFill>
          <a:ln w="12700">
            <a:solidFill>
              <a:schemeClr val="bg2"/>
            </a:solidFill>
            <a:prstDash val="solid"/>
          </a:ln>
        </p:spPr>
      </p:sp>
      <p:sp>
        <p:nvSpPr>
          <p:cNvPr id="4" name="Model 1 circle"/>
          <p:cNvSpPr/>
          <p:nvPr/>
        </p:nvSpPr>
        <p:spPr>
          <a:xfrm>
            <a:off x="868680" y="1783080"/>
            <a:ext cx="640080" cy="640080"/>
          </a:xfrm>
          <a:prstGeom prst="ellipse">
            <a:avLst/>
          </a:prstGeom>
          <a:solidFill>
            <a:schemeClr val="tx1"/>
          </a:solidFill>
          <a:ln w="12700">
            <a:solidFill>
              <a:schemeClr val="tx1"/>
            </a:solidFill>
            <a:prstDash val="solid"/>
          </a:ln>
        </p:spPr>
      </p:sp>
      <p:pic>
        <p:nvPicPr>
          <p:cNvPr id="5" name="Model 1 icon" descr="preencoded.png">    </p:cNvPr>
          <p:cNvPicPr>
            <a:picLocks noChangeAspect="1"/>
          </p:cNvPicPr>
          <p:nvPr/>
        </p:nvPicPr>
        <p:blipFill>
          <a:blip r:embed="rId1"/>
          <a:stretch>
            <a:fillRect/>
          </a:stretch>
        </p:blipFill>
        <p:spPr>
          <a:xfrm>
            <a:off x="1022299" y="1936699"/>
            <a:ext cx="332842" cy="332842"/>
          </a:xfrm>
          <a:prstGeom prst="rect">
            <a:avLst/>
          </a:prstGeom>
        </p:spPr>
      </p:pic>
      <p:sp>
        <p:nvSpPr>
          <p:cNvPr id="6" name="Model kicker 1"/>
          <p:cNvSpPr txBox="1"/>
          <p:nvPr/>
        </p:nvSpPr>
        <p:spPr>
          <a:xfrm>
            <a:off x="1645920" y="1783080"/>
            <a:ext cx="2082698" cy="640080"/>
          </a:xfrm>
          <a:prstGeom prst="rect">
            <a:avLst/>
          </a:prstGeom>
          <a:noFill/>
          <a:ln/>
        </p:spPr>
        <p:txBody>
          <a:bodyPr wrap="square" lIns="0" tIns="0" rIns="0" bIns="0" rtlCol="0" anchor="ctr"/>
          <a:lstStyle/>
          <a:p>
            <a:pPr indent="0" marL="0">
              <a:buNone/>
            </a:pPr>
            <a:r>
              <a:rPr lang="en-US" sz="1200" b="1" spc="200" kern="0" dirty="0">
                <a:solidFill>
                  <a:schemeClr val="tx2"/>
                </a:solidFill>
              </a:rPr>
              <a:t>GPT-3</a:t>
            </a:r>
            <a:endParaRPr lang="en-US" sz="1200" dirty="0"/>
          </a:p>
        </p:txBody>
      </p:sp>
      <p:sp>
        <p:nvSpPr>
          <p:cNvPr id="7" name="Model number 1"/>
          <p:cNvSpPr txBox="1"/>
          <p:nvPr/>
        </p:nvSpPr>
        <p:spPr>
          <a:xfrm>
            <a:off x="868680" y="2560320"/>
            <a:ext cx="2814218" cy="109728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66%</a:t>
            </a:r>
            <a:endParaRPr lang="en-US" sz="6600" dirty="0"/>
          </a:p>
        </p:txBody>
      </p:sp>
      <p:sp>
        <p:nvSpPr>
          <p:cNvPr id="8" name="Model label 1"/>
          <p:cNvSpPr txBox="1"/>
          <p:nvPr/>
        </p:nvSpPr>
        <p:spPr>
          <a:xfrm>
            <a:off x="868680" y="3749040"/>
            <a:ext cx="2814218" cy="1280160"/>
          </a:xfrm>
          <a:prstGeom prst="rect">
            <a:avLst/>
          </a:prstGeom>
          <a:noFill/>
          <a:ln/>
        </p:spPr>
        <p:txBody>
          <a:bodyPr wrap="square" lIns="0" tIns="0" rIns="0" bIns="0" rtlCol="0" anchor="t"/>
          <a:lstStyle/>
          <a:p>
            <a:pPr indent="0" marL="0">
              <a:buNone/>
            </a:pPr>
            <a:r>
              <a:rPr lang="en-US" sz="1600" dirty="0">
                <a:solidFill>
                  <a:schemeClr val="tx1"/>
                </a:solidFill>
              </a:rPr>
              <a:t>of its endings for “Two Muslims walked into a …” were violent.</a:t>
            </a:r>
            <a:endParaRPr lang="en-US" sz="1600" dirty="0"/>
          </a:p>
        </p:txBody>
      </p:sp>
      <p:sp>
        <p:nvSpPr>
          <p:cNvPr id="9" name="Model card 2"/>
          <p:cNvSpPr/>
          <p:nvPr/>
        </p:nvSpPr>
        <p:spPr>
          <a:xfrm>
            <a:off x="4368698" y="1463040"/>
            <a:ext cx="3454298" cy="3749040"/>
          </a:xfrm>
          <a:prstGeom prst="roundRect">
            <a:avLst>
              <a:gd name="adj" fmla="val 3177"/>
            </a:avLst>
          </a:prstGeom>
          <a:solidFill>
            <a:schemeClr val="bg2"/>
          </a:solidFill>
          <a:ln w="12700">
            <a:solidFill>
              <a:schemeClr val="bg2"/>
            </a:solidFill>
            <a:prstDash val="solid"/>
          </a:ln>
        </p:spPr>
      </p:sp>
      <p:sp>
        <p:nvSpPr>
          <p:cNvPr id="10" name="Model 2 circle"/>
          <p:cNvSpPr/>
          <p:nvPr/>
        </p:nvSpPr>
        <p:spPr>
          <a:xfrm>
            <a:off x="4688738" y="1783080"/>
            <a:ext cx="640080" cy="640080"/>
          </a:xfrm>
          <a:prstGeom prst="ellipse">
            <a:avLst/>
          </a:prstGeom>
          <a:solidFill>
            <a:schemeClr val="tx1"/>
          </a:solidFill>
          <a:ln w="12700">
            <a:solidFill>
              <a:schemeClr val="tx1"/>
            </a:solidFill>
            <a:prstDash val="solid"/>
          </a:ln>
        </p:spPr>
      </p:sp>
      <p:pic>
        <p:nvPicPr>
          <p:cNvPr id="11" name="Model 2 icon" descr="preencoded.png">    </p:cNvPr>
          <p:cNvPicPr>
            <a:picLocks noChangeAspect="1"/>
          </p:cNvPicPr>
          <p:nvPr/>
        </p:nvPicPr>
        <p:blipFill>
          <a:blip r:embed="rId2"/>
          <a:stretch>
            <a:fillRect/>
          </a:stretch>
        </p:blipFill>
        <p:spPr>
          <a:xfrm>
            <a:off x="4842358" y="1936699"/>
            <a:ext cx="332842" cy="332842"/>
          </a:xfrm>
          <a:prstGeom prst="rect">
            <a:avLst/>
          </a:prstGeom>
        </p:spPr>
      </p:pic>
      <p:sp>
        <p:nvSpPr>
          <p:cNvPr id="12" name="Model kicker 2"/>
          <p:cNvSpPr txBox="1"/>
          <p:nvPr/>
        </p:nvSpPr>
        <p:spPr>
          <a:xfrm>
            <a:off x="5465978" y="1783080"/>
            <a:ext cx="2082698" cy="640080"/>
          </a:xfrm>
          <a:prstGeom prst="rect">
            <a:avLst/>
          </a:prstGeom>
          <a:noFill/>
          <a:ln/>
        </p:spPr>
        <p:txBody>
          <a:bodyPr wrap="square" lIns="0" tIns="0" rIns="0" bIns="0" rtlCol="0" anchor="ctr"/>
          <a:lstStyle/>
          <a:p>
            <a:pPr indent="0" marL="0">
              <a:buNone/>
            </a:pPr>
            <a:r>
              <a:rPr lang="en-US" sz="1200" b="1" spc="200" kern="0" dirty="0">
                <a:solidFill>
                  <a:schemeClr val="tx2"/>
                </a:solidFill>
              </a:rPr>
              <a:t>FIVE CHAT MODELS</a:t>
            </a:r>
            <a:endParaRPr lang="en-US" sz="1200" dirty="0"/>
          </a:p>
        </p:txBody>
      </p:sp>
      <p:sp>
        <p:nvSpPr>
          <p:cNvPr id="13" name="Model number 2"/>
          <p:cNvSpPr txBox="1"/>
          <p:nvPr/>
        </p:nvSpPr>
        <p:spPr>
          <a:xfrm>
            <a:off x="4688738" y="2560320"/>
            <a:ext cx="2814218" cy="109728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78%</a:t>
            </a:r>
            <a:endParaRPr lang="en-US" sz="6600" dirty="0"/>
          </a:p>
        </p:txBody>
      </p:sp>
      <p:sp>
        <p:nvSpPr>
          <p:cNvPr id="14" name="Model label 2"/>
          <p:cNvSpPr txBox="1"/>
          <p:nvPr/>
        </p:nvSpPr>
        <p:spPr>
          <a:xfrm>
            <a:off x="4688738" y="3749040"/>
            <a:ext cx="2814218" cy="1280160"/>
          </a:xfrm>
          <a:prstGeom prst="rect">
            <a:avLst/>
          </a:prstGeom>
          <a:noFill/>
          <a:ln/>
        </p:spPr>
        <p:txBody>
          <a:bodyPr wrap="square" lIns="0" tIns="0" rIns="0" bIns="0" rtlCol="0" anchor="t"/>
          <a:lstStyle/>
          <a:p>
            <a:pPr indent="0" marL="0">
              <a:buNone/>
            </a:pPr>
            <a:r>
              <a:rPr lang="en-US" sz="1600" dirty="0">
                <a:solidFill>
                  <a:schemeClr val="tx1"/>
                </a:solidFill>
              </a:rPr>
              <a:t>fewer Middle Eastern names in their stories about work than in the US population.</a:t>
            </a:r>
            <a:endParaRPr lang="en-US" sz="1600" dirty="0"/>
          </a:p>
        </p:txBody>
      </p:sp>
      <p:sp>
        <p:nvSpPr>
          <p:cNvPr id="15" name="Model card 3"/>
          <p:cNvSpPr/>
          <p:nvPr/>
        </p:nvSpPr>
        <p:spPr>
          <a:xfrm>
            <a:off x="8188757" y="1463040"/>
            <a:ext cx="3454298" cy="3749040"/>
          </a:xfrm>
          <a:prstGeom prst="roundRect">
            <a:avLst>
              <a:gd name="adj" fmla="val 3177"/>
            </a:avLst>
          </a:prstGeom>
          <a:solidFill>
            <a:schemeClr val="bg2"/>
          </a:solidFill>
          <a:ln w="12700">
            <a:solidFill>
              <a:schemeClr val="bg2"/>
            </a:solidFill>
            <a:prstDash val="solid"/>
          </a:ln>
        </p:spPr>
      </p:sp>
      <p:sp>
        <p:nvSpPr>
          <p:cNvPr id="16" name="Model 3 circle"/>
          <p:cNvSpPr/>
          <p:nvPr/>
        </p:nvSpPr>
        <p:spPr>
          <a:xfrm>
            <a:off x="8508797" y="1783080"/>
            <a:ext cx="640080" cy="640080"/>
          </a:xfrm>
          <a:prstGeom prst="ellipse">
            <a:avLst/>
          </a:prstGeom>
          <a:solidFill>
            <a:schemeClr val="tx1"/>
          </a:solidFill>
          <a:ln w="12700">
            <a:solidFill>
              <a:schemeClr val="tx1"/>
            </a:solidFill>
            <a:prstDash val="solid"/>
          </a:ln>
        </p:spPr>
      </p:sp>
      <p:pic>
        <p:nvPicPr>
          <p:cNvPr id="17" name="Model 3 icon" descr="preencoded.png">    </p:cNvPr>
          <p:cNvPicPr>
            <a:picLocks noChangeAspect="1"/>
          </p:cNvPicPr>
          <p:nvPr/>
        </p:nvPicPr>
        <p:blipFill>
          <a:blip r:embed="rId3"/>
          <a:stretch>
            <a:fillRect/>
          </a:stretch>
        </p:blipFill>
        <p:spPr>
          <a:xfrm>
            <a:off x="8662416" y="1936699"/>
            <a:ext cx="332842" cy="332842"/>
          </a:xfrm>
          <a:prstGeom prst="rect">
            <a:avLst/>
          </a:prstGeom>
        </p:spPr>
      </p:pic>
      <p:sp>
        <p:nvSpPr>
          <p:cNvPr id="18" name="Model kicker 3"/>
          <p:cNvSpPr txBox="1"/>
          <p:nvPr/>
        </p:nvSpPr>
        <p:spPr>
          <a:xfrm>
            <a:off x="9286037" y="1783080"/>
            <a:ext cx="2082698" cy="640080"/>
          </a:xfrm>
          <a:prstGeom prst="rect">
            <a:avLst/>
          </a:prstGeom>
          <a:noFill/>
          <a:ln/>
        </p:spPr>
        <p:txBody>
          <a:bodyPr wrap="square" lIns="0" tIns="0" rIns="0" bIns="0" rtlCol="0" anchor="ctr"/>
          <a:lstStyle/>
          <a:p>
            <a:pPr indent="0" marL="0">
              <a:buNone/>
            </a:pPr>
            <a:r>
              <a:rPr lang="en-US" sz="1200" b="1" spc="200" kern="0" dirty="0">
                <a:solidFill>
                  <a:schemeClr val="tx2"/>
                </a:solidFill>
              </a:rPr>
              <a:t>GPT-3.5 RATES CVS</a:t>
            </a:r>
            <a:endParaRPr lang="en-US" sz="1200" dirty="0"/>
          </a:p>
        </p:txBody>
      </p:sp>
      <p:sp>
        <p:nvSpPr>
          <p:cNvPr id="19" name="Model number 3"/>
          <p:cNvSpPr txBox="1"/>
          <p:nvPr/>
        </p:nvSpPr>
        <p:spPr>
          <a:xfrm>
            <a:off x="8508797" y="2560320"/>
            <a:ext cx="2814218" cy="109728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−15%</a:t>
            </a:r>
            <a:endParaRPr lang="en-US" sz="6600" dirty="0"/>
          </a:p>
        </p:txBody>
      </p:sp>
      <p:sp>
        <p:nvSpPr>
          <p:cNvPr id="20" name="Model label 3"/>
          <p:cNvSpPr txBox="1"/>
          <p:nvPr/>
        </p:nvSpPr>
        <p:spPr>
          <a:xfrm>
            <a:off x="8508797" y="3749040"/>
            <a:ext cx="2814218" cy="1280160"/>
          </a:xfrm>
          <a:prstGeom prst="rect">
            <a:avLst/>
          </a:prstGeom>
          <a:noFill/>
          <a:ln/>
        </p:spPr>
        <p:txBody>
          <a:bodyPr wrap="square" lIns="0" tIns="0" rIns="0" bIns="0" rtlCol="0" anchor="t"/>
          <a:lstStyle/>
          <a:p>
            <a:pPr indent="0" marL="0">
              <a:buNone/>
            </a:pPr>
            <a:r>
              <a:rPr lang="en-US" sz="1600" dirty="0">
                <a:solidFill>
                  <a:schemeClr val="tx1"/>
                </a:solidFill>
              </a:rPr>
              <a:t>The same CV passes the bar less often with an Arab name than with a Dutch name.</a:t>
            </a:r>
            <a:endParaRPr lang="en-US" sz="1600" dirty="0"/>
          </a:p>
        </p:txBody>
      </p:sp>
      <p:sp>
        <p:nvSpPr>
          <p:cNvPr id="21"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These models are built into more and more software. Who checks them?</a:t>
            </a:r>
            <a:endParaRPr lang="en-US" sz="2000" dirty="0"/>
          </a:p>
        </p:txBody>
      </p:sp>
      <p:sp>
        <p:nvSpPr>
          <p:cNvPr id="22"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Abid, Farooqi &amp; Zou 2021; Shieh et al. 2026; Lippens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r>
          <p:cNvPicPr>
            <a:picLocks noChangeAspect="1"/>
          </p:cNvPicPr>
          <p:nvPr/>
        </p:nvPicPr>
        <p:blipFill>
          <a:blip r:embed="rId1"/>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indent="0" marL="0">
              <a:buNone/>
            </a:pPr>
            <a:r>
              <a:rPr lang="en-US" sz="1500" dirty="0">
                <a:solidFill>
                  <a:schemeClr val="tx1"/>
                </a:solidFill>
              </a:rPr>
              <a:t>Muslim-majority countries, from Senegal to Indonesia</a:t>
            </a:r>
            <a:endParaRPr lang="en-US" sz="1500" dirty="0"/>
          </a:p>
        </p:txBody>
      </p:sp>
      <p:pic>
        <p:nvPicPr>
          <p:cNvPr id="11" name="Arrow 1" descr="preencoded.png">    </p:cNvPr>
          <p:cNvPicPr>
            <a:picLocks noChangeAspect="1"/>
          </p:cNvPicPr>
          <p:nvPr/>
        </p:nvPicPr>
        <p:blipFill>
          <a:blip r:embed="rId2"/>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indent="0" marL="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indent="0" marL="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xmlns:a="http://schemas.openxmlformats.org/drawingml/2006/main">
          <a:graphicData uri="http://schemas.openxmlformats.org/drawingml/2006/chart">
            <c:chart xmlns:c="http://schemas.openxmlformats.org/drawingml/2006/chart" r:id="rId1"/>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sp>
      <p:pic>
        <p:nvPicPr>
          <p:cNvPr id="8" name="Reason 1 icon" descr="preencoded.png">    </p:cNvPr>
          <p:cNvPicPr>
            <a:picLocks noChangeAspect="1"/>
          </p:cNvPicPr>
          <p:nvPr/>
        </p:nvPicPr>
        <p:blipFill>
          <a:blip r:embed="rId2"/>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indent="0" marL="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r>
          <p:cNvPicPr>
            <a:picLocks noChangeAspect="1"/>
          </p:cNvPicPr>
          <p:nvPr/>
        </p:nvPicPr>
        <p:blipFill>
          <a:blip r:embed="rId3"/>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sp>
      <p:pic>
        <p:nvPicPr>
          <p:cNvPr id="14" name="Reason 2 icon" descr="preencoded.png">    </p:cNvPr>
          <p:cNvPicPr>
            <a:picLocks noChangeAspect="1"/>
          </p:cNvPicPr>
          <p:nvPr/>
        </p:nvPicPr>
        <p:blipFill>
          <a:blip r:embed="rId4"/>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indent="0" marL="0">
              <a:buNone/>
            </a:pPr>
            <a:r>
              <a:rPr lang="en-US" sz="1400" dirty="0">
                <a:solidFill>
                  <a:schemeClr val="tx2"/>
                </a:solidFill>
              </a:rPr>
              <a:t>Take a second citizenship and the first is gone.</a:t>
            </a:r>
            <a:endParaRPr lang="en-US" sz="2000" dirty="0"/>
          </a:p>
        </p:txBody>
      </p:sp>
      <p:pic>
        <p:nvPicPr>
          <p:cNvPr id="16" name="Reason 2 flag Kuwait" descr="Flag of Kuwait">    </p:cNvPr>
          <p:cNvPicPr>
            <a:picLocks noChangeAspect="1"/>
          </p:cNvPicPr>
          <p:nvPr/>
        </p:nvPicPr>
        <p:blipFill>
          <a:blip r:embed="rId5"/>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sp>
      <p:pic>
        <p:nvPicPr>
          <p:cNvPr id="18" name="Reason 2 flag Libya" descr="Flag of Libya">    </p:cNvPr>
          <p:cNvPicPr>
            <a:picLocks noChangeAspect="1"/>
          </p:cNvPicPr>
          <p:nvPr/>
        </p:nvPicPr>
        <p:blipFill>
          <a:blip r:embed="rId6"/>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sp>
      <p:pic>
        <p:nvPicPr>
          <p:cNvPr id="20" name="Reason 2 flag United Arab Emirates" descr="Flag of United Arab Emirates">    </p:cNvPr>
          <p:cNvPicPr>
            <a:picLocks noChangeAspect="1"/>
          </p:cNvPicPr>
          <p:nvPr/>
        </p:nvPicPr>
        <p:blipFill>
          <a:blip r:embed="rId7"/>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sp>
      <p:pic>
        <p:nvPicPr>
          <p:cNvPr id="24" name="Reason 3 icon" descr="preencoded.png">    </p:cNvPr>
          <p:cNvPicPr>
            <a:picLocks noChangeAspect="1"/>
          </p:cNvPicPr>
          <p:nvPr/>
        </p:nvPicPr>
        <p:blipFill>
          <a:blip r:embed="rId8"/>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indent="0" marL="0">
              <a:buNone/>
            </a:pPr>
            <a:r>
              <a:rPr lang="en-US" sz="1400" dirty="0">
                <a:solidFill>
                  <a:schemeClr val="tx2"/>
                </a:solidFill>
              </a:rPr>
              <a:t>The citizenship cannot be given up.</a:t>
            </a:r>
            <a:endParaRPr lang="en-US" sz="2000" dirty="0"/>
          </a:p>
        </p:txBody>
      </p:sp>
      <p:pic>
        <p:nvPicPr>
          <p:cNvPr id="26" name="Reason 3 flag Morocco" descr="Flag of Morocco">    </p:cNvPr>
          <p:cNvPicPr>
            <a:picLocks noChangeAspect="1"/>
          </p:cNvPicPr>
          <p:nvPr/>
        </p:nvPicPr>
        <p:blipFill>
          <a:blip r:embed="rId9"/>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sp>
      <p:pic>
        <p:nvPicPr>
          <p:cNvPr id="28" name="Reason 3 flag Qatar" descr="Flag of Qatar">    </p:cNvPr>
          <p:cNvPicPr>
            <a:picLocks noChangeAspect="1"/>
          </p:cNvPicPr>
          <p:nvPr/>
        </p:nvPicPr>
        <p:blipFill>
          <a:blip r:embed="rId10"/>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sp>
      <p:pic>
        <p:nvPicPr>
          <p:cNvPr id="30" name="Reason 3 flag Tunisia" descr="Flag of Tunisia">    </p:cNvPr>
          <p:cNvPicPr>
            <a:picLocks noChangeAspect="1"/>
          </p:cNvPicPr>
          <p:nvPr/>
        </p:nvPicPr>
        <p:blipFill>
          <a:blip r:embed="rId11"/>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sp>
      <p:pic>
        <p:nvPicPr>
          <p:cNvPr id="32" name="Reason 3 flag Yemen" descr="Flag of Yemen">    </p:cNvPr>
          <p:cNvPicPr>
            <a:picLocks noChangeAspect="1"/>
          </p:cNvPicPr>
          <p:nvPr/>
        </p:nvPicPr>
        <p:blipFill>
          <a:blip r:embed="rId12"/>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sp>
      <p:sp>
        <p:nvSpPr>
          <p:cNvPr id="3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indent="0" marL="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indent="0" marL="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indent="0" marL="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r>
          <p:cNvPicPr>
            <a:picLocks noChangeAspect="1"/>
          </p:cNvPicPr>
          <p:nvPr/>
        </p:nvPicPr>
        <p:blipFill>
          <a:blip r:embed="rId1"/>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Algerian</a:t>
            </a:r>
            <a:endParaRPr lang="en-US" sz="1000" dirty="0"/>
          </a:p>
        </p:txBody>
      </p:sp>
      <p:pic>
        <p:nvPicPr>
          <p:cNvPr id="10" name="Flag Bahrain" descr="Flag of Bahrain">    </p:cNvPr>
          <p:cNvPicPr>
            <a:picLocks noChangeAspect="1"/>
          </p:cNvPicPr>
          <p:nvPr/>
        </p:nvPicPr>
        <p:blipFill>
          <a:blip r:embed="rId2"/>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Bahraini</a:t>
            </a:r>
            <a:endParaRPr lang="en-US" sz="1000" dirty="0"/>
          </a:p>
        </p:txBody>
      </p:sp>
      <p:pic>
        <p:nvPicPr>
          <p:cNvPr id="13" name="Flag Comoros" descr="Flag of Comoros">    </p:cNvPr>
          <p:cNvPicPr>
            <a:picLocks noChangeAspect="1"/>
          </p:cNvPicPr>
          <p:nvPr/>
        </p:nvPicPr>
        <p:blipFill>
          <a:blip r:embed="rId3"/>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Comorian</a:t>
            </a:r>
            <a:endParaRPr lang="en-US" sz="1000" dirty="0"/>
          </a:p>
        </p:txBody>
      </p:sp>
      <p:pic>
        <p:nvPicPr>
          <p:cNvPr id="16" name="Flag Djibouti" descr="Flag of Djibouti">    </p:cNvPr>
          <p:cNvPicPr>
            <a:picLocks noChangeAspect="1"/>
          </p:cNvPicPr>
          <p:nvPr/>
        </p:nvPicPr>
        <p:blipFill>
          <a:blip r:embed="rId4"/>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Djiboutian</a:t>
            </a:r>
            <a:endParaRPr lang="en-US" sz="1000" dirty="0"/>
          </a:p>
        </p:txBody>
      </p:sp>
      <p:pic>
        <p:nvPicPr>
          <p:cNvPr id="19" name="Flag Egypt" descr="Flag of Egypt">    </p:cNvPr>
          <p:cNvPicPr>
            <a:picLocks noChangeAspect="1"/>
          </p:cNvPicPr>
          <p:nvPr/>
        </p:nvPicPr>
        <p:blipFill>
          <a:blip r:embed="rId5"/>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Egyptian</a:t>
            </a:r>
            <a:endParaRPr lang="en-US" sz="1000" dirty="0"/>
          </a:p>
        </p:txBody>
      </p:sp>
      <p:pic>
        <p:nvPicPr>
          <p:cNvPr id="22" name="Flag United Arab Emirates" descr="Flag of United Arab Emirates">    </p:cNvPr>
          <p:cNvPicPr>
            <a:picLocks noChangeAspect="1"/>
          </p:cNvPicPr>
          <p:nvPr/>
        </p:nvPicPr>
        <p:blipFill>
          <a:blip r:embed="rId6"/>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Emirati</a:t>
            </a:r>
            <a:endParaRPr lang="en-US" sz="1000" dirty="0"/>
          </a:p>
        </p:txBody>
      </p:sp>
      <p:pic>
        <p:nvPicPr>
          <p:cNvPr id="25" name="Flag Iraq" descr="Flag of Iraq">    </p:cNvPr>
          <p:cNvPicPr>
            <a:picLocks noChangeAspect="1"/>
          </p:cNvPicPr>
          <p:nvPr/>
        </p:nvPicPr>
        <p:blipFill>
          <a:blip r:embed="rId7"/>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Iraqi</a:t>
            </a:r>
            <a:endParaRPr lang="en-US" sz="1000" dirty="0"/>
          </a:p>
        </p:txBody>
      </p:sp>
      <p:pic>
        <p:nvPicPr>
          <p:cNvPr id="28" name="Flag Jordan" descr="Flag of Jordan">    </p:cNvPr>
          <p:cNvPicPr>
            <a:picLocks noChangeAspect="1"/>
          </p:cNvPicPr>
          <p:nvPr/>
        </p:nvPicPr>
        <p:blipFill>
          <a:blip r:embed="rId8"/>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Jordanian</a:t>
            </a:r>
            <a:endParaRPr lang="en-US" sz="1000" dirty="0"/>
          </a:p>
        </p:txBody>
      </p:sp>
      <p:pic>
        <p:nvPicPr>
          <p:cNvPr id="31" name="Flag Kuwait" descr="Flag of Kuwait">    </p:cNvPr>
          <p:cNvPicPr>
            <a:picLocks noChangeAspect="1"/>
          </p:cNvPicPr>
          <p:nvPr/>
        </p:nvPicPr>
        <p:blipFill>
          <a:blip r:embed="rId9"/>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Kuwaiti</a:t>
            </a:r>
            <a:endParaRPr lang="en-US" sz="1000" dirty="0"/>
          </a:p>
        </p:txBody>
      </p:sp>
      <p:pic>
        <p:nvPicPr>
          <p:cNvPr id="34" name="Flag Lebanon" descr="Flag of Lebanon">    </p:cNvPr>
          <p:cNvPicPr>
            <a:picLocks noChangeAspect="1"/>
          </p:cNvPicPr>
          <p:nvPr/>
        </p:nvPicPr>
        <p:blipFill>
          <a:blip r:embed="rId10"/>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Lebanese</a:t>
            </a:r>
            <a:endParaRPr lang="en-US" sz="1000" dirty="0"/>
          </a:p>
        </p:txBody>
      </p:sp>
      <p:pic>
        <p:nvPicPr>
          <p:cNvPr id="37" name="Flag Libya" descr="Flag of Libya">    </p:cNvPr>
          <p:cNvPicPr>
            <a:picLocks noChangeAspect="1"/>
          </p:cNvPicPr>
          <p:nvPr/>
        </p:nvPicPr>
        <p:blipFill>
          <a:blip r:embed="rId11"/>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Libyan</a:t>
            </a:r>
            <a:endParaRPr lang="en-US" sz="1000" dirty="0"/>
          </a:p>
        </p:txBody>
      </p:sp>
      <p:pic>
        <p:nvPicPr>
          <p:cNvPr id="40" name="Flag Mauritania" descr="Flag of Mauritania">    </p:cNvPr>
          <p:cNvPicPr>
            <a:picLocks noChangeAspect="1"/>
          </p:cNvPicPr>
          <p:nvPr/>
        </p:nvPicPr>
        <p:blipFill>
          <a:blip r:embed="rId12"/>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Mauritanian</a:t>
            </a:r>
            <a:endParaRPr lang="en-US" sz="1000" dirty="0"/>
          </a:p>
        </p:txBody>
      </p:sp>
      <p:pic>
        <p:nvPicPr>
          <p:cNvPr id="43" name="Flag Morocco" descr="Flag of Morocco">    </p:cNvPr>
          <p:cNvPicPr>
            <a:picLocks noChangeAspect="1"/>
          </p:cNvPicPr>
          <p:nvPr/>
        </p:nvPicPr>
        <p:blipFill>
          <a:blip r:embed="rId13"/>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Moroccan</a:t>
            </a:r>
            <a:endParaRPr lang="en-US" sz="1000" dirty="0"/>
          </a:p>
        </p:txBody>
      </p:sp>
      <p:pic>
        <p:nvPicPr>
          <p:cNvPr id="46" name="Flag Oman" descr="Flag of Oman">    </p:cNvPr>
          <p:cNvPicPr>
            <a:picLocks noChangeAspect="1"/>
          </p:cNvPicPr>
          <p:nvPr/>
        </p:nvPicPr>
        <p:blipFill>
          <a:blip r:embed="rId14"/>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Omani</a:t>
            </a:r>
            <a:endParaRPr lang="en-US" sz="1000" dirty="0"/>
          </a:p>
        </p:txBody>
      </p:sp>
      <p:pic>
        <p:nvPicPr>
          <p:cNvPr id="49" name="Flag Palestine" descr="Flag of Palestine">    </p:cNvPr>
          <p:cNvPicPr>
            <a:picLocks noChangeAspect="1"/>
          </p:cNvPicPr>
          <p:nvPr/>
        </p:nvPicPr>
        <p:blipFill>
          <a:blip r:embed="rId15"/>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Palestinian</a:t>
            </a:r>
            <a:endParaRPr lang="en-US" sz="1000" dirty="0"/>
          </a:p>
        </p:txBody>
      </p:sp>
      <p:pic>
        <p:nvPicPr>
          <p:cNvPr id="52" name="Flag Qatar" descr="Flag of Qatar">    </p:cNvPr>
          <p:cNvPicPr>
            <a:picLocks noChangeAspect="1"/>
          </p:cNvPicPr>
          <p:nvPr/>
        </p:nvPicPr>
        <p:blipFill>
          <a:blip r:embed="rId16"/>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Qatari</a:t>
            </a:r>
            <a:endParaRPr lang="en-US" sz="1000" dirty="0"/>
          </a:p>
        </p:txBody>
      </p:sp>
      <p:pic>
        <p:nvPicPr>
          <p:cNvPr id="55" name="Flag Saudi Arabia" descr="Flag of Saudi Arabia">    </p:cNvPr>
          <p:cNvPicPr>
            <a:picLocks noChangeAspect="1"/>
          </p:cNvPicPr>
          <p:nvPr/>
        </p:nvPicPr>
        <p:blipFill>
          <a:blip r:embed="rId17"/>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Saudi</a:t>
            </a:r>
            <a:endParaRPr lang="en-US" sz="1000" dirty="0"/>
          </a:p>
        </p:txBody>
      </p:sp>
      <p:pic>
        <p:nvPicPr>
          <p:cNvPr id="58" name="Flag Somalia" descr="Flag of Somalia">    </p:cNvPr>
          <p:cNvPicPr>
            <a:picLocks noChangeAspect="1"/>
          </p:cNvPicPr>
          <p:nvPr/>
        </p:nvPicPr>
        <p:blipFill>
          <a:blip r:embed="rId18"/>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Somali</a:t>
            </a:r>
            <a:endParaRPr lang="en-US" sz="1000" dirty="0"/>
          </a:p>
        </p:txBody>
      </p:sp>
      <p:pic>
        <p:nvPicPr>
          <p:cNvPr id="61" name="Flag Sudan" descr="Flag of Sudan">    </p:cNvPr>
          <p:cNvPicPr>
            <a:picLocks noChangeAspect="1"/>
          </p:cNvPicPr>
          <p:nvPr/>
        </p:nvPicPr>
        <p:blipFill>
          <a:blip r:embed="rId19"/>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Sudanese</a:t>
            </a:r>
            <a:endParaRPr lang="en-US" sz="1000" dirty="0"/>
          </a:p>
        </p:txBody>
      </p:sp>
      <p:pic>
        <p:nvPicPr>
          <p:cNvPr id="64" name="Flag Syria" descr="Flag of Syria">    </p:cNvPr>
          <p:cNvPicPr>
            <a:picLocks noChangeAspect="1"/>
          </p:cNvPicPr>
          <p:nvPr/>
        </p:nvPicPr>
        <p:blipFill>
          <a:blip r:embed="rId20"/>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Syrian</a:t>
            </a:r>
            <a:endParaRPr lang="en-US" sz="1000" dirty="0"/>
          </a:p>
        </p:txBody>
      </p:sp>
      <p:pic>
        <p:nvPicPr>
          <p:cNvPr id="67" name="Flag Tunisia" descr="Flag of Tunisia">    </p:cNvPr>
          <p:cNvPicPr>
            <a:picLocks noChangeAspect="1"/>
          </p:cNvPicPr>
          <p:nvPr/>
        </p:nvPicPr>
        <p:blipFill>
          <a:blip r:embed="rId21"/>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Tunisian</a:t>
            </a:r>
            <a:endParaRPr lang="en-US" sz="1000" dirty="0"/>
          </a:p>
        </p:txBody>
      </p:sp>
      <p:pic>
        <p:nvPicPr>
          <p:cNvPr id="70" name="Flag Yemen" descr="Flag of Yemen">    </p:cNvPr>
          <p:cNvPicPr>
            <a:picLocks noChangeAspect="1"/>
          </p:cNvPicPr>
          <p:nvPr/>
        </p:nvPicPr>
        <p:blipFill>
          <a:blip r:embed="rId22"/>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Yemeni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algn="r" indent="0" marL="0">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indent="0" marL="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indent="0" marL="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indent="0" marL="0">
              <a:buNone/>
            </a:pPr>
            <a:r>
              <a:rPr lang="en-US" sz="1200" b="1" spc="300" kern="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algn="ctr" indent="0" marL="0">
              <a:buNone/>
            </a:pPr>
            <a:r>
              <a:rPr lang="en-US" sz="2400" i="1" dirty="0">
                <a:solidFill>
                  <a:schemeClr val="accent1"/>
                </a:solidFill>
              </a:rPr>
              <a:t>Same person on paper, same rules. Why should the answer differ?</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we ask</a:t>
            </a:r>
            <a:endParaRPr lang="en-US" sz="3600" dirty="0"/>
          </a:p>
        </p:txBody>
      </p:sp>
      <p:sp>
        <p:nvSpPr>
          <p:cNvPr id="3" name="Question 1 card"/>
          <p:cNvSpPr/>
          <p:nvPr/>
        </p:nvSpPr>
        <p:spPr>
          <a:xfrm>
            <a:off x="548640" y="1371600"/>
            <a:ext cx="11094415" cy="2331720"/>
          </a:xfrm>
          <a:prstGeom prst="roundRect">
            <a:avLst>
              <a:gd name="adj" fmla="val 4706"/>
            </a:avLst>
          </a:prstGeom>
          <a:solidFill>
            <a:schemeClr val="tx1"/>
          </a:solidFill>
          <a:ln w="12700">
            <a:solidFill>
              <a:schemeClr val="tx1"/>
            </a:solidFill>
            <a:prstDash val="solid"/>
          </a:ln>
        </p:spPr>
      </p:sp>
      <p:sp>
        <p:nvSpPr>
          <p:cNvPr id="4" name="Question 1 circle"/>
          <p:cNvSpPr/>
          <p:nvPr/>
        </p:nvSpPr>
        <p:spPr>
          <a:xfrm>
            <a:off x="868680" y="1645920"/>
            <a:ext cx="731520" cy="731520"/>
          </a:xfrm>
          <a:prstGeom prst="ellipse">
            <a:avLst/>
          </a:prstGeom>
          <a:solidFill>
            <a:schemeClr val="accent1"/>
          </a:solidFill>
          <a:ln w="12700">
            <a:solidFill>
              <a:schemeClr val="accent1"/>
            </a:solidFill>
            <a:prstDash val="solid"/>
          </a:ln>
        </p:spPr>
      </p:sp>
      <p:pic>
        <p:nvPicPr>
          <p:cNvPr id="5" name="Question 1 icon" descr="preencoded.png">    </p:cNvPr>
          <p:cNvPicPr>
            <a:picLocks noChangeAspect="1"/>
          </p:cNvPicPr>
          <p:nvPr/>
        </p:nvPicPr>
        <p:blipFill>
          <a:blip r:embed="rId1"/>
          <a:stretch>
            <a:fillRect/>
          </a:stretch>
        </p:blipFill>
        <p:spPr>
          <a:xfrm>
            <a:off x="1044245" y="1821485"/>
            <a:ext cx="380390" cy="380390"/>
          </a:xfrm>
          <a:prstGeom prst="rect">
            <a:avLst/>
          </a:prstGeom>
        </p:spPr>
      </p:pic>
      <p:sp>
        <p:nvSpPr>
          <p:cNvPr id="6" name="Question 1 big"/>
          <p:cNvSpPr txBox="1"/>
          <p:nvPr/>
        </p:nvSpPr>
        <p:spPr>
          <a:xfrm>
            <a:off x="868680" y="2468880"/>
            <a:ext cx="40233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  Do the 22 differ?</a:t>
            </a:r>
            <a:endParaRPr lang="en-US" sz="2400" dirty="0"/>
          </a:p>
        </p:txBody>
      </p:sp>
      <p:sp>
        <p:nvSpPr>
          <p:cNvPr id="7" name="Question 1 small"/>
          <p:cNvSpPr txBox="1"/>
          <p:nvPr/>
        </p:nvSpPr>
        <p:spPr>
          <a:xfrm>
            <a:off x="868680" y="2926080"/>
            <a:ext cx="4023360" cy="640080"/>
          </a:xfrm>
          <a:prstGeom prst="rect">
            <a:avLst/>
          </a:prstGeom>
          <a:noFill/>
          <a:ln/>
        </p:spPr>
        <p:txBody>
          <a:bodyPr wrap="square" lIns="0" tIns="0" rIns="0" bIns="0" rtlCol="0" anchor="t"/>
          <a:lstStyle/>
          <a:p>
            <a:pPr indent="0" marL="0">
              <a:buNone/>
            </a:pPr>
            <a:r>
              <a:rPr lang="en-US" sz="1500" dirty="0">
                <a:solidFill>
                  <a:schemeClr val="bg1"/>
                </a:solidFill>
              </a:rPr>
              <a:t>Same application, same rules. We compare the 22 countries one by one.</a:t>
            </a:r>
            <a:endParaRPr lang="en-US" sz="1500" dirty="0"/>
          </a:p>
        </p:txBody>
      </p:sp>
      <p:pic>
        <p:nvPicPr>
          <p:cNvPr id="8" name="Flag Algeria" descr="Flag of Algeria">    </p:cNvPr>
          <p:cNvPicPr>
            <a:picLocks noChangeAspect="1"/>
          </p:cNvPicPr>
          <p:nvPr/>
        </p:nvPicPr>
        <p:blipFill>
          <a:blip r:embed="rId2"/>
          <a:stretch>
            <a:fillRect/>
          </a:stretch>
        </p:blipFill>
        <p:spPr>
          <a:xfrm>
            <a:off x="5212080" y="1767078"/>
            <a:ext cx="457200" cy="342900"/>
          </a:xfrm>
          <a:prstGeom prst="rect">
            <a:avLst/>
          </a:prstGeom>
        </p:spPr>
      </p:pic>
      <p:sp>
        <p:nvSpPr>
          <p:cNvPr id="9" name="Flag frame Algeria"/>
          <p:cNvSpPr/>
          <p:nvPr/>
        </p:nvSpPr>
        <p:spPr>
          <a:xfrm>
            <a:off x="5212080" y="1767078"/>
            <a:ext cx="457200" cy="342900"/>
          </a:xfrm>
          <a:prstGeom prst="rect">
            <a:avLst/>
          </a:prstGeom>
          <a:solidFill>
            <a:schemeClr val="tx1">
              <a:alpha val="0"/>
            </a:schemeClr>
          </a:solidFill>
          <a:ln w="6350">
            <a:solidFill>
              <a:schemeClr val="accent5"/>
            </a:solidFill>
            <a:prstDash val="solid"/>
          </a:ln>
        </p:spPr>
      </p:sp>
      <p:sp>
        <p:nvSpPr>
          <p:cNvPr id="10" name="Score box Algeria"/>
          <p:cNvSpPr/>
          <p:nvPr/>
        </p:nvSpPr>
        <p:spPr>
          <a:xfrm>
            <a:off x="5212080" y="2155698"/>
            <a:ext cx="457200" cy="237744"/>
          </a:xfrm>
          <a:prstGeom prst="roundRect">
            <a:avLst>
              <a:gd name="adj" fmla="val 19231"/>
            </a:avLst>
          </a:prstGeom>
          <a:solidFill>
            <a:schemeClr val="accent3"/>
          </a:solidFill>
          <a:ln w="12700">
            <a:solidFill>
              <a:schemeClr val="accent3"/>
            </a:solidFill>
            <a:prstDash val="solid"/>
          </a:ln>
        </p:spPr>
      </p:sp>
      <p:sp>
        <p:nvSpPr>
          <p:cNvPr id="11" name="Score Algeria"/>
          <p:cNvSpPr txBox="1"/>
          <p:nvPr/>
        </p:nvSpPr>
        <p:spPr>
          <a:xfrm>
            <a:off x="5212080"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12" name="Flag Bahrain" descr="Flag of Bahrain">    </p:cNvPr>
          <p:cNvPicPr>
            <a:picLocks noChangeAspect="1"/>
          </p:cNvPicPr>
          <p:nvPr/>
        </p:nvPicPr>
        <p:blipFill>
          <a:blip r:embed="rId3"/>
          <a:stretch>
            <a:fillRect/>
          </a:stretch>
        </p:blipFill>
        <p:spPr>
          <a:xfrm>
            <a:off x="5777454" y="1767078"/>
            <a:ext cx="457200" cy="342900"/>
          </a:xfrm>
          <a:prstGeom prst="rect">
            <a:avLst/>
          </a:prstGeom>
        </p:spPr>
      </p:pic>
      <p:sp>
        <p:nvSpPr>
          <p:cNvPr id="13" name="Flag frame Bahrain"/>
          <p:cNvSpPr/>
          <p:nvPr/>
        </p:nvSpPr>
        <p:spPr>
          <a:xfrm>
            <a:off x="5777454" y="1767078"/>
            <a:ext cx="457200" cy="342900"/>
          </a:xfrm>
          <a:prstGeom prst="rect">
            <a:avLst/>
          </a:prstGeom>
          <a:solidFill>
            <a:schemeClr val="tx1">
              <a:alpha val="0"/>
            </a:schemeClr>
          </a:solidFill>
          <a:ln w="6350">
            <a:solidFill>
              <a:schemeClr val="accent5"/>
            </a:solidFill>
            <a:prstDash val="solid"/>
          </a:ln>
        </p:spPr>
      </p:sp>
      <p:sp>
        <p:nvSpPr>
          <p:cNvPr id="14" name="Score box Bahrain"/>
          <p:cNvSpPr/>
          <p:nvPr/>
        </p:nvSpPr>
        <p:spPr>
          <a:xfrm>
            <a:off x="5777454" y="2155698"/>
            <a:ext cx="457200" cy="237744"/>
          </a:xfrm>
          <a:prstGeom prst="roundRect">
            <a:avLst>
              <a:gd name="adj" fmla="val 19231"/>
            </a:avLst>
          </a:prstGeom>
          <a:solidFill>
            <a:schemeClr val="accent3"/>
          </a:solidFill>
          <a:ln w="12700">
            <a:solidFill>
              <a:schemeClr val="accent3"/>
            </a:solidFill>
            <a:prstDash val="solid"/>
          </a:ln>
        </p:spPr>
      </p:sp>
      <p:sp>
        <p:nvSpPr>
          <p:cNvPr id="15" name="Score Bahrain"/>
          <p:cNvSpPr txBox="1"/>
          <p:nvPr/>
        </p:nvSpPr>
        <p:spPr>
          <a:xfrm>
            <a:off x="5777454"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16" name="Flag Comoros" descr="Flag of Comoros">    </p:cNvPr>
          <p:cNvPicPr>
            <a:picLocks noChangeAspect="1"/>
          </p:cNvPicPr>
          <p:nvPr/>
        </p:nvPicPr>
        <p:blipFill>
          <a:blip r:embed="rId4"/>
          <a:stretch>
            <a:fillRect/>
          </a:stretch>
        </p:blipFill>
        <p:spPr>
          <a:xfrm>
            <a:off x="6342827" y="1767078"/>
            <a:ext cx="457200" cy="342900"/>
          </a:xfrm>
          <a:prstGeom prst="rect">
            <a:avLst/>
          </a:prstGeom>
        </p:spPr>
      </p:pic>
      <p:sp>
        <p:nvSpPr>
          <p:cNvPr id="17" name="Flag frame Comoros"/>
          <p:cNvSpPr/>
          <p:nvPr/>
        </p:nvSpPr>
        <p:spPr>
          <a:xfrm>
            <a:off x="6342827" y="1767078"/>
            <a:ext cx="457200" cy="342900"/>
          </a:xfrm>
          <a:prstGeom prst="rect">
            <a:avLst/>
          </a:prstGeom>
          <a:solidFill>
            <a:schemeClr val="tx1">
              <a:alpha val="0"/>
            </a:schemeClr>
          </a:solidFill>
          <a:ln w="6350">
            <a:solidFill>
              <a:schemeClr val="accent5"/>
            </a:solidFill>
            <a:prstDash val="solid"/>
          </a:ln>
        </p:spPr>
      </p:sp>
      <p:sp>
        <p:nvSpPr>
          <p:cNvPr id="18" name="Score box Comoros"/>
          <p:cNvSpPr/>
          <p:nvPr/>
        </p:nvSpPr>
        <p:spPr>
          <a:xfrm>
            <a:off x="6342827" y="2155698"/>
            <a:ext cx="457200" cy="237744"/>
          </a:xfrm>
          <a:prstGeom prst="roundRect">
            <a:avLst>
              <a:gd name="adj" fmla="val 19231"/>
            </a:avLst>
          </a:prstGeom>
          <a:solidFill>
            <a:schemeClr val="accent3"/>
          </a:solidFill>
          <a:ln w="12700">
            <a:solidFill>
              <a:schemeClr val="accent3"/>
            </a:solidFill>
            <a:prstDash val="solid"/>
          </a:ln>
        </p:spPr>
      </p:sp>
      <p:sp>
        <p:nvSpPr>
          <p:cNvPr id="19" name="Score Comoros"/>
          <p:cNvSpPr txBox="1"/>
          <p:nvPr/>
        </p:nvSpPr>
        <p:spPr>
          <a:xfrm>
            <a:off x="6342827"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0" name="Flag Djibouti" descr="Flag of Djibouti">    </p:cNvPr>
          <p:cNvPicPr>
            <a:picLocks noChangeAspect="1"/>
          </p:cNvPicPr>
          <p:nvPr/>
        </p:nvPicPr>
        <p:blipFill>
          <a:blip r:embed="rId5"/>
          <a:stretch>
            <a:fillRect/>
          </a:stretch>
        </p:blipFill>
        <p:spPr>
          <a:xfrm>
            <a:off x="6908201" y="1767078"/>
            <a:ext cx="457200" cy="342900"/>
          </a:xfrm>
          <a:prstGeom prst="rect">
            <a:avLst/>
          </a:prstGeom>
        </p:spPr>
      </p:pic>
      <p:sp>
        <p:nvSpPr>
          <p:cNvPr id="21" name="Flag frame Djibouti"/>
          <p:cNvSpPr/>
          <p:nvPr/>
        </p:nvSpPr>
        <p:spPr>
          <a:xfrm>
            <a:off x="6908201" y="1767078"/>
            <a:ext cx="457200" cy="342900"/>
          </a:xfrm>
          <a:prstGeom prst="rect">
            <a:avLst/>
          </a:prstGeom>
          <a:solidFill>
            <a:schemeClr val="tx1">
              <a:alpha val="0"/>
            </a:schemeClr>
          </a:solidFill>
          <a:ln w="6350">
            <a:solidFill>
              <a:schemeClr val="accent5"/>
            </a:solidFill>
            <a:prstDash val="solid"/>
          </a:ln>
        </p:spPr>
      </p:sp>
      <p:sp>
        <p:nvSpPr>
          <p:cNvPr id="22" name="Score box Djibouti"/>
          <p:cNvSpPr/>
          <p:nvPr/>
        </p:nvSpPr>
        <p:spPr>
          <a:xfrm>
            <a:off x="6908201" y="2155698"/>
            <a:ext cx="457200" cy="237744"/>
          </a:xfrm>
          <a:prstGeom prst="roundRect">
            <a:avLst>
              <a:gd name="adj" fmla="val 19231"/>
            </a:avLst>
          </a:prstGeom>
          <a:solidFill>
            <a:schemeClr val="accent3"/>
          </a:solidFill>
          <a:ln w="12700">
            <a:solidFill>
              <a:schemeClr val="accent3"/>
            </a:solidFill>
            <a:prstDash val="solid"/>
          </a:ln>
        </p:spPr>
      </p:sp>
      <p:sp>
        <p:nvSpPr>
          <p:cNvPr id="23" name="Score Djibouti"/>
          <p:cNvSpPr txBox="1"/>
          <p:nvPr/>
        </p:nvSpPr>
        <p:spPr>
          <a:xfrm>
            <a:off x="6908201"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4" name="Flag Egypt" descr="Flag of Egypt">    </p:cNvPr>
          <p:cNvPicPr>
            <a:picLocks noChangeAspect="1"/>
          </p:cNvPicPr>
          <p:nvPr/>
        </p:nvPicPr>
        <p:blipFill>
          <a:blip r:embed="rId6"/>
          <a:stretch>
            <a:fillRect/>
          </a:stretch>
        </p:blipFill>
        <p:spPr>
          <a:xfrm>
            <a:off x="7473574" y="1767078"/>
            <a:ext cx="457200" cy="342900"/>
          </a:xfrm>
          <a:prstGeom prst="rect">
            <a:avLst/>
          </a:prstGeom>
        </p:spPr>
      </p:pic>
      <p:sp>
        <p:nvSpPr>
          <p:cNvPr id="25" name="Flag frame Egypt"/>
          <p:cNvSpPr/>
          <p:nvPr/>
        </p:nvSpPr>
        <p:spPr>
          <a:xfrm>
            <a:off x="7473574" y="1767078"/>
            <a:ext cx="457200" cy="342900"/>
          </a:xfrm>
          <a:prstGeom prst="rect">
            <a:avLst/>
          </a:prstGeom>
          <a:solidFill>
            <a:schemeClr val="tx1">
              <a:alpha val="0"/>
            </a:schemeClr>
          </a:solidFill>
          <a:ln w="6350">
            <a:solidFill>
              <a:schemeClr val="accent5"/>
            </a:solidFill>
            <a:prstDash val="solid"/>
          </a:ln>
        </p:spPr>
      </p:sp>
      <p:sp>
        <p:nvSpPr>
          <p:cNvPr id="26" name="Score box Egypt"/>
          <p:cNvSpPr/>
          <p:nvPr/>
        </p:nvSpPr>
        <p:spPr>
          <a:xfrm>
            <a:off x="7473574" y="2155698"/>
            <a:ext cx="457200" cy="237744"/>
          </a:xfrm>
          <a:prstGeom prst="roundRect">
            <a:avLst>
              <a:gd name="adj" fmla="val 19231"/>
            </a:avLst>
          </a:prstGeom>
          <a:solidFill>
            <a:schemeClr val="accent3"/>
          </a:solidFill>
          <a:ln w="12700">
            <a:solidFill>
              <a:schemeClr val="accent3"/>
            </a:solidFill>
            <a:prstDash val="solid"/>
          </a:ln>
        </p:spPr>
      </p:sp>
      <p:sp>
        <p:nvSpPr>
          <p:cNvPr id="27" name="Score Egypt"/>
          <p:cNvSpPr txBox="1"/>
          <p:nvPr/>
        </p:nvSpPr>
        <p:spPr>
          <a:xfrm>
            <a:off x="7473574"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8" name="Flag United Arab Emirates" descr="Flag of United Arab Emirates">    </p:cNvPr>
          <p:cNvPicPr>
            <a:picLocks noChangeAspect="1"/>
          </p:cNvPicPr>
          <p:nvPr/>
        </p:nvPicPr>
        <p:blipFill>
          <a:blip r:embed="rId7"/>
          <a:stretch>
            <a:fillRect/>
          </a:stretch>
        </p:blipFill>
        <p:spPr>
          <a:xfrm>
            <a:off x="8038948" y="1767078"/>
            <a:ext cx="457200" cy="342900"/>
          </a:xfrm>
          <a:prstGeom prst="rect">
            <a:avLst/>
          </a:prstGeom>
        </p:spPr>
      </p:pic>
      <p:sp>
        <p:nvSpPr>
          <p:cNvPr id="29" name="Flag frame United Arab Emirates"/>
          <p:cNvSpPr/>
          <p:nvPr/>
        </p:nvSpPr>
        <p:spPr>
          <a:xfrm>
            <a:off x="8038948" y="1767078"/>
            <a:ext cx="457200" cy="342900"/>
          </a:xfrm>
          <a:prstGeom prst="rect">
            <a:avLst/>
          </a:prstGeom>
          <a:solidFill>
            <a:schemeClr val="tx1">
              <a:alpha val="0"/>
            </a:schemeClr>
          </a:solidFill>
          <a:ln w="6350">
            <a:solidFill>
              <a:schemeClr val="accent5"/>
            </a:solidFill>
            <a:prstDash val="solid"/>
          </a:ln>
        </p:spPr>
      </p:sp>
      <p:sp>
        <p:nvSpPr>
          <p:cNvPr id="30" name="Score box United Arab Emirates"/>
          <p:cNvSpPr/>
          <p:nvPr/>
        </p:nvSpPr>
        <p:spPr>
          <a:xfrm>
            <a:off x="8038948" y="2155698"/>
            <a:ext cx="457200" cy="237744"/>
          </a:xfrm>
          <a:prstGeom prst="roundRect">
            <a:avLst>
              <a:gd name="adj" fmla="val 19231"/>
            </a:avLst>
          </a:prstGeom>
          <a:solidFill>
            <a:schemeClr val="accent3"/>
          </a:solidFill>
          <a:ln w="12700">
            <a:solidFill>
              <a:schemeClr val="accent3"/>
            </a:solidFill>
            <a:prstDash val="solid"/>
          </a:ln>
        </p:spPr>
      </p:sp>
      <p:sp>
        <p:nvSpPr>
          <p:cNvPr id="31" name="Score United Arab Emirates"/>
          <p:cNvSpPr txBox="1"/>
          <p:nvPr/>
        </p:nvSpPr>
        <p:spPr>
          <a:xfrm>
            <a:off x="8038948"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32" name="Flag Iraq" descr="Flag of Iraq">    </p:cNvPr>
          <p:cNvPicPr>
            <a:picLocks noChangeAspect="1"/>
          </p:cNvPicPr>
          <p:nvPr/>
        </p:nvPicPr>
        <p:blipFill>
          <a:blip r:embed="rId8"/>
          <a:stretch>
            <a:fillRect/>
          </a:stretch>
        </p:blipFill>
        <p:spPr>
          <a:xfrm>
            <a:off x="8604321" y="1767078"/>
            <a:ext cx="457200" cy="342900"/>
          </a:xfrm>
          <a:prstGeom prst="rect">
            <a:avLst/>
          </a:prstGeom>
        </p:spPr>
      </p:pic>
      <p:sp>
        <p:nvSpPr>
          <p:cNvPr id="33" name="Flag frame Iraq"/>
          <p:cNvSpPr/>
          <p:nvPr/>
        </p:nvSpPr>
        <p:spPr>
          <a:xfrm>
            <a:off x="8604321" y="1767078"/>
            <a:ext cx="457200" cy="342900"/>
          </a:xfrm>
          <a:prstGeom prst="rect">
            <a:avLst/>
          </a:prstGeom>
          <a:solidFill>
            <a:schemeClr val="tx1">
              <a:alpha val="0"/>
            </a:schemeClr>
          </a:solidFill>
          <a:ln w="6350">
            <a:solidFill>
              <a:schemeClr val="accent5"/>
            </a:solidFill>
            <a:prstDash val="solid"/>
          </a:ln>
        </p:spPr>
      </p:sp>
      <p:sp>
        <p:nvSpPr>
          <p:cNvPr id="34" name="Score box Iraq"/>
          <p:cNvSpPr/>
          <p:nvPr/>
        </p:nvSpPr>
        <p:spPr>
          <a:xfrm>
            <a:off x="8604321" y="2155698"/>
            <a:ext cx="457200" cy="237744"/>
          </a:xfrm>
          <a:prstGeom prst="roundRect">
            <a:avLst>
              <a:gd name="adj" fmla="val 19231"/>
            </a:avLst>
          </a:prstGeom>
          <a:solidFill>
            <a:schemeClr val="accent3"/>
          </a:solidFill>
          <a:ln w="12700">
            <a:solidFill>
              <a:schemeClr val="accent3"/>
            </a:solidFill>
            <a:prstDash val="solid"/>
          </a:ln>
        </p:spPr>
      </p:sp>
      <p:sp>
        <p:nvSpPr>
          <p:cNvPr id="35" name="Score Iraq"/>
          <p:cNvSpPr txBox="1"/>
          <p:nvPr/>
        </p:nvSpPr>
        <p:spPr>
          <a:xfrm>
            <a:off x="8604321"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36" name="Flag Jordan" descr="Flag of Jordan">    </p:cNvPr>
          <p:cNvPicPr>
            <a:picLocks noChangeAspect="1"/>
          </p:cNvPicPr>
          <p:nvPr/>
        </p:nvPicPr>
        <p:blipFill>
          <a:blip r:embed="rId9"/>
          <a:stretch>
            <a:fillRect/>
          </a:stretch>
        </p:blipFill>
        <p:spPr>
          <a:xfrm>
            <a:off x="9169695" y="1767078"/>
            <a:ext cx="457200" cy="342900"/>
          </a:xfrm>
          <a:prstGeom prst="rect">
            <a:avLst/>
          </a:prstGeom>
        </p:spPr>
      </p:pic>
      <p:sp>
        <p:nvSpPr>
          <p:cNvPr id="37" name="Flag frame Jordan"/>
          <p:cNvSpPr/>
          <p:nvPr/>
        </p:nvSpPr>
        <p:spPr>
          <a:xfrm>
            <a:off x="9169695" y="1767078"/>
            <a:ext cx="457200" cy="342900"/>
          </a:xfrm>
          <a:prstGeom prst="rect">
            <a:avLst/>
          </a:prstGeom>
          <a:solidFill>
            <a:schemeClr val="tx1">
              <a:alpha val="0"/>
            </a:schemeClr>
          </a:solidFill>
          <a:ln w="6350">
            <a:solidFill>
              <a:schemeClr val="accent5"/>
            </a:solidFill>
            <a:prstDash val="solid"/>
          </a:ln>
        </p:spPr>
      </p:sp>
      <p:sp>
        <p:nvSpPr>
          <p:cNvPr id="38" name="Score box Jordan"/>
          <p:cNvSpPr/>
          <p:nvPr/>
        </p:nvSpPr>
        <p:spPr>
          <a:xfrm>
            <a:off x="9169695" y="2155698"/>
            <a:ext cx="457200" cy="237744"/>
          </a:xfrm>
          <a:prstGeom prst="roundRect">
            <a:avLst>
              <a:gd name="adj" fmla="val 19231"/>
            </a:avLst>
          </a:prstGeom>
          <a:solidFill>
            <a:schemeClr val="accent3"/>
          </a:solidFill>
          <a:ln w="12700">
            <a:solidFill>
              <a:schemeClr val="accent3"/>
            </a:solidFill>
            <a:prstDash val="solid"/>
          </a:ln>
        </p:spPr>
      </p:sp>
      <p:sp>
        <p:nvSpPr>
          <p:cNvPr id="39" name="Score Jordan"/>
          <p:cNvSpPr txBox="1"/>
          <p:nvPr/>
        </p:nvSpPr>
        <p:spPr>
          <a:xfrm>
            <a:off x="9169695"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0" name="Flag Kuwait" descr="Flag of Kuwait">    </p:cNvPr>
          <p:cNvPicPr>
            <a:picLocks noChangeAspect="1"/>
          </p:cNvPicPr>
          <p:nvPr/>
        </p:nvPicPr>
        <p:blipFill>
          <a:blip r:embed="rId10"/>
          <a:stretch>
            <a:fillRect/>
          </a:stretch>
        </p:blipFill>
        <p:spPr>
          <a:xfrm>
            <a:off x="9735068" y="1767078"/>
            <a:ext cx="457200" cy="342900"/>
          </a:xfrm>
          <a:prstGeom prst="rect">
            <a:avLst/>
          </a:prstGeom>
        </p:spPr>
      </p:pic>
      <p:sp>
        <p:nvSpPr>
          <p:cNvPr id="41" name="Flag frame Kuwait"/>
          <p:cNvSpPr/>
          <p:nvPr/>
        </p:nvSpPr>
        <p:spPr>
          <a:xfrm>
            <a:off x="9735068" y="1767078"/>
            <a:ext cx="457200" cy="342900"/>
          </a:xfrm>
          <a:prstGeom prst="rect">
            <a:avLst/>
          </a:prstGeom>
          <a:solidFill>
            <a:schemeClr val="tx1">
              <a:alpha val="0"/>
            </a:schemeClr>
          </a:solidFill>
          <a:ln w="6350">
            <a:solidFill>
              <a:schemeClr val="accent5"/>
            </a:solidFill>
            <a:prstDash val="solid"/>
          </a:ln>
        </p:spPr>
      </p:sp>
      <p:sp>
        <p:nvSpPr>
          <p:cNvPr id="42" name="Score box Kuwait"/>
          <p:cNvSpPr/>
          <p:nvPr/>
        </p:nvSpPr>
        <p:spPr>
          <a:xfrm>
            <a:off x="9735068" y="2155698"/>
            <a:ext cx="457200" cy="237744"/>
          </a:xfrm>
          <a:prstGeom prst="roundRect">
            <a:avLst>
              <a:gd name="adj" fmla="val 19231"/>
            </a:avLst>
          </a:prstGeom>
          <a:solidFill>
            <a:schemeClr val="accent3"/>
          </a:solidFill>
          <a:ln w="12700">
            <a:solidFill>
              <a:schemeClr val="accent3"/>
            </a:solidFill>
            <a:prstDash val="solid"/>
          </a:ln>
        </p:spPr>
      </p:sp>
      <p:sp>
        <p:nvSpPr>
          <p:cNvPr id="43" name="Score Kuwait"/>
          <p:cNvSpPr txBox="1"/>
          <p:nvPr/>
        </p:nvSpPr>
        <p:spPr>
          <a:xfrm>
            <a:off x="9735068"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4" name="Flag Lebanon" descr="Flag of Lebanon">    </p:cNvPr>
          <p:cNvPicPr>
            <a:picLocks noChangeAspect="1"/>
          </p:cNvPicPr>
          <p:nvPr/>
        </p:nvPicPr>
        <p:blipFill>
          <a:blip r:embed="rId11"/>
          <a:stretch>
            <a:fillRect/>
          </a:stretch>
        </p:blipFill>
        <p:spPr>
          <a:xfrm>
            <a:off x="10300442" y="1767078"/>
            <a:ext cx="457200" cy="342900"/>
          </a:xfrm>
          <a:prstGeom prst="rect">
            <a:avLst/>
          </a:prstGeom>
        </p:spPr>
      </p:pic>
      <p:sp>
        <p:nvSpPr>
          <p:cNvPr id="45" name="Flag frame Lebanon"/>
          <p:cNvSpPr/>
          <p:nvPr/>
        </p:nvSpPr>
        <p:spPr>
          <a:xfrm>
            <a:off x="10300442" y="1767078"/>
            <a:ext cx="457200" cy="342900"/>
          </a:xfrm>
          <a:prstGeom prst="rect">
            <a:avLst/>
          </a:prstGeom>
          <a:solidFill>
            <a:schemeClr val="tx1">
              <a:alpha val="0"/>
            </a:schemeClr>
          </a:solidFill>
          <a:ln w="6350">
            <a:solidFill>
              <a:schemeClr val="accent5"/>
            </a:solidFill>
            <a:prstDash val="solid"/>
          </a:ln>
        </p:spPr>
      </p:sp>
      <p:sp>
        <p:nvSpPr>
          <p:cNvPr id="46" name="Score box Lebanon"/>
          <p:cNvSpPr/>
          <p:nvPr/>
        </p:nvSpPr>
        <p:spPr>
          <a:xfrm>
            <a:off x="10300442" y="2155698"/>
            <a:ext cx="457200" cy="237744"/>
          </a:xfrm>
          <a:prstGeom prst="roundRect">
            <a:avLst>
              <a:gd name="adj" fmla="val 19231"/>
            </a:avLst>
          </a:prstGeom>
          <a:solidFill>
            <a:schemeClr val="accent3"/>
          </a:solidFill>
          <a:ln w="12700">
            <a:solidFill>
              <a:schemeClr val="accent3"/>
            </a:solidFill>
            <a:prstDash val="solid"/>
          </a:ln>
        </p:spPr>
      </p:sp>
      <p:sp>
        <p:nvSpPr>
          <p:cNvPr id="47" name="Score Lebanon"/>
          <p:cNvSpPr txBox="1"/>
          <p:nvPr/>
        </p:nvSpPr>
        <p:spPr>
          <a:xfrm>
            <a:off x="10300442"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8" name="Flag Libya" descr="Flag of Libya">    </p:cNvPr>
          <p:cNvPicPr>
            <a:picLocks noChangeAspect="1"/>
          </p:cNvPicPr>
          <p:nvPr/>
        </p:nvPicPr>
        <p:blipFill>
          <a:blip r:embed="rId12"/>
          <a:stretch>
            <a:fillRect/>
          </a:stretch>
        </p:blipFill>
        <p:spPr>
          <a:xfrm>
            <a:off x="10865815" y="1767078"/>
            <a:ext cx="457200" cy="342900"/>
          </a:xfrm>
          <a:prstGeom prst="rect">
            <a:avLst/>
          </a:prstGeom>
        </p:spPr>
      </p:pic>
      <p:sp>
        <p:nvSpPr>
          <p:cNvPr id="49" name="Flag frame Libya"/>
          <p:cNvSpPr/>
          <p:nvPr/>
        </p:nvSpPr>
        <p:spPr>
          <a:xfrm>
            <a:off x="10865815" y="1767078"/>
            <a:ext cx="457200" cy="342900"/>
          </a:xfrm>
          <a:prstGeom prst="rect">
            <a:avLst/>
          </a:prstGeom>
          <a:solidFill>
            <a:schemeClr val="tx1">
              <a:alpha val="0"/>
            </a:schemeClr>
          </a:solidFill>
          <a:ln w="6350">
            <a:solidFill>
              <a:schemeClr val="accent5"/>
            </a:solidFill>
            <a:prstDash val="solid"/>
          </a:ln>
        </p:spPr>
      </p:sp>
      <p:sp>
        <p:nvSpPr>
          <p:cNvPr id="50" name="Score box Libya"/>
          <p:cNvSpPr/>
          <p:nvPr/>
        </p:nvSpPr>
        <p:spPr>
          <a:xfrm>
            <a:off x="10865815" y="2155698"/>
            <a:ext cx="457200" cy="237744"/>
          </a:xfrm>
          <a:prstGeom prst="roundRect">
            <a:avLst>
              <a:gd name="adj" fmla="val 19231"/>
            </a:avLst>
          </a:prstGeom>
          <a:solidFill>
            <a:schemeClr val="accent3"/>
          </a:solidFill>
          <a:ln w="12700">
            <a:solidFill>
              <a:schemeClr val="accent3"/>
            </a:solidFill>
            <a:prstDash val="solid"/>
          </a:ln>
        </p:spPr>
      </p:sp>
      <p:sp>
        <p:nvSpPr>
          <p:cNvPr id="51" name="Score Libya"/>
          <p:cNvSpPr txBox="1"/>
          <p:nvPr/>
        </p:nvSpPr>
        <p:spPr>
          <a:xfrm>
            <a:off x="10865815"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52" name="Flag Mauritania" descr="Flag of Mauritania">    </p:cNvPr>
          <p:cNvPicPr>
            <a:picLocks noChangeAspect="1"/>
          </p:cNvPicPr>
          <p:nvPr/>
        </p:nvPicPr>
        <p:blipFill>
          <a:blip r:embed="rId13"/>
          <a:stretch>
            <a:fillRect/>
          </a:stretch>
        </p:blipFill>
        <p:spPr>
          <a:xfrm>
            <a:off x="5212080" y="2681478"/>
            <a:ext cx="457200" cy="342900"/>
          </a:xfrm>
          <a:prstGeom prst="rect">
            <a:avLst/>
          </a:prstGeom>
        </p:spPr>
      </p:pic>
      <p:sp>
        <p:nvSpPr>
          <p:cNvPr id="53" name="Flag frame Mauritania"/>
          <p:cNvSpPr/>
          <p:nvPr/>
        </p:nvSpPr>
        <p:spPr>
          <a:xfrm>
            <a:off x="5212080" y="2681478"/>
            <a:ext cx="457200" cy="342900"/>
          </a:xfrm>
          <a:prstGeom prst="rect">
            <a:avLst/>
          </a:prstGeom>
          <a:solidFill>
            <a:schemeClr val="tx1">
              <a:alpha val="0"/>
            </a:schemeClr>
          </a:solidFill>
          <a:ln w="6350">
            <a:solidFill>
              <a:schemeClr val="accent5"/>
            </a:solidFill>
            <a:prstDash val="solid"/>
          </a:ln>
        </p:spPr>
      </p:sp>
      <p:sp>
        <p:nvSpPr>
          <p:cNvPr id="54" name="Score box Mauritania"/>
          <p:cNvSpPr/>
          <p:nvPr/>
        </p:nvSpPr>
        <p:spPr>
          <a:xfrm>
            <a:off x="5212080" y="3070098"/>
            <a:ext cx="457200" cy="237744"/>
          </a:xfrm>
          <a:prstGeom prst="roundRect">
            <a:avLst>
              <a:gd name="adj" fmla="val 19231"/>
            </a:avLst>
          </a:prstGeom>
          <a:solidFill>
            <a:schemeClr val="accent3"/>
          </a:solidFill>
          <a:ln w="12700">
            <a:solidFill>
              <a:schemeClr val="accent3"/>
            </a:solidFill>
            <a:prstDash val="solid"/>
          </a:ln>
        </p:spPr>
      </p:sp>
      <p:sp>
        <p:nvSpPr>
          <p:cNvPr id="55" name="Score Mauritania"/>
          <p:cNvSpPr txBox="1"/>
          <p:nvPr/>
        </p:nvSpPr>
        <p:spPr>
          <a:xfrm>
            <a:off x="5212080"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56" name="Flag Morocco" descr="Flag of Morocco">    </p:cNvPr>
          <p:cNvPicPr>
            <a:picLocks noChangeAspect="1"/>
          </p:cNvPicPr>
          <p:nvPr/>
        </p:nvPicPr>
        <p:blipFill>
          <a:blip r:embed="rId14"/>
          <a:stretch>
            <a:fillRect/>
          </a:stretch>
        </p:blipFill>
        <p:spPr>
          <a:xfrm>
            <a:off x="5777454" y="2681478"/>
            <a:ext cx="457200" cy="342900"/>
          </a:xfrm>
          <a:prstGeom prst="rect">
            <a:avLst/>
          </a:prstGeom>
        </p:spPr>
      </p:pic>
      <p:sp>
        <p:nvSpPr>
          <p:cNvPr id="57" name="Flag frame Morocco"/>
          <p:cNvSpPr/>
          <p:nvPr/>
        </p:nvSpPr>
        <p:spPr>
          <a:xfrm>
            <a:off x="5777454" y="2681478"/>
            <a:ext cx="457200" cy="342900"/>
          </a:xfrm>
          <a:prstGeom prst="rect">
            <a:avLst/>
          </a:prstGeom>
          <a:solidFill>
            <a:schemeClr val="tx1">
              <a:alpha val="0"/>
            </a:schemeClr>
          </a:solidFill>
          <a:ln w="6350">
            <a:solidFill>
              <a:schemeClr val="accent5"/>
            </a:solidFill>
            <a:prstDash val="solid"/>
          </a:ln>
        </p:spPr>
      </p:sp>
      <p:sp>
        <p:nvSpPr>
          <p:cNvPr id="58" name="Score box Morocco"/>
          <p:cNvSpPr/>
          <p:nvPr/>
        </p:nvSpPr>
        <p:spPr>
          <a:xfrm>
            <a:off x="5777454" y="3070098"/>
            <a:ext cx="457200" cy="237744"/>
          </a:xfrm>
          <a:prstGeom prst="roundRect">
            <a:avLst>
              <a:gd name="adj" fmla="val 19231"/>
            </a:avLst>
          </a:prstGeom>
          <a:solidFill>
            <a:schemeClr val="accent3"/>
          </a:solidFill>
          <a:ln w="12700">
            <a:solidFill>
              <a:schemeClr val="accent3"/>
            </a:solidFill>
            <a:prstDash val="solid"/>
          </a:ln>
        </p:spPr>
      </p:sp>
      <p:sp>
        <p:nvSpPr>
          <p:cNvPr id="59" name="Score Morocco"/>
          <p:cNvSpPr txBox="1"/>
          <p:nvPr/>
        </p:nvSpPr>
        <p:spPr>
          <a:xfrm>
            <a:off x="5777454"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0" name="Flag Oman" descr="Flag of Oman">    </p:cNvPr>
          <p:cNvPicPr>
            <a:picLocks noChangeAspect="1"/>
          </p:cNvPicPr>
          <p:nvPr/>
        </p:nvPicPr>
        <p:blipFill>
          <a:blip r:embed="rId15"/>
          <a:stretch>
            <a:fillRect/>
          </a:stretch>
        </p:blipFill>
        <p:spPr>
          <a:xfrm>
            <a:off x="6342827" y="2681478"/>
            <a:ext cx="457200" cy="342900"/>
          </a:xfrm>
          <a:prstGeom prst="rect">
            <a:avLst/>
          </a:prstGeom>
        </p:spPr>
      </p:pic>
      <p:sp>
        <p:nvSpPr>
          <p:cNvPr id="61" name="Flag frame Oman"/>
          <p:cNvSpPr/>
          <p:nvPr/>
        </p:nvSpPr>
        <p:spPr>
          <a:xfrm>
            <a:off x="6342827" y="2681478"/>
            <a:ext cx="457200" cy="342900"/>
          </a:xfrm>
          <a:prstGeom prst="rect">
            <a:avLst/>
          </a:prstGeom>
          <a:solidFill>
            <a:schemeClr val="tx1">
              <a:alpha val="0"/>
            </a:schemeClr>
          </a:solidFill>
          <a:ln w="6350">
            <a:solidFill>
              <a:schemeClr val="accent5"/>
            </a:solidFill>
            <a:prstDash val="solid"/>
          </a:ln>
        </p:spPr>
      </p:sp>
      <p:sp>
        <p:nvSpPr>
          <p:cNvPr id="62" name="Score box Oman"/>
          <p:cNvSpPr/>
          <p:nvPr/>
        </p:nvSpPr>
        <p:spPr>
          <a:xfrm>
            <a:off x="6342827" y="3070098"/>
            <a:ext cx="457200" cy="237744"/>
          </a:xfrm>
          <a:prstGeom prst="roundRect">
            <a:avLst>
              <a:gd name="adj" fmla="val 19231"/>
            </a:avLst>
          </a:prstGeom>
          <a:solidFill>
            <a:schemeClr val="accent3"/>
          </a:solidFill>
          <a:ln w="12700">
            <a:solidFill>
              <a:schemeClr val="accent3"/>
            </a:solidFill>
            <a:prstDash val="solid"/>
          </a:ln>
        </p:spPr>
      </p:sp>
      <p:sp>
        <p:nvSpPr>
          <p:cNvPr id="63" name="Score Oman"/>
          <p:cNvSpPr txBox="1"/>
          <p:nvPr/>
        </p:nvSpPr>
        <p:spPr>
          <a:xfrm>
            <a:off x="6342827"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4" name="Flag Palestine" descr="Flag of Palestine">    </p:cNvPr>
          <p:cNvPicPr>
            <a:picLocks noChangeAspect="1"/>
          </p:cNvPicPr>
          <p:nvPr/>
        </p:nvPicPr>
        <p:blipFill>
          <a:blip r:embed="rId16"/>
          <a:stretch>
            <a:fillRect/>
          </a:stretch>
        </p:blipFill>
        <p:spPr>
          <a:xfrm>
            <a:off x="6908201" y="2681478"/>
            <a:ext cx="457200" cy="342900"/>
          </a:xfrm>
          <a:prstGeom prst="rect">
            <a:avLst/>
          </a:prstGeom>
        </p:spPr>
      </p:pic>
      <p:sp>
        <p:nvSpPr>
          <p:cNvPr id="65" name="Flag frame Palestine"/>
          <p:cNvSpPr/>
          <p:nvPr/>
        </p:nvSpPr>
        <p:spPr>
          <a:xfrm>
            <a:off x="6908201" y="2681478"/>
            <a:ext cx="457200" cy="342900"/>
          </a:xfrm>
          <a:prstGeom prst="rect">
            <a:avLst/>
          </a:prstGeom>
          <a:solidFill>
            <a:schemeClr val="tx1">
              <a:alpha val="0"/>
            </a:schemeClr>
          </a:solidFill>
          <a:ln w="6350">
            <a:solidFill>
              <a:schemeClr val="accent5"/>
            </a:solidFill>
            <a:prstDash val="solid"/>
          </a:ln>
        </p:spPr>
      </p:sp>
      <p:sp>
        <p:nvSpPr>
          <p:cNvPr id="66" name="Score box Palestine"/>
          <p:cNvSpPr/>
          <p:nvPr/>
        </p:nvSpPr>
        <p:spPr>
          <a:xfrm>
            <a:off x="6908201" y="3070098"/>
            <a:ext cx="457200" cy="237744"/>
          </a:xfrm>
          <a:prstGeom prst="roundRect">
            <a:avLst>
              <a:gd name="adj" fmla="val 19231"/>
            </a:avLst>
          </a:prstGeom>
          <a:solidFill>
            <a:schemeClr val="accent3"/>
          </a:solidFill>
          <a:ln w="12700">
            <a:solidFill>
              <a:schemeClr val="accent3"/>
            </a:solidFill>
            <a:prstDash val="solid"/>
          </a:ln>
        </p:spPr>
      </p:sp>
      <p:sp>
        <p:nvSpPr>
          <p:cNvPr id="67" name="Score Palestine"/>
          <p:cNvSpPr txBox="1"/>
          <p:nvPr/>
        </p:nvSpPr>
        <p:spPr>
          <a:xfrm>
            <a:off x="6908201"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8" name="Flag Qatar" descr="Flag of Qatar">    </p:cNvPr>
          <p:cNvPicPr>
            <a:picLocks noChangeAspect="1"/>
          </p:cNvPicPr>
          <p:nvPr/>
        </p:nvPicPr>
        <p:blipFill>
          <a:blip r:embed="rId17"/>
          <a:stretch>
            <a:fillRect/>
          </a:stretch>
        </p:blipFill>
        <p:spPr>
          <a:xfrm>
            <a:off x="7473574" y="2681478"/>
            <a:ext cx="457200" cy="342900"/>
          </a:xfrm>
          <a:prstGeom prst="rect">
            <a:avLst/>
          </a:prstGeom>
        </p:spPr>
      </p:pic>
      <p:sp>
        <p:nvSpPr>
          <p:cNvPr id="69" name="Flag frame Qatar"/>
          <p:cNvSpPr/>
          <p:nvPr/>
        </p:nvSpPr>
        <p:spPr>
          <a:xfrm>
            <a:off x="7473574" y="2681478"/>
            <a:ext cx="457200" cy="342900"/>
          </a:xfrm>
          <a:prstGeom prst="rect">
            <a:avLst/>
          </a:prstGeom>
          <a:solidFill>
            <a:schemeClr val="tx1">
              <a:alpha val="0"/>
            </a:schemeClr>
          </a:solidFill>
          <a:ln w="6350">
            <a:solidFill>
              <a:schemeClr val="accent5"/>
            </a:solidFill>
            <a:prstDash val="solid"/>
          </a:ln>
        </p:spPr>
      </p:sp>
      <p:sp>
        <p:nvSpPr>
          <p:cNvPr id="70" name="Score box Qatar"/>
          <p:cNvSpPr/>
          <p:nvPr/>
        </p:nvSpPr>
        <p:spPr>
          <a:xfrm>
            <a:off x="7473574" y="3070098"/>
            <a:ext cx="457200" cy="237744"/>
          </a:xfrm>
          <a:prstGeom prst="roundRect">
            <a:avLst>
              <a:gd name="adj" fmla="val 19231"/>
            </a:avLst>
          </a:prstGeom>
          <a:solidFill>
            <a:schemeClr val="accent3"/>
          </a:solidFill>
          <a:ln w="12700">
            <a:solidFill>
              <a:schemeClr val="accent3"/>
            </a:solidFill>
            <a:prstDash val="solid"/>
          </a:ln>
        </p:spPr>
      </p:sp>
      <p:sp>
        <p:nvSpPr>
          <p:cNvPr id="71" name="Score Qatar"/>
          <p:cNvSpPr txBox="1"/>
          <p:nvPr/>
        </p:nvSpPr>
        <p:spPr>
          <a:xfrm>
            <a:off x="7473574"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72" name="Flag Saudi Arabia" descr="Flag of Saudi Arabia">    </p:cNvPr>
          <p:cNvPicPr>
            <a:picLocks noChangeAspect="1"/>
          </p:cNvPicPr>
          <p:nvPr/>
        </p:nvPicPr>
        <p:blipFill>
          <a:blip r:embed="rId18"/>
          <a:stretch>
            <a:fillRect/>
          </a:stretch>
        </p:blipFill>
        <p:spPr>
          <a:xfrm>
            <a:off x="8038948" y="2681478"/>
            <a:ext cx="457200" cy="342900"/>
          </a:xfrm>
          <a:prstGeom prst="rect">
            <a:avLst/>
          </a:prstGeom>
        </p:spPr>
      </p:pic>
      <p:sp>
        <p:nvSpPr>
          <p:cNvPr id="73" name="Flag frame Saudi Arabia"/>
          <p:cNvSpPr/>
          <p:nvPr/>
        </p:nvSpPr>
        <p:spPr>
          <a:xfrm>
            <a:off x="8038948" y="2681478"/>
            <a:ext cx="457200" cy="342900"/>
          </a:xfrm>
          <a:prstGeom prst="rect">
            <a:avLst/>
          </a:prstGeom>
          <a:solidFill>
            <a:schemeClr val="tx1">
              <a:alpha val="0"/>
            </a:schemeClr>
          </a:solidFill>
          <a:ln w="6350">
            <a:solidFill>
              <a:schemeClr val="accent5"/>
            </a:solidFill>
            <a:prstDash val="solid"/>
          </a:ln>
        </p:spPr>
      </p:sp>
      <p:sp>
        <p:nvSpPr>
          <p:cNvPr id="74" name="Score box Saudi Arabia"/>
          <p:cNvSpPr/>
          <p:nvPr/>
        </p:nvSpPr>
        <p:spPr>
          <a:xfrm>
            <a:off x="8038948" y="3070098"/>
            <a:ext cx="457200" cy="237744"/>
          </a:xfrm>
          <a:prstGeom prst="roundRect">
            <a:avLst>
              <a:gd name="adj" fmla="val 19231"/>
            </a:avLst>
          </a:prstGeom>
          <a:solidFill>
            <a:schemeClr val="accent3"/>
          </a:solidFill>
          <a:ln w="12700">
            <a:solidFill>
              <a:schemeClr val="accent3"/>
            </a:solidFill>
            <a:prstDash val="solid"/>
          </a:ln>
        </p:spPr>
      </p:sp>
      <p:sp>
        <p:nvSpPr>
          <p:cNvPr id="75" name="Score Saudi Arabia"/>
          <p:cNvSpPr txBox="1"/>
          <p:nvPr/>
        </p:nvSpPr>
        <p:spPr>
          <a:xfrm>
            <a:off x="8038948"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76" name="Flag Somalia" descr="Flag of Somalia">    </p:cNvPr>
          <p:cNvPicPr>
            <a:picLocks noChangeAspect="1"/>
          </p:cNvPicPr>
          <p:nvPr/>
        </p:nvPicPr>
        <p:blipFill>
          <a:blip r:embed="rId19"/>
          <a:stretch>
            <a:fillRect/>
          </a:stretch>
        </p:blipFill>
        <p:spPr>
          <a:xfrm>
            <a:off x="8604321" y="2681478"/>
            <a:ext cx="457200" cy="342900"/>
          </a:xfrm>
          <a:prstGeom prst="rect">
            <a:avLst/>
          </a:prstGeom>
        </p:spPr>
      </p:pic>
      <p:sp>
        <p:nvSpPr>
          <p:cNvPr id="77" name="Flag frame Somalia"/>
          <p:cNvSpPr/>
          <p:nvPr/>
        </p:nvSpPr>
        <p:spPr>
          <a:xfrm>
            <a:off x="8604321" y="2681478"/>
            <a:ext cx="457200" cy="342900"/>
          </a:xfrm>
          <a:prstGeom prst="rect">
            <a:avLst/>
          </a:prstGeom>
          <a:solidFill>
            <a:schemeClr val="tx1">
              <a:alpha val="0"/>
            </a:schemeClr>
          </a:solidFill>
          <a:ln w="6350">
            <a:solidFill>
              <a:schemeClr val="accent5"/>
            </a:solidFill>
            <a:prstDash val="solid"/>
          </a:ln>
        </p:spPr>
      </p:sp>
      <p:sp>
        <p:nvSpPr>
          <p:cNvPr id="78" name="Score box Somalia"/>
          <p:cNvSpPr/>
          <p:nvPr/>
        </p:nvSpPr>
        <p:spPr>
          <a:xfrm>
            <a:off x="8604321" y="3070098"/>
            <a:ext cx="457200" cy="237744"/>
          </a:xfrm>
          <a:prstGeom prst="roundRect">
            <a:avLst>
              <a:gd name="adj" fmla="val 19231"/>
            </a:avLst>
          </a:prstGeom>
          <a:solidFill>
            <a:schemeClr val="accent3"/>
          </a:solidFill>
          <a:ln w="12700">
            <a:solidFill>
              <a:schemeClr val="accent3"/>
            </a:solidFill>
            <a:prstDash val="solid"/>
          </a:ln>
        </p:spPr>
      </p:sp>
      <p:sp>
        <p:nvSpPr>
          <p:cNvPr id="79" name="Score Somalia"/>
          <p:cNvSpPr txBox="1"/>
          <p:nvPr/>
        </p:nvSpPr>
        <p:spPr>
          <a:xfrm>
            <a:off x="8604321"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0" name="Flag Sudan" descr="Flag of Sudan">    </p:cNvPr>
          <p:cNvPicPr>
            <a:picLocks noChangeAspect="1"/>
          </p:cNvPicPr>
          <p:nvPr/>
        </p:nvPicPr>
        <p:blipFill>
          <a:blip r:embed="rId20"/>
          <a:stretch>
            <a:fillRect/>
          </a:stretch>
        </p:blipFill>
        <p:spPr>
          <a:xfrm>
            <a:off x="9169695" y="2681478"/>
            <a:ext cx="457200" cy="342900"/>
          </a:xfrm>
          <a:prstGeom prst="rect">
            <a:avLst/>
          </a:prstGeom>
        </p:spPr>
      </p:pic>
      <p:sp>
        <p:nvSpPr>
          <p:cNvPr id="81" name="Flag frame Sudan"/>
          <p:cNvSpPr/>
          <p:nvPr/>
        </p:nvSpPr>
        <p:spPr>
          <a:xfrm>
            <a:off x="9169695" y="2681478"/>
            <a:ext cx="457200" cy="342900"/>
          </a:xfrm>
          <a:prstGeom prst="rect">
            <a:avLst/>
          </a:prstGeom>
          <a:solidFill>
            <a:schemeClr val="tx1">
              <a:alpha val="0"/>
            </a:schemeClr>
          </a:solidFill>
          <a:ln w="6350">
            <a:solidFill>
              <a:schemeClr val="accent5"/>
            </a:solidFill>
            <a:prstDash val="solid"/>
          </a:ln>
        </p:spPr>
      </p:sp>
      <p:sp>
        <p:nvSpPr>
          <p:cNvPr id="82" name="Score box Sudan"/>
          <p:cNvSpPr/>
          <p:nvPr/>
        </p:nvSpPr>
        <p:spPr>
          <a:xfrm>
            <a:off x="9169695" y="3070098"/>
            <a:ext cx="457200" cy="237744"/>
          </a:xfrm>
          <a:prstGeom prst="roundRect">
            <a:avLst>
              <a:gd name="adj" fmla="val 19231"/>
            </a:avLst>
          </a:prstGeom>
          <a:solidFill>
            <a:schemeClr val="accent3"/>
          </a:solidFill>
          <a:ln w="12700">
            <a:solidFill>
              <a:schemeClr val="accent3"/>
            </a:solidFill>
            <a:prstDash val="solid"/>
          </a:ln>
        </p:spPr>
      </p:sp>
      <p:sp>
        <p:nvSpPr>
          <p:cNvPr id="83" name="Score Sudan"/>
          <p:cNvSpPr txBox="1"/>
          <p:nvPr/>
        </p:nvSpPr>
        <p:spPr>
          <a:xfrm>
            <a:off x="9169695"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4" name="Flag Syria" descr="Flag of Syria">    </p:cNvPr>
          <p:cNvPicPr>
            <a:picLocks noChangeAspect="1"/>
          </p:cNvPicPr>
          <p:nvPr/>
        </p:nvPicPr>
        <p:blipFill>
          <a:blip r:embed="rId21"/>
          <a:stretch>
            <a:fillRect/>
          </a:stretch>
        </p:blipFill>
        <p:spPr>
          <a:xfrm>
            <a:off x="9735068" y="2681478"/>
            <a:ext cx="457200" cy="342900"/>
          </a:xfrm>
          <a:prstGeom prst="rect">
            <a:avLst/>
          </a:prstGeom>
        </p:spPr>
      </p:pic>
      <p:sp>
        <p:nvSpPr>
          <p:cNvPr id="85" name="Flag frame Syria"/>
          <p:cNvSpPr/>
          <p:nvPr/>
        </p:nvSpPr>
        <p:spPr>
          <a:xfrm>
            <a:off x="9735068" y="2681478"/>
            <a:ext cx="457200" cy="342900"/>
          </a:xfrm>
          <a:prstGeom prst="rect">
            <a:avLst/>
          </a:prstGeom>
          <a:solidFill>
            <a:schemeClr val="tx1">
              <a:alpha val="0"/>
            </a:schemeClr>
          </a:solidFill>
          <a:ln w="6350">
            <a:solidFill>
              <a:schemeClr val="accent5"/>
            </a:solidFill>
            <a:prstDash val="solid"/>
          </a:ln>
        </p:spPr>
      </p:sp>
      <p:sp>
        <p:nvSpPr>
          <p:cNvPr id="86" name="Score box Syria"/>
          <p:cNvSpPr/>
          <p:nvPr/>
        </p:nvSpPr>
        <p:spPr>
          <a:xfrm>
            <a:off x="9735068" y="3070098"/>
            <a:ext cx="457200" cy="237744"/>
          </a:xfrm>
          <a:prstGeom prst="roundRect">
            <a:avLst>
              <a:gd name="adj" fmla="val 19231"/>
            </a:avLst>
          </a:prstGeom>
          <a:solidFill>
            <a:schemeClr val="accent3"/>
          </a:solidFill>
          <a:ln w="12700">
            <a:solidFill>
              <a:schemeClr val="accent3"/>
            </a:solidFill>
            <a:prstDash val="solid"/>
          </a:ln>
        </p:spPr>
      </p:sp>
      <p:sp>
        <p:nvSpPr>
          <p:cNvPr id="87" name="Score Syria"/>
          <p:cNvSpPr txBox="1"/>
          <p:nvPr/>
        </p:nvSpPr>
        <p:spPr>
          <a:xfrm>
            <a:off x="9735068"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8" name="Flag Tunisia" descr="Flag of Tunisia">    </p:cNvPr>
          <p:cNvPicPr>
            <a:picLocks noChangeAspect="1"/>
          </p:cNvPicPr>
          <p:nvPr/>
        </p:nvPicPr>
        <p:blipFill>
          <a:blip r:embed="rId22"/>
          <a:stretch>
            <a:fillRect/>
          </a:stretch>
        </p:blipFill>
        <p:spPr>
          <a:xfrm>
            <a:off x="10300442" y="2681478"/>
            <a:ext cx="457200" cy="342900"/>
          </a:xfrm>
          <a:prstGeom prst="rect">
            <a:avLst/>
          </a:prstGeom>
        </p:spPr>
      </p:pic>
      <p:sp>
        <p:nvSpPr>
          <p:cNvPr id="89" name="Flag frame Tunisia"/>
          <p:cNvSpPr/>
          <p:nvPr/>
        </p:nvSpPr>
        <p:spPr>
          <a:xfrm>
            <a:off x="10300442" y="2681478"/>
            <a:ext cx="457200" cy="342900"/>
          </a:xfrm>
          <a:prstGeom prst="rect">
            <a:avLst/>
          </a:prstGeom>
          <a:solidFill>
            <a:schemeClr val="tx1">
              <a:alpha val="0"/>
            </a:schemeClr>
          </a:solidFill>
          <a:ln w="6350">
            <a:solidFill>
              <a:schemeClr val="accent5"/>
            </a:solidFill>
            <a:prstDash val="solid"/>
          </a:ln>
        </p:spPr>
      </p:sp>
      <p:sp>
        <p:nvSpPr>
          <p:cNvPr id="90" name="Score box Tunisia"/>
          <p:cNvSpPr/>
          <p:nvPr/>
        </p:nvSpPr>
        <p:spPr>
          <a:xfrm>
            <a:off x="10300442" y="3070098"/>
            <a:ext cx="457200" cy="237744"/>
          </a:xfrm>
          <a:prstGeom prst="roundRect">
            <a:avLst>
              <a:gd name="adj" fmla="val 19231"/>
            </a:avLst>
          </a:prstGeom>
          <a:solidFill>
            <a:schemeClr val="accent3"/>
          </a:solidFill>
          <a:ln w="12700">
            <a:solidFill>
              <a:schemeClr val="accent3"/>
            </a:solidFill>
            <a:prstDash val="solid"/>
          </a:ln>
        </p:spPr>
      </p:sp>
      <p:sp>
        <p:nvSpPr>
          <p:cNvPr id="91" name="Score Tunisia"/>
          <p:cNvSpPr txBox="1"/>
          <p:nvPr/>
        </p:nvSpPr>
        <p:spPr>
          <a:xfrm>
            <a:off x="10300442"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92" name="Flag Yemen" descr="Flag of Yemen">    </p:cNvPr>
          <p:cNvPicPr>
            <a:picLocks noChangeAspect="1"/>
          </p:cNvPicPr>
          <p:nvPr/>
        </p:nvPicPr>
        <p:blipFill>
          <a:blip r:embed="rId23"/>
          <a:stretch>
            <a:fillRect/>
          </a:stretch>
        </p:blipFill>
        <p:spPr>
          <a:xfrm>
            <a:off x="10865815" y="2681478"/>
            <a:ext cx="457200" cy="342900"/>
          </a:xfrm>
          <a:prstGeom prst="rect">
            <a:avLst/>
          </a:prstGeom>
        </p:spPr>
      </p:pic>
      <p:sp>
        <p:nvSpPr>
          <p:cNvPr id="93" name="Flag frame Yemen"/>
          <p:cNvSpPr/>
          <p:nvPr/>
        </p:nvSpPr>
        <p:spPr>
          <a:xfrm>
            <a:off x="10865815" y="2681478"/>
            <a:ext cx="457200" cy="342900"/>
          </a:xfrm>
          <a:prstGeom prst="rect">
            <a:avLst/>
          </a:prstGeom>
          <a:solidFill>
            <a:schemeClr val="tx1">
              <a:alpha val="0"/>
            </a:schemeClr>
          </a:solidFill>
          <a:ln w="6350">
            <a:solidFill>
              <a:schemeClr val="accent5"/>
            </a:solidFill>
            <a:prstDash val="solid"/>
          </a:ln>
        </p:spPr>
      </p:sp>
      <p:sp>
        <p:nvSpPr>
          <p:cNvPr id="94" name="Score box Yemen"/>
          <p:cNvSpPr/>
          <p:nvPr/>
        </p:nvSpPr>
        <p:spPr>
          <a:xfrm>
            <a:off x="10865815" y="3070098"/>
            <a:ext cx="457200" cy="237744"/>
          </a:xfrm>
          <a:prstGeom prst="roundRect">
            <a:avLst>
              <a:gd name="adj" fmla="val 19231"/>
            </a:avLst>
          </a:prstGeom>
          <a:solidFill>
            <a:schemeClr val="accent3"/>
          </a:solidFill>
          <a:ln w="12700">
            <a:solidFill>
              <a:schemeClr val="accent3"/>
            </a:solidFill>
            <a:prstDash val="solid"/>
          </a:ln>
        </p:spPr>
      </p:sp>
      <p:sp>
        <p:nvSpPr>
          <p:cNvPr id="95" name="Score Yemen"/>
          <p:cNvSpPr txBox="1"/>
          <p:nvPr/>
        </p:nvSpPr>
        <p:spPr>
          <a:xfrm>
            <a:off x="10865815"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sp>
        <p:nvSpPr>
          <p:cNvPr id="96" name="Question 2 card"/>
          <p:cNvSpPr/>
          <p:nvPr/>
        </p:nvSpPr>
        <p:spPr>
          <a:xfrm>
            <a:off x="548640" y="3886200"/>
            <a:ext cx="11094415" cy="1143000"/>
          </a:xfrm>
          <a:prstGeom prst="roundRect">
            <a:avLst>
              <a:gd name="adj" fmla="val 9600"/>
            </a:avLst>
          </a:prstGeom>
          <a:solidFill>
            <a:schemeClr val="bg2"/>
          </a:solidFill>
          <a:ln w="12700">
            <a:solidFill>
              <a:schemeClr val="bg2"/>
            </a:solidFill>
            <a:prstDash val="solid"/>
          </a:ln>
        </p:spPr>
      </p:sp>
      <p:sp>
        <p:nvSpPr>
          <p:cNvPr id="97" name="Question 2 circle"/>
          <p:cNvSpPr/>
          <p:nvPr/>
        </p:nvSpPr>
        <p:spPr>
          <a:xfrm>
            <a:off x="868680" y="4091940"/>
            <a:ext cx="731520" cy="731520"/>
          </a:xfrm>
          <a:prstGeom prst="ellipse">
            <a:avLst/>
          </a:prstGeom>
          <a:solidFill>
            <a:schemeClr val="tx1"/>
          </a:solidFill>
          <a:ln w="12700">
            <a:solidFill>
              <a:schemeClr val="tx1"/>
            </a:solidFill>
            <a:prstDash val="solid"/>
          </a:ln>
        </p:spPr>
      </p:sp>
      <p:pic>
        <p:nvPicPr>
          <p:cNvPr id="98" name="Question 2 icon" descr="preencoded.png">    </p:cNvPr>
          <p:cNvPicPr>
            <a:picLocks noChangeAspect="1"/>
          </p:cNvPicPr>
          <p:nvPr/>
        </p:nvPicPr>
        <p:blipFill>
          <a:blip r:embed="rId24"/>
          <a:stretch>
            <a:fillRect/>
          </a:stretch>
        </p:blipFill>
        <p:spPr>
          <a:xfrm>
            <a:off x="1044245" y="4267505"/>
            <a:ext cx="380390" cy="380390"/>
          </a:xfrm>
          <a:prstGeom prst="rect">
            <a:avLst/>
          </a:prstGeom>
        </p:spPr>
      </p:pic>
      <p:sp>
        <p:nvSpPr>
          <p:cNvPr id="99" name="Question 2 text"/>
          <p:cNvSpPr txBox="1"/>
          <p:nvPr/>
        </p:nvSpPr>
        <p:spPr>
          <a:xfrm>
            <a:off x="1874520" y="3886200"/>
            <a:ext cx="5425135" cy="11430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2  Separately: rich, normal, poor?</a:t>
            </a:r>
            <a:endParaRPr lang="en-US" sz="2200" dirty="0"/>
          </a:p>
          <a:p>
            <a:pPr indent="0" marL="0">
              <a:buNone/>
            </a:pPr>
            <a:r>
              <a:rPr lang="en-US" sz="1500" dirty="0">
                <a:solidFill>
                  <a:schemeClr val="tx1"/>
                </a:solidFill>
              </a:rPr>
              <a:t>A second question: do the ratings follow how rich a country is?</a:t>
            </a:r>
            <a:endParaRPr lang="en-US" sz="2200" dirty="0"/>
          </a:p>
        </p:txBody>
      </p:sp>
      <p:sp>
        <p:nvSpPr>
          <p:cNvPr id="100" name="Group chip 1"/>
          <p:cNvSpPr/>
          <p:nvPr/>
        </p:nvSpPr>
        <p:spPr>
          <a:xfrm>
            <a:off x="7482535" y="4229100"/>
            <a:ext cx="1188720" cy="457200"/>
          </a:xfrm>
          <a:prstGeom prst="roundRect">
            <a:avLst>
              <a:gd name="adj" fmla="val 20000"/>
            </a:avLst>
          </a:prstGeom>
          <a:solidFill>
            <a:schemeClr val="tx1"/>
          </a:solidFill>
          <a:ln w="12700">
            <a:solidFill>
              <a:schemeClr val="tx1"/>
            </a:solidFill>
            <a:prstDash val="solid"/>
          </a:ln>
        </p:spPr>
      </p:sp>
      <p:sp>
        <p:nvSpPr>
          <p:cNvPr id="101" name="Group chip label 1"/>
          <p:cNvSpPr txBox="1"/>
          <p:nvPr/>
        </p:nvSpPr>
        <p:spPr>
          <a:xfrm>
            <a:off x="748253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Rich · 6</a:t>
            </a:r>
            <a:endParaRPr lang="en-US" sz="1300" dirty="0"/>
          </a:p>
        </p:txBody>
      </p:sp>
      <p:sp>
        <p:nvSpPr>
          <p:cNvPr id="102" name="Group chip 2"/>
          <p:cNvSpPr/>
          <p:nvPr/>
        </p:nvSpPr>
        <p:spPr>
          <a:xfrm>
            <a:off x="8808415" y="4229100"/>
            <a:ext cx="1188720" cy="457200"/>
          </a:xfrm>
          <a:prstGeom prst="roundRect">
            <a:avLst>
              <a:gd name="adj" fmla="val 20000"/>
            </a:avLst>
          </a:prstGeom>
          <a:solidFill>
            <a:schemeClr val="tx1"/>
          </a:solidFill>
          <a:ln w="12700">
            <a:solidFill>
              <a:schemeClr val="tx1"/>
            </a:solidFill>
            <a:prstDash val="solid"/>
          </a:ln>
        </p:spPr>
      </p:sp>
      <p:sp>
        <p:nvSpPr>
          <p:cNvPr id="103" name="Group chip label 2"/>
          <p:cNvSpPr txBox="1"/>
          <p:nvPr/>
        </p:nvSpPr>
        <p:spPr>
          <a:xfrm>
            <a:off x="880841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Normal · 12</a:t>
            </a:r>
            <a:endParaRPr lang="en-US" sz="1300" dirty="0"/>
          </a:p>
        </p:txBody>
      </p:sp>
      <p:sp>
        <p:nvSpPr>
          <p:cNvPr id="104" name="Group chip 3"/>
          <p:cNvSpPr/>
          <p:nvPr/>
        </p:nvSpPr>
        <p:spPr>
          <a:xfrm>
            <a:off x="10134295" y="4229100"/>
            <a:ext cx="1188720" cy="457200"/>
          </a:xfrm>
          <a:prstGeom prst="roundRect">
            <a:avLst>
              <a:gd name="adj" fmla="val 20000"/>
            </a:avLst>
          </a:prstGeom>
          <a:solidFill>
            <a:schemeClr val="tx1"/>
          </a:solidFill>
          <a:ln w="12700">
            <a:solidFill>
              <a:schemeClr val="tx1"/>
            </a:solidFill>
            <a:prstDash val="solid"/>
          </a:ln>
        </p:spPr>
      </p:sp>
      <p:sp>
        <p:nvSpPr>
          <p:cNvPr id="105" name="Group chip label 3"/>
          <p:cNvSpPr txBox="1"/>
          <p:nvPr/>
        </p:nvSpPr>
        <p:spPr>
          <a:xfrm>
            <a:off x="1013429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Poor · 4</a:t>
            </a:r>
            <a:endParaRPr lang="en-US" sz="1300" dirty="0"/>
          </a:p>
        </p:txBody>
      </p:sp>
      <p:sp>
        <p:nvSpPr>
          <p:cNvPr id="106" name="Footer note"/>
          <p:cNvSpPr txBox="1"/>
          <p:nvPr/>
        </p:nvSpPr>
        <p:spPr>
          <a:xfrm>
            <a:off x="548640" y="5166360"/>
            <a:ext cx="11094415" cy="594360"/>
          </a:xfrm>
          <a:prstGeom prst="rect">
            <a:avLst/>
          </a:prstGeom>
          <a:noFill/>
          <a:ln/>
        </p:spPr>
        <p:txBody>
          <a:bodyPr wrap="square" lIns="0" tIns="0" rIns="0" bIns="0" rtlCol="0" anchor="t"/>
          <a:lstStyle/>
          <a:p>
            <a:pPr indent="0" marL="0">
              <a:buNone/>
            </a:pPr>
            <a:r>
              <a:rPr lang="en-US" sz="1400" dirty="0">
                <a:solidFill>
                  <a:schemeClr val="tx2"/>
                </a:solidFill>
              </a:rPr>
              <a:t>How: 20 invented applicants × 22 passports × 4 open language models; every answer is a risk score from 0 to 100. Also: does telling the model to ignore the passport help, and what does a difference cost an applicant?</a:t>
            </a:r>
            <a:endParaRPr lang="en-US" sz="1400" dirty="0"/>
          </a:p>
        </p:txBody>
      </p:sp>
      <p:sp>
        <p:nvSpPr>
          <p:cNvPr id="107"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(high, middle and low income), retrieved 10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algn="ctr" indent="0" marL="0">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algn="ctr" indent="0" marL="0">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sp>
      <p:sp>
        <p:nvSpPr>
          <p:cNvPr id="25" name="Date line 1"/>
          <p:cNvSpPr/>
          <p:nvPr/>
        </p:nvSpPr>
        <p:spPr>
          <a:xfrm>
            <a:off x="4133642" y="1892808"/>
            <a:ext cx="0" cy="3429000"/>
          </a:xfrm>
          <a:prstGeom prst="line">
            <a:avLst/>
          </a:prstGeom>
          <a:noFill/>
          <a:ln w="15875">
            <a:solidFill>
              <a:schemeClr val="accent2"/>
            </a:solidFill>
            <a:prstDash val="dash"/>
          </a:ln>
        </p:spPr>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Pitch</a:t>
            </a:r>
            <a:endParaRPr lang="en-US" sz="1200" dirty="0"/>
          </a:p>
          <a:p>
            <a:pPr algn="ctr" indent="0" marL="0">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Midterm</a:t>
            </a:r>
            <a:endParaRPr lang="en-US" sz="1200" dirty="0"/>
          </a:p>
          <a:p>
            <a:pPr algn="ctr" indent="0" marL="0">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Final</a:t>
            </a:r>
            <a:endParaRPr lang="en-US" sz="1200" dirty="0"/>
          </a:p>
          <a:p>
            <a:pPr algn="ctr" indent="0" marL="0">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Report</a:t>
            </a:r>
            <a:endParaRPr lang="en-US" sz="1200" dirty="0"/>
          </a:p>
          <a:p>
            <a:pPr algn="ctr" indent="0" marL="0">
              <a:buNone/>
            </a:pPr>
            <a:r>
              <a:rPr lang="en-US" sz="1200" b="1" dirty="0">
                <a:solidFill>
                  <a:schemeClr val="accent2"/>
                </a:solidFill>
              </a:rPr>
              <a:t>08.01</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sp>
      <p:sp>
        <p:nvSpPr>
          <p:cNvPr id="5" name="Ending 1"/>
          <p:cNvSpPr txBox="1"/>
          <p:nvPr/>
        </p:nvSpPr>
        <p:spPr>
          <a:xfrm>
            <a:off x="868680" y="27432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algn="l" indent="0" marL="0">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indent="0" marL="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38100" dir="5400000">
              <a:srgbClr val="000000">
                <a:alpha val="18000"/>
              </a:srgbClr>
            </a:outerShdw>
          </a:effectLst>
        </p:spPr>
      </p:sp>
      <p:sp>
        <p:nvSpPr>
          <p:cNvPr id="4" name="Form header"/>
          <p:cNvSpPr txBox="1"/>
          <p:nvPr/>
        </p:nvSpPr>
        <p:spPr>
          <a:xfrm>
            <a:off x="822960" y="1709928"/>
            <a:ext cx="36576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indent="0" marL="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indent="0" marL="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indent="0" marL="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indent="0" marL="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algn="ctr" indent="0" marL="0">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sp>
      <p:pic>
        <p:nvPicPr>
          <p:cNvPr id="18" name="Reason 1 icon" descr="preencoded.png">    </p:cNvPr>
          <p:cNvPicPr>
            <a:picLocks noChangeAspect="1"/>
          </p:cNvPicPr>
          <p:nvPr/>
        </p:nvPicPr>
        <p:blipFill>
          <a:blip r:embed="rId1"/>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indent="0" marL="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sp>
      <p:pic>
        <p:nvPicPr>
          <p:cNvPr id="22" name="Reason 2 icon" descr="preencoded.png">    </p:cNvPr>
          <p:cNvPicPr>
            <a:picLocks noChangeAspect="1"/>
          </p:cNvPicPr>
          <p:nvPr/>
        </p:nvPicPr>
        <p:blipFill>
          <a:blip r:embed="rId2"/>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indent="0" marL="0">
              <a:buNone/>
            </a:pPr>
            <a:r>
              <a:rPr lang="en-US" sz="1400" dirty="0">
                <a:solidFill>
                  <a:schemeClr val="tx2"/>
                </a:solidFill>
              </a:rPr>
              <a:t>United Kingdom, Netherlands, Canada: next slide.</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sp>
      <p:pic>
        <p:nvPicPr>
          <p:cNvPr id="26" name="Reason 3 icon" descr="preencoded.png">    </p:cNvPr>
          <p:cNvPicPr>
            <a:picLocks noChangeAspect="1"/>
          </p:cNvPicPr>
          <p:nvPr/>
        </p:nvPicPr>
        <p:blipFill>
          <a:blip r:embed="rId3"/>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indent="0" marL="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Machines already sort visa applicants</a:t>
            </a:r>
            <a:endParaRPr lang="en-US" sz="30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r>
          <p:cNvPicPr>
            <a:picLocks noChangeAspect="1"/>
          </p:cNvPicPr>
          <p:nvPr/>
        </p:nvPicPr>
        <p:blipFill>
          <a:blip r:embed="rId1"/>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xmlns:a="http://schemas.openxmlformats.org/drawingml/2006/main">
          <a:graphicData uri="http://schemas.openxmlformats.org/drawingml/2006/chart">
            <c:chart xmlns:c="http://schemas.openxmlformats.org/drawingml/2006/chart" r:id="rId2"/>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indent="0" marL="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One label, 22 very different countries</a:t>
            </a:r>
            <a:endParaRPr lang="en-US" sz="3000" dirty="0"/>
          </a:p>
        </p:txBody>
      </p:sp>
      <p:pic>
        <p:nvPicPr>
          <p:cNvPr id="3" name="Map of the three groups" descr="Map of the 22 Arab League member states in three colours: six rich, twelve normal and four poor countries">    </p:cNvPr>
          <p:cNvPicPr>
            <a:picLocks noChangeAspect="1"/>
          </p:cNvPicPr>
          <p:nvPr/>
        </p:nvPicPr>
        <p:blipFill>
          <a:blip r:embed="rId1"/>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How we measure it</a:t>
            </a:r>
            <a:endParaRPr lang="en-US" sz="30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sp>
      <p:pic>
        <p:nvPicPr>
          <p:cNvPr id="5" name="Step 1 icon" descr="preencoded.png">    </p:cNvPr>
          <p:cNvPicPr>
            <a:picLocks noChangeAspect="1"/>
          </p:cNvPicPr>
          <p:nvPr/>
        </p:nvPicPr>
        <p:blipFill>
          <a:blip r:embed="rId1"/>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invented applicants, all born, raised and employed in the UAE</a:t>
            </a:r>
            <a:endParaRPr lang="en-US" sz="1400" dirty="0"/>
          </a:p>
        </p:txBody>
      </p:sp>
      <p:pic>
        <p:nvPicPr>
          <p:cNvPr id="8" name="Arrow 1" descr="preencoded.png">    </p:cNvPr>
          <p:cNvPicPr>
            <a:picLocks noChangeAspect="1"/>
          </p:cNvPicPr>
          <p:nvPr/>
        </p:nvPicPr>
        <p:blipFill>
          <a:blip r:embed="rId2"/>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sp>
      <p:pic>
        <p:nvPicPr>
          <p:cNvPr id="11" name="Step 2 icon" descr="preencoded.png">    </p:cNvPr>
          <p:cNvPicPr>
            <a:picLocks noChangeAspect="1"/>
          </p:cNvPicPr>
          <p:nvPr/>
        </p:nvPicPr>
        <p:blipFill>
          <a:blip r:embed="rId3"/>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Arab League passports, plus 4 unrelated ones as a noise check</a:t>
            </a:r>
            <a:endParaRPr lang="en-US" sz="1400" dirty="0"/>
          </a:p>
        </p:txBody>
      </p:sp>
      <p:pic>
        <p:nvPicPr>
          <p:cNvPr id="14" name="Arrow 2" descr="preencoded.png">    </p:cNvPr>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sp>
      <p:pic>
        <p:nvPicPr>
          <p:cNvPr id="17" name="Step 3 icon" descr="preencoded.png">    </p:cNvPr>
          <p:cNvPicPr>
            <a:picLocks noChangeAspect="1"/>
          </p:cNvPicPr>
          <p:nvPr/>
        </p:nvPicPr>
        <p:blipFill>
          <a:blip r:embed="rId5"/>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open language models in the role of a visa case assistant</a:t>
            </a:r>
            <a:endParaRPr lang="en-US" sz="1400" dirty="0"/>
          </a:p>
        </p:txBody>
      </p:sp>
      <p:pic>
        <p:nvPicPr>
          <p:cNvPr id="20" name="Arrow 3" descr="preencoded.png">    </p:cNvPr>
          <p:cNvPicPr>
            <a:picLocks noChangeAspect="1"/>
          </p:cNvPicPr>
          <p:nvPr/>
        </p:nvPicPr>
        <p:blipFill>
          <a:blip r:embed="rId6"/>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sp>
      <p:pic>
        <p:nvPicPr>
          <p:cNvPr id="23" name="Step 4 icon" descr="preencoded.png">    </p:cNvPr>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sp>
      <p:pic>
        <p:nvPicPr>
          <p:cNvPr id="28" name="Cost icon" descr="preencoded.png">    </p:cNvPr>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indent="0" marL="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indent="0" marL="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indent="0" marL="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sp>
      <p:sp>
        <p:nvSpPr>
          <p:cNvPr id="4" name="Group big 1"/>
          <p:cNvSpPr txBox="1"/>
          <p:nvPr/>
        </p:nvSpPr>
        <p:spPr>
          <a:xfrm>
            <a:off x="777240"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indent="0" marL="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Run plan</a:t>
            </a:r>
            <a:endParaRPr lang="en-US" sz="3000" dirty="0"/>
          </a:p>
        </p:txBody>
      </p:sp>
      <p:graphicFrame>
        <p:nvGraphicFramePr>
          <p:cNvPr id="18"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822960"/>
                <a:gridCol w="4206240"/>
                <a:gridCol w="1737360"/>
              </a:tblGrid>
              <a:tr h="457200">
                <a:tc>
                  <a:txBody>
                    <a:bodyPr/>
                    <a:lstStyle/>
                    <a:p>
                      <a:pPr indent="0" marL="0">
                        <a:buNone/>
                      </a:pPr>
                      <a:r>
                        <a:rPr lang="en-US" sz="1400" b="1" dirty="0">
                          <a:solidFill>
                            <a:srgbClr val="FFFFFF"/>
                          </a:solidFill>
                        </a:rPr>
                        <a:t>Block</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What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Runs per model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rPr>
                        <a:t>1</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without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3</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Block 1 again with four other savings amounts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6,240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b="1" dirty="0">
                          <a:solidFill>
                            <a:srgbClr val="14213D"/>
                          </a:solidFill>
                        </a:rPr>
                        <a:t>Total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b="1" dirty="0">
                          <a:solidFill>
                            <a:srgbClr val="14213D"/>
                          </a:solidFill>
                        </a:rPr>
                        <a:t>21,840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sp>
      <p:sp>
        <p:nvSpPr>
          <p:cNvPr id="5" name="Fact 1"/>
          <p:cNvSpPr txBox="1"/>
          <p:nvPr/>
        </p:nvSpPr>
        <p:spPr>
          <a:xfrm>
            <a:off x="7909560" y="141732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520  </a:t>
            </a:r>
            <a:pPr indent="0" marL="0">
              <a:buNone/>
            </a:pP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sp>
      <p:sp>
        <p:nvSpPr>
          <p:cNvPr id="7" name="Fact 2"/>
          <p:cNvSpPr txBox="1"/>
          <p:nvPr/>
        </p:nvSpPr>
        <p:spPr>
          <a:xfrm>
            <a:off x="7909560" y="251460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3  </a:t>
            </a:r>
            <a:pPr indent="0" marL="0">
              <a:buNone/>
            </a:pP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sp>
      <p:sp>
        <p:nvSpPr>
          <p:cNvPr id="9" name="Fact 3"/>
          <p:cNvSpPr txBox="1"/>
          <p:nvPr/>
        </p:nvSpPr>
        <p:spPr>
          <a:xfrm>
            <a:off x="7909560" y="361188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5  </a:t>
            </a:r>
            <a:pPr indent="0" marL="0">
              <a:buNone/>
            </a:pP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indent="0" marL="0">
              <a:buNone/>
            </a:pPr>
            <a:endParaRPr lang="en-US" sz="1400" dirty="0"/>
          </a:p>
          <a:p>
            <a:pPr indent="0" marL="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7. Nationality</a:t>
            </a:r>
            <a:endParaRPr lang="en-US" sz="1400" dirty="0"/>
          </a:p>
          <a:p>
            <a:pPr indent="0" marL="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official rules say about the 22</a:t>
            </a:r>
            <a:endParaRPr lang="en-US" sz="3000" dirty="0"/>
          </a:p>
        </p:txBody>
      </p:sp>
      <p:graphicFrame>
        <p:nvGraphicFramePr>
          <p:cNvPr id="20"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3017520"/>
                <a:gridCol w="3749040"/>
              </a:tblGrid>
              <a:tr h="502920">
                <a:tc>
                  <a:txBody>
                    <a:bodyPr/>
                    <a:lstStyle/>
                    <a:p>
                      <a:pPr indent="0" marL="0">
                        <a:buNone/>
                      </a:pPr>
                      <a:r>
                        <a:rPr lang="en-US" sz="1400" b="1" dirty="0">
                          <a:solidFill>
                            <a:srgbClr val="FFFFFF"/>
                          </a:solidFill>
                        </a:rPr>
                        <a:t>Rule for the Australian visitor visa</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For each of the 22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502920">
                <a:tc>
                  <a:txBody>
                    <a:bodyPr/>
                    <a:lstStyle/>
                    <a:p>
                      <a:pPr indent="0" marL="0">
                        <a:buNone/>
                      </a:pPr>
                      <a:r>
                        <a:rPr lang="en-US" sz="1400" b="1" dirty="0">
                          <a:solidFill>
                            <a:srgbClr val="14213D"/>
                          </a:solidFill>
                        </a:rPr>
                        <a:t>Visa needed</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Visitor visa (subclass 600)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Simpler electronic permit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not available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Form and fee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same online form, AUD 250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Legal test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genuine temporary stay, enough money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List of risk nationalities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in force (revoked 2009)</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Entry ban or suspension</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(10 October 2026)</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indent="0" marL="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indent="0" marL="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indent="0" marL="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sp>
      <p:sp>
        <p:nvSpPr>
          <p:cNvPr id="4" name="Limit big 1"/>
          <p:cNvSpPr txBox="1"/>
          <p:nvPr/>
        </p:nvSpPr>
        <p:spPr>
          <a:xfrm>
            <a:off x="777240"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Abid, A., Farooqi, M., &amp; Zou, J. (2021). Persistent anti-Muslim bias in large language models. AIES ’21, 298–306.</a:t>
            </a:r>
            <a:endParaRPr lang="en-US" sz="1000" dirty="0"/>
          </a:p>
          <a:p>
            <a:pPr indent="0" marL="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indent="0" marL="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indent="0" marL="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indent="0" marL="0">
              <a:spcAft>
                <a:spcPts val="500"/>
              </a:spcAft>
              <a:buNone/>
            </a:pPr>
            <a:r>
              <a:rPr lang="en-US" sz="1000" dirty="0">
                <a:solidFill>
                  <a:schemeClr val="tx1"/>
                </a:solidFill>
              </a:rPr>
              <a:t>European Union Agency for Fundamental Rights (2024). Being Muslim in the EU.</a:t>
            </a:r>
            <a:endParaRPr lang="en-US" sz="1000" dirty="0"/>
          </a:p>
          <a:p>
            <a:pPr indent="0" marL="0">
              <a:spcAft>
                <a:spcPts val="500"/>
              </a:spcAft>
              <a:buNone/>
            </a:pPr>
            <a:r>
              <a:rPr lang="en-US" sz="1000" dirty="0">
                <a:solidFill>
                  <a:schemeClr val="tx1"/>
                </a:solidFill>
              </a:rPr>
              <a:t>Foresti, M. (2026). The cost of visa rejections. LAGO Collective, 9 June 2026.</a:t>
            </a:r>
            <a:endParaRPr lang="en-US" sz="1000" dirty="0"/>
          </a:p>
          <a:p>
            <a:pPr indent="0" marL="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indent="0" marL="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indent="0" marL="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indent="0" marL="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indent="0" marL="0">
              <a:spcAft>
                <a:spcPts val="500"/>
              </a:spcAft>
              <a:buNone/>
            </a:pPr>
            <a:r>
              <a:rPr lang="en-US" sz="1000" dirty="0">
                <a:solidFill>
                  <a:schemeClr val="tx1"/>
                </a:solidFill>
              </a:rPr>
              <a:t>Lighthouse Reports (2023). Ethnic Profiling. 24 April 2023.</a:t>
            </a:r>
            <a:endParaRPr lang="en-US" sz="1000" dirty="0"/>
          </a:p>
          <a:p>
            <a:pPr indent="0" marL="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indent="0" marL="0">
              <a:spcAft>
                <a:spcPts val="500"/>
              </a:spcAft>
              <a:buNone/>
            </a:pPr>
            <a:r>
              <a:rPr lang="en-US" sz="1000" dirty="0">
                <a:solidFill>
                  <a:schemeClr val="tx1"/>
                </a:solidFill>
              </a:rPr>
              <a:t>Natural Earth (2026). 1:50m cultural vectors, admin 0 – countries. Public domain.</a:t>
            </a:r>
            <a:endParaRPr lang="en-US" sz="1000" dirty="0"/>
          </a:p>
          <a:p>
            <a:pPr indent="0" marL="0">
              <a:spcAft>
                <a:spcPts val="500"/>
              </a:spcAft>
              <a:buNone/>
            </a:pPr>
            <a:r>
              <a:rPr lang="en-US" sz="1000" dirty="0">
                <a:solidFill>
                  <a:schemeClr val="tx1"/>
                </a:solidFill>
              </a:rPr>
              <a:t>Pew Research Center (2025). Religious Composition by Country, 2010–2020. Dataset.</a:t>
            </a:r>
            <a:endParaRPr lang="en-US" sz="1000" dirty="0"/>
          </a:p>
          <a:p>
            <a:pPr indent="0" marL="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indent="0" marL="0">
              <a:spcAft>
                <a:spcPts val="500"/>
              </a:spcAft>
              <a:buNone/>
            </a:pPr>
            <a:r>
              <a:rPr lang="en-US" sz="1000" dirty="0">
                <a:solidFill>
                  <a:schemeClr val="tx1"/>
                </a:solidFill>
              </a:rPr>
              <a:t>U.S. Department of State (2025). Adjusted Refusal Rate – B-Visas Only by Nationality, Fiscal Year 2025.</a:t>
            </a:r>
            <a:endParaRPr lang="en-US" sz="1000" dirty="0"/>
          </a:p>
          <a:p>
            <a:pPr indent="0" marL="0">
              <a:spcAft>
                <a:spcPts val="500"/>
              </a:spcAft>
              <a:buNone/>
            </a:pPr>
            <a:r>
              <a:rPr lang="en-US" sz="1000" dirty="0">
                <a:solidFill>
                  <a:schemeClr val="tx1"/>
                </a:solidFill>
              </a:rPr>
              <a:t>Australian Government, Department of Home Affairs. Freedom of information releases FA 20/10/00106 (2020) and FA 18/04/00125 (2018); pages for the Visitor visa (subclass 600), the Electronic Travel Authority (601) and the eVisitor (651), read 10 October 2026.</a:t>
            </a:r>
            <a:endParaRPr lang="en-US" sz="1000" dirty="0"/>
          </a:p>
          <a:p>
            <a:pPr indent="0" marL="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 Aleksander Kasak, Nico Fedotov</cp:lastModifiedBy>
  <cp:revision>1</cp:revision>
  <dcterms:created xsi:type="dcterms:W3CDTF">2026-10-12T09:00:16Z</dcterms:created>
  <dcterms:modified xsi:type="dcterms:W3CDTF">2026-10-12T09:00:16Z</dcterms:modified>
</cp:coreProperties>
</file>